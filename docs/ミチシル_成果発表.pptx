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ミチシルは、目的・ジャンル・距離を選ぶだけで、AIがスポットを選び、道なりの散歩ルートを作って案内する地図アプリです。本日は「アーキテクチャ＆技術的工夫（10分）」「開発プロセス・協働（10分）」「学びと展開（5分）」の3部構成で発表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【目次】3人で合計25分。マスコットの成長（Lv）に合わせて、章が進むごとに中扉のフクロウが成長していきます。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【中扉】ここから10分間、アーキテクチャと技術的工夫、アプリのこだわりポイントを説明します。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【構成図】サーバーレス構成です。利用者はCloudFrontにアクセスし、画面はS3、/api/* はAPI Gatewayへ振り分けます。同じドメインで配信するのでCORS設定が不要です。API GatewayはCognitoのトークンを検証し、11個のLambdaが処理します。ルート作成のLambdaはLocation Service（Places / Routes）とBedrockを組み合わせます。インフラはすべてCDKのコードで管理し、GitHub ActionsからOIDCでデプロイします。Amplifyは使っていません。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ービス説明①】CloudFrontが入口です。画面とAPIを同じドメインで出すため、CORSの設定が要りません。S3は非公開にし、CloudFrontのOAC経由でしか読めないようにしています。Cognitoはユーザー名でのサインインとメールの確認コードを担当し、ログイン画面はアプリ内に自作しました。API GatewayはCognitoのトークンを確認してからLambdaを呼びます。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ービス説明②】Lambdaは1関数1責務で11個あり、handler・service・repositoryの3層に分けています。外部APIはrepository層からだけ呼ぶので、キーがフロントに出ません。DynamoDBはルート・口コミ・散歩実績の3テーブルを環境ごとに持ちます。Location ServiceはPlacesで周辺のスポットを探し、Routesで道なりの徒歩経路を計算します。BedrockのClaude Haiku 4.5が候補から巡る場所を選び、タイトルと解説文を書きます。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夫①】初めて触るAWSサービスが多かったため、いきなり構築せず、まずAIに手順書を作らせました。目的と前提条件を伝えると、コンソール操作・コマンド・確認方法まで1本にまとまった手順書ができます。それを上から順に実行しました。手順書はdocsに残っているので、同じ構築を誰でも再現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【工夫②】AIへの指示を毎回チャットに書くと、人によって内容がぶれます。そこで、システム構成・命名規則・用語辞書などをmdファイルにして .kiro/steering に置きました。KiroはこれをAIへ毎回自動で渡すので、誰が頼んでも同じ前提でコードが出てきます。例えば用語辞書でspot（立ち寄る場所）とwaypoint（経路の点）を分けたことで、「巡ったスポット数」に道の曲がり角まで数えてしまう不具合を防げ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夫③】6人で並行して開発すると、他の人が作った機能の中身が分からなくなります。そこで、developにマージされた変更から、初心者向けの解説書を自動で作るスキル（feature-guide）を作りました。「解説書を作って」と頼むだけで、直近のマージ履歴を取り出し、機能ごとにまとめ、決まった8項目の構成でHTMLを書き、目次も更新します。これまでに25本の解説書ができ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夫④】featureブランチからPRを出し、レビュー後にdevelopへマージすると開発環境へ、mainへマージすると本番環境へ自動でデプロイされます。deploy.ymlは、品質チェック→OIDCでAWSへ認証→インフラのデプロイ→CognitoのIDを取り出す→画面をビルド→画面を配信、の順で動きます。CognitoのIDはデプロイしてから決まるので、デプロイを2回に分けています。アクセスキーもIDも人が登録する必要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だわり①】ルート作成ボタンを押すと、createRouteというLambdaが5段階で処理します。ジャンルをマスタでスポットのカテゴリに変換し、Placesの周辺検索と口コミの場所の取得を並行して行い、Bedrockに巡るスポットとタイトル・解説文を選ばせ、Routesで徒歩の道なり経路を計算します。AIは距離の計算が得意ではないので、実際の経路距離を見て、長ければスポットを外し、短ければ前回の距離を伝えて作り直させます。改善レポートでは120通りの条件で検証し、成功率を79%から約81%へ上げ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だわり②】地図を長押しするとピンが立ち、評価・感想・写真を投稿できます。半径40m以内の口コミは同じ場所としてまとめ、平均評価を出します。ピンの色は、赤＝これから投稿する場所、オレンジ＝自分の口コミ、紫＝他の人の口コミ、と意味を1対1で固定しました。さらに、口コミの付いた場所をルート作成の候補に混ぜるので、投稿がそのまま次の散歩ルートに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だわり③】散歩を続けたくなる仕掛けとして、フクロウのマスコットを育てる機能を作りました。歩いた距離・時間・口コミの投稿で経験値がたまり、Lv.1のタマゴからLv.10の「極・ミチシル」まで成長します。必要な経験値はレベルごとに約1.3倍ずつ増えます。散歩結果の画面でレベルが上がると全画面でお祝いします。画面のデザインもマスコットに合わせ、羊皮紙・金・紫・ドット書体で統一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【中扉】ここから10分間、開発プロセスとチームでの協働について説明します。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日の流れ】※時刻と内容はチームの実際の運用に合わせて修正してください。朝会でその日の作業と困りごとを共有し、日中はAIと一緒に実装してPRを出します。PRは最低1名がレビューし、承認後にdevelopへマージすると開発環境へ自動でデプロイされます。夕会で進捗と課題を共有し、翌日の作業を決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トレードオフスライダー】※項目と位置はチームで実際に決めた内容に合わせて修正してください。トレードオフスライダーは、プロジェクトで何を優先するかをチームで合意する道具です。全部を最優先にはできないので、1つを上げたら他を下げます。迷ったときはこのスライダーに立ち返って判断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プリントの全体像】10スプリントを4つの時期に分けて説明します。環境構築から始め、AIと地図の連携でMVPを作り、追加機能を実装し、最後は使い心地を磨きました。各時期で出た課題と、その解決策を順に紹介します。マスコットのように、チームもスプリントを重ねるごとに成長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1–2】最初の2スプリントは環境構築でした。課題は、レビューで見せる予定だったものが、開発中の変更の影響で見せられなくなったことです。そこで本番環境と開発環境を分けました。developにマージすると開発環境、mainにマージすると本番環境へデプロイされ、レビューでは安定した本番環境を見せられるようにな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3–4】AIと地図サービスを連携し、MVPの機能を作りました。課題は知識の偏りです。担当ごとに知識が分かれ、特定の人しか分からない部分ができました。そこでタスクごとにチームを編成し直し、知識が全員に広がるように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5–7】MVPを完成させ、ログイン・口コミ投稿・散歩実績・マスコットなどの追加機能に取りかかりました。課題は、作りたい機能が増えて優先順位の付け方があやふやになったことです。そこでバックログを整備し、優先度をつけて上から順に取り組むように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8–10】最後の3スプリントは、追加機能の実装と、使い心地を上げる微調整に取り組みました。口コミの場所を巡るルートや、案内中の区間の描き分け、前の目的地へ戻るボタン、レベルアップ演出などです。実際に歩いて試し、気になった点を細かく直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【中扉】最後の5分で、研修を通じた学びと、今後の業務に生かしたいことをお話しします。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び】1つ目は一気通貫の開発経験です。AWSでの環境構築から、GitHubでのソース管理、デプロイまでを自分たちで経験しました。2つ目はアジャイル開発でのチーム運営です。チームとして認識を合わせること、そしてゴールをはっきりさせることの大切さを学び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後に生かしたいこと】1つ目はユーザー目線での開発です。作れるかどうかではなく、使う人がうれしいかで判断します。2つ目はAIの使い方です。抽象的な指示では期待どおりの結果になりません。対象の画面・ファイル・期待する動きまで具体的に書きます。3つ目はなぜなぜ分析です。目的があやふやなまま作業を始めず、なぜを繰り返して本当の目的を確かめてから手を動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【結び】ご清聴ありがとうございました。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ltosuser\AppData\Local\Temp\michishiru-ppt\img\map.jpg">    </p:cNvPr>
          <p:cNvPicPr>
            <a:picLocks noChangeAspect="1"/>
          </p:cNvPicPr>
          <p:nvPr/>
        </p:nvPicPr>
        <p:blipFill>
          <a:blip r:embed="rId1"/>
          <a:srcRect l="0" r="0" t="31133" b="31133"/>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BF4E4">
              <a:alpha val="70000"/>
            </a:srgbClr>
          </a:solidFill>
          <a:ln/>
        </p:spPr>
      </p:sp>
      <p:sp>
        <p:nvSpPr>
          <p:cNvPr id="4" name="Shape 1"/>
          <p:cNvSpPr/>
          <p:nvPr/>
        </p:nvSpPr>
        <p:spPr>
          <a:xfrm>
            <a:off x="731520" y="1234440"/>
            <a:ext cx="6949440" cy="4389120"/>
          </a:xfrm>
          <a:prstGeom prst="roundRect">
            <a:avLst>
              <a:gd name="adj" fmla="val 3125"/>
            </a:avLst>
          </a:prstGeom>
          <a:solidFill>
            <a:srgbClr val="FFFCF4"/>
          </a:solidFill>
          <a:ln w="25400">
            <a:solidFill>
              <a:srgbClr val="5C4430"/>
            </a:solidFill>
            <a:prstDash val="solid"/>
          </a:ln>
          <a:effectLst>
            <a:outerShdw sx="100000" sy="100000" kx="0" ky="0" algn="bl" rotWithShape="0" blurRad="101600" dist="38100" dir="2700000">
              <a:srgbClr val="5C4430">
                <a:alpha val="30000"/>
              </a:srgbClr>
            </a:outerShdw>
          </a:effectLst>
        </p:spPr>
      </p:sp>
      <p:sp>
        <p:nvSpPr>
          <p:cNvPr id="5" name="Shape 2"/>
          <p:cNvSpPr/>
          <p:nvPr/>
        </p:nvSpPr>
        <p:spPr>
          <a:xfrm>
            <a:off x="868680" y="1371600"/>
            <a:ext cx="6675120" cy="4114800"/>
          </a:xfrm>
          <a:prstGeom prst="roundRect">
            <a:avLst>
              <a:gd name="adj" fmla="val 2222"/>
            </a:avLst>
          </a:prstGeom>
          <a:ln w="15875">
            <a:solidFill>
              <a:srgbClr val="DCC48A"/>
            </a:solidFill>
            <a:prstDash val="solid"/>
          </a:ln>
        </p:spPr>
      </p:sp>
      <p:pic>
        <p:nvPicPr>
          <p:cNvPr id="6" name="Image 1" descr="C:\Users\ltosuser\AppData\Local\Temp\michishiru-ppt\img\logo.png">    </p:cNvPr>
          <p:cNvPicPr>
            <a:picLocks noChangeAspect="1"/>
          </p:cNvPicPr>
          <p:nvPr/>
        </p:nvPicPr>
        <p:blipFill>
          <a:blip r:embed="rId2"/>
          <a:stretch>
            <a:fillRect/>
          </a:stretch>
        </p:blipFill>
        <p:spPr>
          <a:xfrm>
            <a:off x="1188720" y="1691640"/>
            <a:ext cx="1325880" cy="1325880"/>
          </a:xfrm>
          <a:prstGeom prst="rect">
            <a:avLst/>
          </a:prstGeom>
        </p:spPr>
      </p:pic>
      <p:sp>
        <p:nvSpPr>
          <p:cNvPr id="7" name="Text 3"/>
          <p:cNvSpPr/>
          <p:nvPr/>
        </p:nvSpPr>
        <p:spPr>
          <a:xfrm>
            <a:off x="2743200" y="1737360"/>
            <a:ext cx="4572000" cy="274320"/>
          </a:xfrm>
          <a:prstGeom prst="rect">
            <a:avLst/>
          </a:prstGeom>
          <a:noFill/>
          <a:ln/>
        </p:spPr>
        <p:txBody>
          <a:bodyPr wrap="square" lIns="0" tIns="0" rIns="0" bIns="0" rtlCol="0" anchor="t"/>
          <a:lstStyle/>
          <a:p>
            <a:pPr indent="0" marL="0">
              <a:buNone/>
            </a:pPr>
            <a:r>
              <a:rPr lang="en-US" sz="1200" b="1" spc="600" kern="0" dirty="0">
                <a:solidFill>
                  <a:srgbClr val="B8862B"/>
                </a:solidFill>
                <a:latin typeface="Georgia" pitchFamily="34" charset="0"/>
                <a:ea typeface="Georgia" pitchFamily="34" charset="-122"/>
                <a:cs typeface="Georgia" pitchFamily="34" charset="-120"/>
              </a:rPr>
              <a:t>MICHISHIRU</a:t>
            </a:r>
            <a:endParaRPr lang="en-US" sz="1200" dirty="0"/>
          </a:p>
        </p:txBody>
      </p:sp>
      <p:sp>
        <p:nvSpPr>
          <p:cNvPr id="8" name="Text 4"/>
          <p:cNvSpPr/>
          <p:nvPr/>
        </p:nvSpPr>
        <p:spPr>
          <a:xfrm>
            <a:off x="2697480" y="2011680"/>
            <a:ext cx="4754880" cy="1005840"/>
          </a:xfrm>
          <a:prstGeom prst="rect">
            <a:avLst/>
          </a:prstGeom>
          <a:noFill/>
          <a:ln/>
        </p:spPr>
        <p:txBody>
          <a:bodyPr wrap="square" lIns="0" tIns="0" rIns="0" bIns="0" rtlCol="0" anchor="ctr"/>
          <a:lstStyle/>
          <a:p>
            <a:pPr indent="0" marL="0">
              <a:buNone/>
            </a:pPr>
            <a:r>
              <a:rPr lang="en-US" sz="5800" b="1" dirty="0">
                <a:solidFill>
                  <a:srgbClr val="45356B"/>
                </a:solidFill>
                <a:latin typeface="BIZ UDPゴシック" pitchFamily="34" charset="0"/>
                <a:ea typeface="BIZ UDPゴシック" pitchFamily="34" charset="-122"/>
                <a:cs typeface="BIZ UDPゴシック" pitchFamily="34" charset="-120"/>
              </a:rPr>
              <a:t>ミチシル</a:t>
            </a:r>
            <a:endParaRPr lang="en-US" sz="5800" dirty="0"/>
          </a:p>
        </p:txBody>
      </p:sp>
      <p:sp>
        <p:nvSpPr>
          <p:cNvPr id="9" name="Shape 5"/>
          <p:cNvSpPr/>
          <p:nvPr/>
        </p:nvSpPr>
        <p:spPr>
          <a:xfrm>
            <a:off x="1188720" y="3291840"/>
            <a:ext cx="5943600" cy="36576"/>
          </a:xfrm>
          <a:prstGeom prst="rect">
            <a:avLst/>
          </a:prstGeom>
          <a:solidFill>
            <a:srgbClr val="DCC48A"/>
          </a:solidFill>
          <a:ln/>
        </p:spPr>
      </p:sp>
      <p:sp>
        <p:nvSpPr>
          <p:cNvPr id="10" name="Text 6"/>
          <p:cNvSpPr/>
          <p:nvPr/>
        </p:nvSpPr>
        <p:spPr>
          <a:xfrm>
            <a:off x="1188720" y="3474720"/>
            <a:ext cx="6126480" cy="457200"/>
          </a:xfrm>
          <a:prstGeom prst="rect">
            <a:avLst/>
          </a:prstGeom>
          <a:noFill/>
          <a:ln/>
        </p:spPr>
        <p:txBody>
          <a:bodyPr wrap="square" lIns="0" tIns="0" rIns="0" bIns="0" rtlCol="0" anchor="t"/>
          <a:lstStyle/>
          <a:p>
            <a:pPr indent="0" marL="0">
              <a:buNone/>
            </a:pPr>
            <a:r>
              <a:rPr lang="en-US" sz="1800" b="1" dirty="0">
                <a:solidFill>
                  <a:srgbClr val="3A2E20"/>
                </a:solidFill>
                <a:latin typeface="BIZ UDPゴシック" pitchFamily="34" charset="0"/>
                <a:ea typeface="BIZ UDPゴシック" pitchFamily="34" charset="-122"/>
                <a:cs typeface="BIZ UDPゴシック" pitchFamily="34" charset="-120"/>
              </a:rPr>
              <a:t>条件を選ぶだけで、AIが散歩ルートをつくる地図アプリ</a:t>
            </a:r>
            <a:endParaRPr lang="en-US" sz="1800" dirty="0"/>
          </a:p>
        </p:txBody>
      </p:sp>
      <p:sp>
        <p:nvSpPr>
          <p:cNvPr id="11" name="Text 7"/>
          <p:cNvSpPr/>
          <p:nvPr/>
        </p:nvSpPr>
        <p:spPr>
          <a:xfrm>
            <a:off x="1188720" y="3977640"/>
            <a:ext cx="6126480" cy="365760"/>
          </a:xfrm>
          <a:prstGeom prst="rect">
            <a:avLst/>
          </a:prstGeom>
          <a:noFill/>
          <a:ln/>
        </p:spPr>
        <p:txBody>
          <a:bodyPr wrap="square" lIns="0" tIns="0" rIns="0" bIns="0" rtlCol="0" anchor="t"/>
          <a:lstStyle/>
          <a:p>
            <a:pPr indent="0" marL="0">
              <a:buNone/>
            </a:pPr>
            <a:r>
              <a:rPr lang="en-US" sz="1200" dirty="0">
                <a:solidFill>
                  <a:srgbClr val="6B5B46"/>
                </a:solidFill>
                <a:latin typeface="BIZ UDPゴシック" pitchFamily="34" charset="0"/>
                <a:ea typeface="BIZ UDPゴシック" pitchFamily="34" charset="-122"/>
                <a:cs typeface="BIZ UDPゴシック" pitchFamily="34" charset="-120"/>
              </a:rPr>
              <a:t>目的・ジャンル・距離 → スポット選定（AI）→ 道なりのルート → 案内 → 散歩結果</a:t>
            </a:r>
            <a:endParaRPr lang="en-US" sz="1200" dirty="0"/>
          </a:p>
        </p:txBody>
      </p:sp>
      <p:sp>
        <p:nvSpPr>
          <p:cNvPr id="12" name="Shape 8"/>
          <p:cNvSpPr/>
          <p:nvPr/>
        </p:nvSpPr>
        <p:spPr>
          <a:xfrm>
            <a:off x="1188720" y="4617720"/>
            <a:ext cx="2011680" cy="457200"/>
          </a:xfrm>
          <a:prstGeom prst="roundRect">
            <a:avLst>
              <a:gd name="adj" fmla="val 50000"/>
            </a:avLst>
          </a:prstGeom>
          <a:solidFill>
            <a:srgbClr val="45356B"/>
          </a:solidFill>
          <a:ln/>
        </p:spPr>
      </p:sp>
      <p:sp>
        <p:nvSpPr>
          <p:cNvPr id="13" name="Text 9"/>
          <p:cNvSpPr/>
          <p:nvPr/>
        </p:nvSpPr>
        <p:spPr>
          <a:xfrm>
            <a:off x="1188720" y="4617720"/>
            <a:ext cx="20116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成果発表</a:t>
            </a:r>
            <a:endParaRPr lang="en-US" sz="1500" dirty="0"/>
          </a:p>
        </p:txBody>
      </p:sp>
      <p:sp>
        <p:nvSpPr>
          <p:cNvPr id="14" name="Text 10"/>
          <p:cNvSpPr/>
          <p:nvPr/>
        </p:nvSpPr>
        <p:spPr>
          <a:xfrm>
            <a:off x="3383280" y="4617720"/>
            <a:ext cx="2743200" cy="457200"/>
          </a:xfrm>
          <a:prstGeom prst="rect">
            <a:avLst/>
          </a:prstGeom>
          <a:noFill/>
          <a:ln/>
        </p:spPr>
        <p:txBody>
          <a:bodyPr wrap="square" lIns="0" tIns="0" rIns="0" bIns="0" rtlCol="0" anchor="ctr"/>
          <a:lstStyle/>
          <a:p>
            <a:pPr indent="0" marL="0">
              <a:buNone/>
            </a:pPr>
            <a:r>
              <a:rPr lang="en-US" sz="1400" dirty="0">
                <a:solidFill>
                  <a:srgbClr val="6B5B46"/>
                </a:solidFill>
                <a:latin typeface="BIZ UDPゴシック" pitchFamily="34" charset="0"/>
                <a:ea typeface="BIZ UDPゴシック" pitchFamily="34" charset="-122"/>
                <a:cs typeface="BIZ UDPゴシック" pitchFamily="34" charset="-120"/>
              </a:rPr>
              <a:t>2026年10月</a:t>
            </a:r>
            <a:endParaRPr lang="en-US" sz="1400" dirty="0"/>
          </a:p>
        </p:txBody>
      </p:sp>
      <p:sp>
        <p:nvSpPr>
          <p:cNvPr id="15" name="Shape 11"/>
          <p:cNvSpPr/>
          <p:nvPr/>
        </p:nvSpPr>
        <p:spPr>
          <a:xfrm>
            <a:off x="8001000" y="1965960"/>
            <a:ext cx="3566160" cy="3566160"/>
          </a:xfrm>
          <a:prstGeom prst="ellipse">
            <a:avLst/>
          </a:prstGeom>
          <a:solidFill>
            <a:srgbClr val="FFFCF4">
              <a:alpha val="85000"/>
            </a:srgbClr>
          </a:solidFill>
          <a:ln w="38100">
            <a:solidFill>
              <a:srgbClr val="B8862B"/>
            </a:solidFill>
            <a:prstDash val="solid"/>
          </a:ln>
        </p:spPr>
      </p:sp>
      <p:pic>
        <p:nvPicPr>
          <p:cNvPr id="16" name="Image 2" descr="C:\Users\ltosuser\AppData\Local\Temp\michishiru-ppt\img\lv05.png">    </p:cNvPr>
          <p:cNvPicPr>
            <a:picLocks noChangeAspect="1"/>
          </p:cNvPicPr>
          <p:nvPr/>
        </p:nvPicPr>
        <p:blipFill>
          <a:blip r:embed="rId3"/>
          <a:stretch>
            <a:fillRect/>
          </a:stretch>
        </p:blipFill>
        <p:spPr>
          <a:xfrm>
            <a:off x="8138160" y="2103120"/>
            <a:ext cx="3291840" cy="3291840"/>
          </a:xfrm>
          <a:prstGeom prst="rect">
            <a:avLst/>
          </a:prstGeom>
        </p:spPr>
      </p:pic>
      <p:sp>
        <p:nvSpPr>
          <p:cNvPr id="17" name="Shape 12"/>
          <p:cNvSpPr/>
          <p:nvPr/>
        </p:nvSpPr>
        <p:spPr>
          <a:xfrm>
            <a:off x="8229600" y="868680"/>
            <a:ext cx="3108960" cy="777240"/>
          </a:xfrm>
          <a:prstGeom prst="roundRect">
            <a:avLst>
              <a:gd name="adj" fmla="val 14118"/>
            </a:avLst>
          </a:prstGeom>
          <a:solidFill>
            <a:srgbClr val="FFFFFF"/>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8" name="Shape 13"/>
          <p:cNvSpPr/>
          <p:nvPr/>
        </p:nvSpPr>
        <p:spPr>
          <a:xfrm rot="10800000">
            <a:off x="9646920" y="1627632"/>
            <a:ext cx="256032" cy="201168"/>
          </a:xfrm>
          <a:prstGeom prst="triangle">
            <a:avLst/>
          </a:prstGeom>
          <a:solidFill>
            <a:srgbClr val="FFFFFF"/>
          </a:solidFill>
          <a:ln w="15875">
            <a:solidFill>
              <a:srgbClr val="5C4430"/>
            </a:solidFill>
            <a:prstDash val="solid"/>
          </a:ln>
        </p:spPr>
      </p:sp>
      <p:sp>
        <p:nvSpPr>
          <p:cNvPr id="19" name="Shape 14"/>
          <p:cNvSpPr/>
          <p:nvPr/>
        </p:nvSpPr>
        <p:spPr>
          <a:xfrm>
            <a:off x="9665208" y="1609344"/>
            <a:ext cx="219456" cy="45720"/>
          </a:xfrm>
          <a:prstGeom prst="rect">
            <a:avLst/>
          </a:prstGeom>
          <a:solidFill>
            <a:srgbClr val="FFFFFF"/>
          </a:solidFill>
          <a:ln/>
        </p:spPr>
      </p:sp>
      <p:sp>
        <p:nvSpPr>
          <p:cNvPr id="20" name="Text 15"/>
          <p:cNvSpPr/>
          <p:nvPr/>
        </p:nvSpPr>
        <p:spPr>
          <a:xfrm>
            <a:off x="8321040" y="868680"/>
            <a:ext cx="2926080" cy="777240"/>
          </a:xfrm>
          <a:prstGeom prst="rect">
            <a:avLst/>
          </a:prstGeom>
          <a:noFill/>
          <a:ln/>
        </p:spPr>
        <p:txBody>
          <a:bodyPr wrap="square" lIns="0" tIns="0" rIns="0" bIns="0" rtlCol="0" anchor="ctr"/>
          <a:lstStyle/>
          <a:p>
            <a:pPr algn="ctr" indent="0" marL="0">
              <a:buNone/>
            </a:pPr>
            <a:r>
              <a:rPr lang="en-US" sz="1300" b="1" dirty="0">
                <a:solidFill>
                  <a:srgbClr val="45356B"/>
                </a:solidFill>
                <a:latin typeface="BIZ UDPゴシック" pitchFamily="34" charset="0"/>
                <a:ea typeface="BIZ UDPゴシック" pitchFamily="34" charset="-122"/>
                <a:cs typeface="BIZ UDPゴシック" pitchFamily="34" charset="-120"/>
              </a:rPr>
              <a:t>きょうの散歩道を</a:t>
            </a:r>
            <a:endParaRPr lang="en-US" sz="1300" dirty="0"/>
          </a:p>
          <a:p>
            <a:pPr algn="ctr" indent="0" marL="0">
              <a:buNone/>
            </a:pPr>
            <a:r>
              <a:rPr lang="en-US" sz="1300" b="1" dirty="0">
                <a:solidFill>
                  <a:srgbClr val="45356B"/>
                </a:solidFill>
                <a:latin typeface="BIZ UDPゴシック" pitchFamily="34" charset="0"/>
                <a:ea typeface="BIZ UDPゴシック" pitchFamily="34" charset="-122"/>
                <a:cs typeface="BIZ UDPゴシック" pitchFamily="34" charset="-120"/>
              </a:rPr>
              <a:t>いっしょに見つけよう！</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AGENDA</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本日の発表内容</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01 アーキテクチャ＆技術的工夫</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2</a:t>
            </a:r>
            <a:endParaRPr lang="en-US" sz="900" dirty="0"/>
          </a:p>
        </p:txBody>
      </p:sp>
      <p:sp>
        <p:nvSpPr>
          <p:cNvPr id="11" name="Shape 8"/>
          <p:cNvSpPr/>
          <p:nvPr/>
        </p:nvSpPr>
        <p:spPr>
          <a:xfrm>
            <a:off x="548640" y="1508760"/>
            <a:ext cx="3538728" cy="3931920"/>
          </a:xfrm>
          <a:prstGeom prst="roundRect">
            <a:avLst>
              <a:gd name="adj" fmla="val 2067"/>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2" name="Shape 9"/>
          <p:cNvSpPr/>
          <p:nvPr/>
        </p:nvSpPr>
        <p:spPr>
          <a:xfrm>
            <a:off x="548640" y="1508760"/>
            <a:ext cx="3538728" cy="128016"/>
          </a:xfrm>
          <a:prstGeom prst="rect">
            <a:avLst/>
          </a:prstGeom>
          <a:solidFill>
            <a:srgbClr val="45356B"/>
          </a:solidFill>
          <a:ln/>
        </p:spPr>
      </p:sp>
      <p:sp>
        <p:nvSpPr>
          <p:cNvPr id="13" name="Text 10"/>
          <p:cNvSpPr/>
          <p:nvPr/>
        </p:nvSpPr>
        <p:spPr>
          <a:xfrm>
            <a:off x="822960" y="1783080"/>
            <a:ext cx="1371600" cy="731520"/>
          </a:xfrm>
          <a:prstGeom prst="rect">
            <a:avLst/>
          </a:prstGeom>
          <a:noFill/>
          <a:ln/>
        </p:spPr>
        <p:txBody>
          <a:bodyPr wrap="square" lIns="0" tIns="0" rIns="0" bIns="0" rtlCol="0" anchor="t"/>
          <a:lstStyle/>
          <a:p>
            <a:pPr indent="0" marL="0">
              <a:buNone/>
            </a:pPr>
            <a:r>
              <a:rPr lang="en-US" sz="4000" b="1" dirty="0">
                <a:solidFill>
                  <a:srgbClr val="45356B"/>
                </a:solidFill>
                <a:latin typeface="Georgia" pitchFamily="34" charset="0"/>
                <a:ea typeface="Georgia" pitchFamily="34" charset="-122"/>
                <a:cs typeface="Georgia" pitchFamily="34" charset="-120"/>
              </a:rPr>
              <a:t>01</a:t>
            </a:r>
            <a:endParaRPr lang="en-US" sz="4000" dirty="0"/>
          </a:p>
        </p:txBody>
      </p:sp>
      <p:sp>
        <p:nvSpPr>
          <p:cNvPr id="14" name="Shape 11"/>
          <p:cNvSpPr/>
          <p:nvPr/>
        </p:nvSpPr>
        <p:spPr>
          <a:xfrm>
            <a:off x="2788920" y="1965960"/>
            <a:ext cx="1051560" cy="384048"/>
          </a:xfrm>
          <a:prstGeom prst="roundRect">
            <a:avLst>
              <a:gd name="adj" fmla="val 50000"/>
            </a:avLst>
          </a:prstGeom>
          <a:solidFill>
            <a:srgbClr val="45356B"/>
          </a:solidFill>
          <a:ln/>
        </p:spPr>
      </p:sp>
      <p:sp>
        <p:nvSpPr>
          <p:cNvPr id="15" name="Text 12"/>
          <p:cNvSpPr/>
          <p:nvPr/>
        </p:nvSpPr>
        <p:spPr>
          <a:xfrm>
            <a:off x="2788920" y="1965960"/>
            <a:ext cx="10515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10分</a:t>
            </a:r>
            <a:endParaRPr lang="en-US" sz="1300" dirty="0"/>
          </a:p>
        </p:txBody>
      </p:sp>
      <p:sp>
        <p:nvSpPr>
          <p:cNvPr id="16" name="Text 13"/>
          <p:cNvSpPr/>
          <p:nvPr/>
        </p:nvSpPr>
        <p:spPr>
          <a:xfrm>
            <a:off x="822960" y="2560320"/>
            <a:ext cx="3017520" cy="868680"/>
          </a:xfrm>
          <a:prstGeom prst="rect">
            <a:avLst/>
          </a:prstGeom>
          <a:noFill/>
          <a:ln/>
        </p:spPr>
        <p:txBody>
          <a:bodyPr wrap="square" lIns="0" tIns="0" rIns="0" bIns="0" rtlCol="0" anchor="ctr"/>
          <a:lstStyle/>
          <a:p>
            <a:pPr indent="0" marL="0">
              <a:buNone/>
            </a:pPr>
            <a:r>
              <a:rPr lang="en-US" sz="2000" b="1" dirty="0">
                <a:solidFill>
                  <a:srgbClr val="3A2E20"/>
                </a:solidFill>
                <a:latin typeface="BIZ UDPゴシック" pitchFamily="34" charset="0"/>
                <a:ea typeface="BIZ UDPゴシック" pitchFamily="34" charset="-122"/>
                <a:cs typeface="BIZ UDPゴシック" pitchFamily="34" charset="-120"/>
              </a:rPr>
              <a:t>アーキテクチャ＆</a:t>
            </a:r>
            <a:endParaRPr lang="en-US" sz="2000" dirty="0"/>
          </a:p>
          <a:p>
            <a:pPr indent="0" marL="0">
              <a:buNone/>
            </a:pPr>
            <a:r>
              <a:rPr lang="en-US" sz="2000" b="1" dirty="0">
                <a:solidFill>
                  <a:srgbClr val="3A2E20"/>
                </a:solidFill>
                <a:latin typeface="BIZ UDPゴシック" pitchFamily="34" charset="0"/>
                <a:ea typeface="BIZ UDPゴシック" pitchFamily="34" charset="-122"/>
                <a:cs typeface="BIZ UDPゴシック" pitchFamily="34" charset="-120"/>
              </a:rPr>
              <a:t>技術的工夫</a:t>
            </a:r>
            <a:endParaRPr lang="en-US" sz="2000" dirty="0"/>
          </a:p>
        </p:txBody>
      </p:sp>
      <p:sp>
        <p:nvSpPr>
          <p:cNvPr id="17" name="Shape 14"/>
          <p:cNvSpPr/>
          <p:nvPr/>
        </p:nvSpPr>
        <p:spPr>
          <a:xfrm>
            <a:off x="822960" y="3566160"/>
            <a:ext cx="2990088" cy="0"/>
          </a:xfrm>
          <a:prstGeom prst="line">
            <a:avLst/>
          </a:prstGeom>
          <a:noFill/>
          <a:ln w="12700">
            <a:solidFill>
              <a:srgbClr val="DCC48A"/>
            </a:solidFill>
            <a:prstDash val="solid"/>
          </a:ln>
        </p:spPr>
      </p:sp>
      <p:sp>
        <p:nvSpPr>
          <p:cNvPr id="18" name="Text 15"/>
          <p:cNvSpPr/>
          <p:nvPr/>
        </p:nvSpPr>
        <p:spPr>
          <a:xfrm>
            <a:off x="822960" y="3703320"/>
            <a:ext cx="3017520" cy="164592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rgbClr val="3A2E20"/>
                </a:solidFill>
                <a:latin typeface="BIZ UDPゴシック" pitchFamily="34" charset="0"/>
                <a:ea typeface="BIZ UDPゴシック" pitchFamily="34" charset="-122"/>
                <a:cs typeface="BIZ UDPゴシック" pitchFamily="34" charset="-120"/>
              </a:rPr>
              <a:t>全体システムアーキテクチャ</a:t>
            </a:r>
            <a:endParaRPr lang="en-US" sz="1300" dirty="0"/>
          </a:p>
          <a:p>
            <a:pPr marL="177800" indent="-177800">
              <a:lnSpc>
                <a:spcPct val="105000"/>
              </a:lnSpc>
              <a:spcAft>
                <a:spcPts val="600"/>
              </a:spcAft>
              <a:buSzPct val="100000"/>
              <a:buChar char="•"/>
            </a:pPr>
            <a:r>
              <a:rPr lang="en-US" sz="1300" dirty="0">
                <a:solidFill>
                  <a:srgbClr val="3A2E20"/>
                </a:solidFill>
                <a:latin typeface="BIZ UDPゴシック" pitchFamily="34" charset="0"/>
                <a:ea typeface="BIZ UDPゴシック" pitchFamily="34" charset="-122"/>
                <a:cs typeface="BIZ UDPゴシック" pitchFamily="34" charset="-120"/>
              </a:rPr>
              <a:t>各AWSサービスの役割</a:t>
            </a:r>
            <a:endParaRPr lang="en-US" sz="1300" dirty="0"/>
          </a:p>
          <a:p>
            <a:pPr marL="177800" indent="-177800">
              <a:lnSpc>
                <a:spcPct val="105000"/>
              </a:lnSpc>
              <a:spcAft>
                <a:spcPts val="600"/>
              </a:spcAft>
              <a:buSzPct val="100000"/>
              <a:buChar char="•"/>
            </a:pPr>
            <a:r>
              <a:rPr lang="en-US" sz="1300" dirty="0">
                <a:solidFill>
                  <a:srgbClr val="3A2E20"/>
                </a:solidFill>
                <a:latin typeface="BIZ UDPゴシック" pitchFamily="34" charset="0"/>
                <a:ea typeface="BIZ UDPゴシック" pitchFamily="34" charset="-122"/>
                <a:cs typeface="BIZ UDPゴシック" pitchFamily="34" charset="-120"/>
              </a:rPr>
              <a:t>技術的工夫（AI活用・CI/CD）</a:t>
            </a:r>
            <a:endParaRPr lang="en-US" sz="1300" dirty="0"/>
          </a:p>
          <a:p>
            <a:pPr marL="177800" indent="-177800">
              <a:lnSpc>
                <a:spcPct val="105000"/>
              </a:lnSpc>
              <a:spcAft>
                <a:spcPts val="600"/>
              </a:spcAft>
              <a:buSzPct val="100000"/>
              <a:buChar char="•"/>
            </a:pPr>
            <a:r>
              <a:rPr lang="en-US" sz="1300" dirty="0">
                <a:solidFill>
                  <a:srgbClr val="3A2E20"/>
                </a:solidFill>
                <a:latin typeface="BIZ UDPゴシック" pitchFamily="34" charset="0"/>
                <a:ea typeface="BIZ UDPゴシック" pitchFamily="34" charset="-122"/>
                <a:cs typeface="BIZ UDPゴシック" pitchFamily="34" charset="-120"/>
              </a:rPr>
              <a:t>アプリのこだわりポイント</a:t>
            </a:r>
            <a:endParaRPr lang="en-US" sz="1300" dirty="0"/>
          </a:p>
        </p:txBody>
      </p:sp>
      <p:sp>
        <p:nvSpPr>
          <p:cNvPr id="19" name="Shape 16"/>
          <p:cNvSpPr/>
          <p:nvPr/>
        </p:nvSpPr>
        <p:spPr>
          <a:xfrm>
            <a:off x="4325112" y="1508760"/>
            <a:ext cx="3538728" cy="3931920"/>
          </a:xfrm>
          <a:prstGeom prst="roundRect">
            <a:avLst>
              <a:gd name="adj" fmla="val 2067"/>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0" name="Shape 17"/>
          <p:cNvSpPr/>
          <p:nvPr/>
        </p:nvSpPr>
        <p:spPr>
          <a:xfrm>
            <a:off x="4325112" y="1508760"/>
            <a:ext cx="3538728" cy="128016"/>
          </a:xfrm>
          <a:prstGeom prst="rect">
            <a:avLst/>
          </a:prstGeom>
          <a:solidFill>
            <a:srgbClr val="3F7A5C"/>
          </a:solidFill>
          <a:ln/>
        </p:spPr>
      </p:sp>
      <p:sp>
        <p:nvSpPr>
          <p:cNvPr id="21" name="Text 18"/>
          <p:cNvSpPr/>
          <p:nvPr/>
        </p:nvSpPr>
        <p:spPr>
          <a:xfrm>
            <a:off x="4599432" y="1783080"/>
            <a:ext cx="1371600" cy="731520"/>
          </a:xfrm>
          <a:prstGeom prst="rect">
            <a:avLst/>
          </a:prstGeom>
          <a:noFill/>
          <a:ln/>
        </p:spPr>
        <p:txBody>
          <a:bodyPr wrap="square" lIns="0" tIns="0" rIns="0" bIns="0" rtlCol="0" anchor="t"/>
          <a:lstStyle/>
          <a:p>
            <a:pPr indent="0" marL="0">
              <a:buNone/>
            </a:pPr>
            <a:r>
              <a:rPr lang="en-US" sz="4000" b="1" dirty="0">
                <a:solidFill>
                  <a:srgbClr val="3F7A5C"/>
                </a:solidFill>
                <a:latin typeface="Georgia" pitchFamily="34" charset="0"/>
                <a:ea typeface="Georgia" pitchFamily="34" charset="-122"/>
                <a:cs typeface="Georgia" pitchFamily="34" charset="-120"/>
              </a:rPr>
              <a:t>02</a:t>
            </a:r>
            <a:endParaRPr lang="en-US" sz="4000" dirty="0"/>
          </a:p>
        </p:txBody>
      </p:sp>
      <p:sp>
        <p:nvSpPr>
          <p:cNvPr id="22" name="Shape 19"/>
          <p:cNvSpPr/>
          <p:nvPr/>
        </p:nvSpPr>
        <p:spPr>
          <a:xfrm>
            <a:off x="6565392" y="1965960"/>
            <a:ext cx="1051560" cy="384048"/>
          </a:xfrm>
          <a:prstGeom prst="roundRect">
            <a:avLst>
              <a:gd name="adj" fmla="val 50000"/>
            </a:avLst>
          </a:prstGeom>
          <a:solidFill>
            <a:srgbClr val="3F7A5C"/>
          </a:solidFill>
          <a:ln/>
        </p:spPr>
      </p:sp>
      <p:sp>
        <p:nvSpPr>
          <p:cNvPr id="23" name="Text 20"/>
          <p:cNvSpPr/>
          <p:nvPr/>
        </p:nvSpPr>
        <p:spPr>
          <a:xfrm>
            <a:off x="6565392" y="1965960"/>
            <a:ext cx="10515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10分</a:t>
            </a:r>
            <a:endParaRPr lang="en-US" sz="1300" dirty="0"/>
          </a:p>
        </p:txBody>
      </p:sp>
      <p:sp>
        <p:nvSpPr>
          <p:cNvPr id="24" name="Text 21"/>
          <p:cNvSpPr/>
          <p:nvPr/>
        </p:nvSpPr>
        <p:spPr>
          <a:xfrm>
            <a:off x="4599432" y="2560320"/>
            <a:ext cx="3017520" cy="868680"/>
          </a:xfrm>
          <a:prstGeom prst="rect">
            <a:avLst/>
          </a:prstGeom>
          <a:noFill/>
          <a:ln/>
        </p:spPr>
        <p:txBody>
          <a:bodyPr wrap="square" lIns="0" tIns="0" rIns="0" bIns="0" rtlCol="0" anchor="ctr"/>
          <a:lstStyle/>
          <a:p>
            <a:pPr indent="0" marL="0">
              <a:buNone/>
            </a:pPr>
            <a:r>
              <a:rPr lang="en-US" sz="2000" b="1" dirty="0">
                <a:solidFill>
                  <a:srgbClr val="3A2E20"/>
                </a:solidFill>
                <a:latin typeface="BIZ UDPゴシック" pitchFamily="34" charset="0"/>
                <a:ea typeface="BIZ UDPゴシック" pitchFamily="34" charset="-122"/>
                <a:cs typeface="BIZ UDPゴシック" pitchFamily="34" charset="-120"/>
              </a:rPr>
              <a:t>開発プロセス・</a:t>
            </a:r>
            <a:endParaRPr lang="en-US" sz="2000" dirty="0"/>
          </a:p>
          <a:p>
            <a:pPr indent="0" marL="0">
              <a:buNone/>
            </a:pPr>
            <a:r>
              <a:rPr lang="en-US" sz="2000" b="1" dirty="0">
                <a:solidFill>
                  <a:srgbClr val="3A2E20"/>
                </a:solidFill>
                <a:latin typeface="BIZ UDPゴシック" pitchFamily="34" charset="0"/>
                <a:ea typeface="BIZ UDPゴシック" pitchFamily="34" charset="-122"/>
                <a:cs typeface="BIZ UDPゴシック" pitchFamily="34" charset="-120"/>
              </a:rPr>
              <a:t>協働</a:t>
            </a:r>
            <a:endParaRPr lang="en-US" sz="2000" dirty="0"/>
          </a:p>
        </p:txBody>
      </p:sp>
      <p:sp>
        <p:nvSpPr>
          <p:cNvPr id="25" name="Shape 22"/>
          <p:cNvSpPr/>
          <p:nvPr/>
        </p:nvSpPr>
        <p:spPr>
          <a:xfrm>
            <a:off x="4599432" y="3566160"/>
            <a:ext cx="2990088" cy="0"/>
          </a:xfrm>
          <a:prstGeom prst="line">
            <a:avLst/>
          </a:prstGeom>
          <a:noFill/>
          <a:ln w="12700">
            <a:solidFill>
              <a:srgbClr val="DCC48A"/>
            </a:solidFill>
            <a:prstDash val="solid"/>
          </a:ln>
        </p:spPr>
      </p:sp>
      <p:sp>
        <p:nvSpPr>
          <p:cNvPr id="26" name="Text 23"/>
          <p:cNvSpPr/>
          <p:nvPr/>
        </p:nvSpPr>
        <p:spPr>
          <a:xfrm>
            <a:off x="4599432" y="3703320"/>
            <a:ext cx="3017520" cy="164592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rgbClr val="3A2E20"/>
                </a:solidFill>
                <a:latin typeface="BIZ UDPゴシック" pitchFamily="34" charset="0"/>
                <a:ea typeface="BIZ UDPゴシック" pitchFamily="34" charset="-122"/>
                <a:cs typeface="BIZ UDPゴシック" pitchFamily="34" charset="-120"/>
              </a:rPr>
              <a:t>1日の流れ</a:t>
            </a:r>
            <a:endParaRPr lang="en-US" sz="1300" dirty="0"/>
          </a:p>
          <a:p>
            <a:pPr marL="177800" indent="-177800">
              <a:lnSpc>
                <a:spcPct val="105000"/>
              </a:lnSpc>
              <a:spcAft>
                <a:spcPts val="600"/>
              </a:spcAft>
              <a:buSzPct val="100000"/>
              <a:buChar char="•"/>
            </a:pPr>
            <a:r>
              <a:rPr lang="en-US" sz="1300" dirty="0">
                <a:solidFill>
                  <a:srgbClr val="3A2E20"/>
                </a:solidFill>
                <a:latin typeface="BIZ UDPゴシック" pitchFamily="34" charset="0"/>
                <a:ea typeface="BIZ UDPゴシック" pitchFamily="34" charset="-122"/>
                <a:cs typeface="BIZ UDPゴシック" pitchFamily="34" charset="-120"/>
              </a:rPr>
              <a:t>トレードオフスライダー</a:t>
            </a:r>
            <a:endParaRPr lang="en-US" sz="1300" dirty="0"/>
          </a:p>
          <a:p>
            <a:pPr marL="177800" indent="-177800">
              <a:lnSpc>
                <a:spcPct val="105000"/>
              </a:lnSpc>
              <a:spcAft>
                <a:spcPts val="600"/>
              </a:spcAft>
              <a:buSzPct val="100000"/>
              <a:buChar char="•"/>
            </a:pPr>
            <a:r>
              <a:rPr lang="en-US" sz="1300" dirty="0">
                <a:solidFill>
                  <a:srgbClr val="3A2E20"/>
                </a:solidFill>
                <a:latin typeface="BIZ UDPゴシック" pitchFamily="34" charset="0"/>
                <a:ea typeface="BIZ UDPゴシック" pitchFamily="34" charset="-122"/>
                <a:cs typeface="BIZ UDPゴシック" pitchFamily="34" charset="-120"/>
              </a:rPr>
              <a:t>スプリントごとの成長</a:t>
            </a:r>
            <a:endParaRPr lang="en-US" sz="1300" dirty="0"/>
          </a:p>
          <a:p>
            <a:pPr marL="177800" indent="-177800">
              <a:lnSpc>
                <a:spcPct val="105000"/>
              </a:lnSpc>
              <a:spcAft>
                <a:spcPts val="600"/>
              </a:spcAft>
              <a:buSzPct val="100000"/>
              <a:buChar char="•"/>
            </a:pPr>
            <a:r>
              <a:rPr lang="en-US" sz="1300" dirty="0">
                <a:solidFill>
                  <a:srgbClr val="3A2E20"/>
                </a:solidFill>
                <a:latin typeface="BIZ UDPゴシック" pitchFamily="34" charset="0"/>
                <a:ea typeface="BIZ UDPゴシック" pitchFamily="34" charset="-122"/>
                <a:cs typeface="BIZ UDPゴシック" pitchFamily="34" charset="-120"/>
              </a:rPr>
              <a:t>課題と解決策</a:t>
            </a:r>
            <a:endParaRPr lang="en-US" sz="1300" dirty="0"/>
          </a:p>
        </p:txBody>
      </p:sp>
      <p:sp>
        <p:nvSpPr>
          <p:cNvPr id="27" name="Shape 24"/>
          <p:cNvSpPr/>
          <p:nvPr/>
        </p:nvSpPr>
        <p:spPr>
          <a:xfrm>
            <a:off x="8101584" y="1508760"/>
            <a:ext cx="3538728" cy="3931920"/>
          </a:xfrm>
          <a:prstGeom prst="roundRect">
            <a:avLst>
              <a:gd name="adj" fmla="val 2067"/>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8" name="Shape 25"/>
          <p:cNvSpPr/>
          <p:nvPr/>
        </p:nvSpPr>
        <p:spPr>
          <a:xfrm>
            <a:off x="8101584" y="1508760"/>
            <a:ext cx="3538728" cy="128016"/>
          </a:xfrm>
          <a:prstGeom prst="rect">
            <a:avLst/>
          </a:prstGeom>
          <a:solidFill>
            <a:srgbClr val="B8862B"/>
          </a:solidFill>
          <a:ln/>
        </p:spPr>
      </p:sp>
      <p:sp>
        <p:nvSpPr>
          <p:cNvPr id="29" name="Text 26"/>
          <p:cNvSpPr/>
          <p:nvPr/>
        </p:nvSpPr>
        <p:spPr>
          <a:xfrm>
            <a:off x="8375904" y="1783080"/>
            <a:ext cx="1371600" cy="731520"/>
          </a:xfrm>
          <a:prstGeom prst="rect">
            <a:avLst/>
          </a:prstGeom>
          <a:noFill/>
          <a:ln/>
        </p:spPr>
        <p:txBody>
          <a:bodyPr wrap="square" lIns="0" tIns="0" rIns="0" bIns="0" rtlCol="0" anchor="t"/>
          <a:lstStyle/>
          <a:p>
            <a:pPr indent="0" marL="0">
              <a:buNone/>
            </a:pPr>
            <a:r>
              <a:rPr lang="en-US" sz="4000" b="1" dirty="0">
                <a:solidFill>
                  <a:srgbClr val="B8862B"/>
                </a:solidFill>
                <a:latin typeface="Georgia" pitchFamily="34" charset="0"/>
                <a:ea typeface="Georgia" pitchFamily="34" charset="-122"/>
                <a:cs typeface="Georgia" pitchFamily="34" charset="-120"/>
              </a:rPr>
              <a:t>03</a:t>
            </a:r>
            <a:endParaRPr lang="en-US" sz="4000" dirty="0"/>
          </a:p>
        </p:txBody>
      </p:sp>
      <p:sp>
        <p:nvSpPr>
          <p:cNvPr id="30" name="Shape 27"/>
          <p:cNvSpPr/>
          <p:nvPr/>
        </p:nvSpPr>
        <p:spPr>
          <a:xfrm>
            <a:off x="10341864" y="1965960"/>
            <a:ext cx="1051560" cy="384048"/>
          </a:xfrm>
          <a:prstGeom prst="roundRect">
            <a:avLst>
              <a:gd name="adj" fmla="val 50000"/>
            </a:avLst>
          </a:prstGeom>
          <a:solidFill>
            <a:srgbClr val="B8862B"/>
          </a:solidFill>
          <a:ln/>
        </p:spPr>
      </p:sp>
      <p:sp>
        <p:nvSpPr>
          <p:cNvPr id="31" name="Text 28"/>
          <p:cNvSpPr/>
          <p:nvPr/>
        </p:nvSpPr>
        <p:spPr>
          <a:xfrm>
            <a:off x="10341864" y="1965960"/>
            <a:ext cx="10515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5分</a:t>
            </a:r>
            <a:endParaRPr lang="en-US" sz="1300" dirty="0"/>
          </a:p>
        </p:txBody>
      </p:sp>
      <p:sp>
        <p:nvSpPr>
          <p:cNvPr id="32" name="Text 29"/>
          <p:cNvSpPr/>
          <p:nvPr/>
        </p:nvSpPr>
        <p:spPr>
          <a:xfrm>
            <a:off x="8375904" y="2560320"/>
            <a:ext cx="3017520" cy="868680"/>
          </a:xfrm>
          <a:prstGeom prst="rect">
            <a:avLst/>
          </a:prstGeom>
          <a:noFill/>
          <a:ln/>
        </p:spPr>
        <p:txBody>
          <a:bodyPr wrap="square" lIns="0" tIns="0" rIns="0" bIns="0" rtlCol="0" anchor="ctr"/>
          <a:lstStyle/>
          <a:p>
            <a:pPr indent="0" marL="0">
              <a:buNone/>
            </a:pPr>
            <a:r>
              <a:rPr lang="en-US" sz="2000" b="1" dirty="0">
                <a:solidFill>
                  <a:srgbClr val="3A2E20"/>
                </a:solidFill>
                <a:latin typeface="BIZ UDPゴシック" pitchFamily="34" charset="0"/>
                <a:ea typeface="BIZ UDPゴシック" pitchFamily="34" charset="-122"/>
                <a:cs typeface="BIZ UDPゴシック" pitchFamily="34" charset="-120"/>
              </a:rPr>
              <a:t>学びと展開</a:t>
            </a:r>
            <a:endParaRPr lang="en-US" sz="2000" dirty="0"/>
          </a:p>
        </p:txBody>
      </p:sp>
      <p:sp>
        <p:nvSpPr>
          <p:cNvPr id="33" name="Shape 30"/>
          <p:cNvSpPr/>
          <p:nvPr/>
        </p:nvSpPr>
        <p:spPr>
          <a:xfrm>
            <a:off x="8375904" y="3566160"/>
            <a:ext cx="2990088" cy="0"/>
          </a:xfrm>
          <a:prstGeom prst="line">
            <a:avLst/>
          </a:prstGeom>
          <a:noFill/>
          <a:ln w="12700">
            <a:solidFill>
              <a:srgbClr val="DCC48A"/>
            </a:solidFill>
            <a:prstDash val="solid"/>
          </a:ln>
        </p:spPr>
      </p:sp>
      <p:sp>
        <p:nvSpPr>
          <p:cNvPr id="34" name="Text 31"/>
          <p:cNvSpPr/>
          <p:nvPr/>
        </p:nvSpPr>
        <p:spPr>
          <a:xfrm>
            <a:off x="8375904" y="3703320"/>
            <a:ext cx="3017520" cy="164592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00" dirty="0">
                <a:solidFill>
                  <a:srgbClr val="3A2E20"/>
                </a:solidFill>
                <a:latin typeface="BIZ UDPゴシック" pitchFamily="34" charset="0"/>
                <a:ea typeface="BIZ UDPゴシック" pitchFamily="34" charset="-122"/>
                <a:cs typeface="BIZ UDPゴシック" pitchFamily="34" charset="-120"/>
              </a:rPr>
              <a:t>研修を通じた学び</a:t>
            </a:r>
            <a:endParaRPr lang="en-US" sz="1300" dirty="0"/>
          </a:p>
          <a:p>
            <a:pPr marL="177800" indent="-177800">
              <a:lnSpc>
                <a:spcPct val="105000"/>
              </a:lnSpc>
              <a:spcAft>
                <a:spcPts val="600"/>
              </a:spcAft>
              <a:buSzPct val="100000"/>
              <a:buChar char="•"/>
            </a:pPr>
            <a:r>
              <a:rPr lang="en-US" sz="1300" dirty="0">
                <a:solidFill>
                  <a:srgbClr val="3A2E20"/>
                </a:solidFill>
                <a:latin typeface="BIZ UDPゴシック" pitchFamily="34" charset="0"/>
                <a:ea typeface="BIZ UDPゴシック" pitchFamily="34" charset="-122"/>
                <a:cs typeface="BIZ UDPゴシック" pitchFamily="34" charset="-120"/>
              </a:rPr>
              <a:t>今後の業務に生かしたいこと</a:t>
            </a:r>
            <a:endParaRPr lang="en-US" sz="1300" dirty="0"/>
          </a:p>
        </p:txBody>
      </p:sp>
      <p:sp>
        <p:nvSpPr>
          <p:cNvPr id="35" name="Text 32"/>
          <p:cNvSpPr/>
          <p:nvPr/>
        </p:nvSpPr>
        <p:spPr>
          <a:xfrm>
            <a:off x="548640" y="5623560"/>
            <a:ext cx="2743200" cy="274320"/>
          </a:xfrm>
          <a:prstGeom prst="rect">
            <a:avLst/>
          </a:prstGeom>
          <a:noFill/>
          <a:ln/>
        </p:spPr>
        <p:txBody>
          <a:bodyPr wrap="square" lIns="0" tIns="0" rIns="0" bIns="0" rtlCol="0" anchor="t"/>
          <a:lstStyle/>
          <a:p>
            <a:pPr indent="0" marL="0">
              <a:buNone/>
            </a:pPr>
            <a:r>
              <a:rPr lang="en-US" sz="1100" b="1" dirty="0">
                <a:solidFill>
                  <a:srgbClr val="6B5B46"/>
                </a:solidFill>
                <a:latin typeface="BIZ UDPゴシック" pitchFamily="34" charset="0"/>
                <a:ea typeface="BIZ UDPゴシック" pitchFamily="34" charset="-122"/>
                <a:cs typeface="BIZ UDPゴシック" pitchFamily="34" charset="-120"/>
              </a:rPr>
              <a:t>時間配分（合計25分）</a:t>
            </a:r>
            <a:endParaRPr lang="en-US" sz="1100" dirty="0"/>
          </a:p>
        </p:txBody>
      </p:sp>
      <p:sp>
        <p:nvSpPr>
          <p:cNvPr id="36" name="Shape 33"/>
          <p:cNvSpPr/>
          <p:nvPr/>
        </p:nvSpPr>
        <p:spPr>
          <a:xfrm>
            <a:off x="3017520" y="5641848"/>
            <a:ext cx="3412541" cy="292608"/>
          </a:xfrm>
          <a:prstGeom prst="rect">
            <a:avLst/>
          </a:prstGeom>
          <a:solidFill>
            <a:srgbClr val="45356B"/>
          </a:solidFill>
          <a:ln/>
        </p:spPr>
      </p:sp>
      <p:sp>
        <p:nvSpPr>
          <p:cNvPr id="37" name="Text 34"/>
          <p:cNvSpPr/>
          <p:nvPr/>
        </p:nvSpPr>
        <p:spPr>
          <a:xfrm>
            <a:off x="3017520" y="5641848"/>
            <a:ext cx="3412541"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ゴシック" pitchFamily="34" charset="0"/>
                <a:ea typeface="BIZ UDPゴシック" pitchFamily="34" charset="-122"/>
                <a:cs typeface="BIZ UDPゴシック" pitchFamily="34" charset="-120"/>
              </a:rPr>
              <a:t>アーキテクチャ＆技術的工夫 10分</a:t>
            </a:r>
            <a:endParaRPr lang="en-US" sz="1000" dirty="0"/>
          </a:p>
        </p:txBody>
      </p:sp>
      <p:sp>
        <p:nvSpPr>
          <p:cNvPr id="38" name="Shape 35"/>
          <p:cNvSpPr/>
          <p:nvPr/>
        </p:nvSpPr>
        <p:spPr>
          <a:xfrm>
            <a:off x="6466637" y="5641848"/>
            <a:ext cx="3412541" cy="292608"/>
          </a:xfrm>
          <a:prstGeom prst="rect">
            <a:avLst/>
          </a:prstGeom>
          <a:solidFill>
            <a:srgbClr val="3F7A5C"/>
          </a:solidFill>
          <a:ln/>
        </p:spPr>
      </p:sp>
      <p:sp>
        <p:nvSpPr>
          <p:cNvPr id="39" name="Text 36"/>
          <p:cNvSpPr/>
          <p:nvPr/>
        </p:nvSpPr>
        <p:spPr>
          <a:xfrm>
            <a:off x="6466637" y="5641848"/>
            <a:ext cx="3412541"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ゴシック" pitchFamily="34" charset="0"/>
                <a:ea typeface="BIZ UDPゴシック" pitchFamily="34" charset="-122"/>
                <a:cs typeface="BIZ UDPゴシック" pitchFamily="34" charset="-120"/>
              </a:rPr>
              <a:t>開発プロセス・協働 10分</a:t>
            </a:r>
            <a:endParaRPr lang="en-US" sz="1000" dirty="0"/>
          </a:p>
        </p:txBody>
      </p:sp>
      <p:sp>
        <p:nvSpPr>
          <p:cNvPr id="40" name="Shape 37"/>
          <p:cNvSpPr/>
          <p:nvPr/>
        </p:nvSpPr>
        <p:spPr>
          <a:xfrm>
            <a:off x="9915754" y="5641848"/>
            <a:ext cx="1687982" cy="292608"/>
          </a:xfrm>
          <a:prstGeom prst="rect">
            <a:avLst/>
          </a:prstGeom>
          <a:solidFill>
            <a:srgbClr val="B8862B"/>
          </a:solidFill>
          <a:ln/>
        </p:spPr>
      </p:sp>
      <p:sp>
        <p:nvSpPr>
          <p:cNvPr id="41" name="Text 38"/>
          <p:cNvSpPr/>
          <p:nvPr/>
        </p:nvSpPr>
        <p:spPr>
          <a:xfrm>
            <a:off x="9915754" y="5641848"/>
            <a:ext cx="168798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ゴシック" pitchFamily="34" charset="0"/>
                <a:ea typeface="BIZ UDPゴシック" pitchFamily="34" charset="-122"/>
                <a:cs typeface="BIZ UDPゴシック" pitchFamily="34" charset="-120"/>
              </a:rPr>
              <a:t>学び 5分</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5356B"/>
        </a:solidFill>
      </p:bgPr>
    </p:bg>
    <p:spTree>
      <p:nvGrpSpPr>
        <p:cNvPr id="1" name=""/>
        <p:cNvGrpSpPr/>
        <p:nvPr/>
      </p:nvGrpSpPr>
      <p:grpSpPr>
        <a:xfrm>
          <a:off x="0" y="0"/>
          <a:ext cx="0" cy="0"/>
          <a:chOff x="0" y="0"/>
          <a:chExt cx="0" cy="0"/>
        </a:xfrm>
      </p:grpSpPr>
      <p:pic>
        <p:nvPicPr>
          <p:cNvPr id="2" name="Image 0" descr="C:\Users\ltosuser\AppData\Local\Temp\michishiru-ppt\img\map.jpg">    </p:cNvPr>
          <p:cNvPicPr>
            <a:picLocks noChangeAspect="1"/>
          </p:cNvPicPr>
          <p:nvPr/>
        </p:nvPicPr>
        <p:blipFill>
          <a:blip r:embed="rId1"/>
          <a:srcRect l="0" r="0" t="13716" b="13716"/>
          <a:stretch/>
        </p:blipFill>
        <p:spPr>
          <a:xfrm>
            <a:off x="5852160" y="0"/>
            <a:ext cx="6339535" cy="6858000"/>
          </a:xfrm>
          <a:prstGeom prst="rect">
            <a:avLst/>
          </a:prstGeom>
        </p:spPr>
      </p:pic>
      <p:sp>
        <p:nvSpPr>
          <p:cNvPr id="3" name="Shape 0"/>
          <p:cNvSpPr/>
          <p:nvPr/>
        </p:nvSpPr>
        <p:spPr>
          <a:xfrm>
            <a:off x="5852160" y="0"/>
            <a:ext cx="6339535" cy="6858000"/>
          </a:xfrm>
          <a:prstGeom prst="rect">
            <a:avLst/>
          </a:prstGeom>
          <a:solidFill>
            <a:srgbClr val="45356B">
              <a:alpha val="65000"/>
            </a:srgbClr>
          </a:solidFill>
          <a:ln/>
        </p:spPr>
      </p:sp>
      <p:sp>
        <p:nvSpPr>
          <p:cNvPr id="4" name="Shape 1"/>
          <p:cNvSpPr/>
          <p:nvPr/>
        </p:nvSpPr>
        <p:spPr>
          <a:xfrm>
            <a:off x="5852160" y="0"/>
            <a:ext cx="73152" cy="6858000"/>
          </a:xfrm>
          <a:prstGeom prst="rect">
            <a:avLst/>
          </a:prstGeom>
          <a:solidFill>
            <a:srgbClr val="B8862B"/>
          </a:solidFill>
          <a:ln/>
        </p:spPr>
      </p:sp>
      <p:sp>
        <p:nvSpPr>
          <p:cNvPr id="5" name="Text 2"/>
          <p:cNvSpPr/>
          <p:nvPr/>
        </p:nvSpPr>
        <p:spPr>
          <a:xfrm>
            <a:off x="822960" y="1097280"/>
            <a:ext cx="3657600" cy="1280160"/>
          </a:xfrm>
          <a:prstGeom prst="rect">
            <a:avLst/>
          </a:prstGeom>
          <a:noFill/>
          <a:ln/>
        </p:spPr>
        <p:txBody>
          <a:bodyPr wrap="square" lIns="0" tIns="0" rIns="0" bIns="0" rtlCol="0" anchor="t"/>
          <a:lstStyle/>
          <a:p>
            <a:pPr indent="0" marL="0">
              <a:buNone/>
            </a:pPr>
            <a:r>
              <a:rPr lang="en-US" sz="9600" b="1" dirty="0">
                <a:solidFill>
                  <a:srgbClr val="B8862B"/>
                </a:solidFill>
                <a:latin typeface="Georgia" pitchFamily="34" charset="0"/>
                <a:ea typeface="Georgia" pitchFamily="34" charset="-122"/>
                <a:cs typeface="Georgia" pitchFamily="34" charset="-120"/>
              </a:rPr>
              <a:t>01</a:t>
            </a:r>
            <a:endParaRPr lang="en-US" sz="9600" dirty="0"/>
          </a:p>
        </p:txBody>
      </p:sp>
      <p:sp>
        <p:nvSpPr>
          <p:cNvPr id="6" name="Shape 3"/>
          <p:cNvSpPr/>
          <p:nvPr/>
        </p:nvSpPr>
        <p:spPr>
          <a:xfrm>
            <a:off x="868680" y="2606040"/>
            <a:ext cx="1097280" cy="64008"/>
          </a:xfrm>
          <a:prstGeom prst="rect">
            <a:avLst/>
          </a:prstGeom>
          <a:solidFill>
            <a:srgbClr val="B8862B"/>
          </a:solidFill>
          <a:ln/>
        </p:spPr>
      </p:sp>
      <p:sp>
        <p:nvSpPr>
          <p:cNvPr id="7" name="Text 4"/>
          <p:cNvSpPr/>
          <p:nvPr/>
        </p:nvSpPr>
        <p:spPr>
          <a:xfrm>
            <a:off x="822960" y="2788920"/>
            <a:ext cx="4937760" cy="1234440"/>
          </a:xfrm>
          <a:prstGeom prst="rect">
            <a:avLst/>
          </a:prstGeom>
          <a:noFill/>
          <a:ln/>
        </p:spPr>
        <p:txBody>
          <a:bodyPr wrap="square" lIns="0" tIns="0" rIns="0" bIns="0" rtlCol="0" anchor="ctr"/>
          <a:lstStyle/>
          <a:p>
            <a:pPr indent="0" marL="0">
              <a:buNone/>
            </a:pPr>
            <a:r>
              <a:rPr lang="en-US" sz="3600" b="1" dirty="0">
                <a:solidFill>
                  <a:srgbClr val="FFFFFF"/>
                </a:solidFill>
                <a:latin typeface="BIZ UDPゴシック" pitchFamily="34" charset="0"/>
                <a:ea typeface="BIZ UDPゴシック" pitchFamily="34" charset="-122"/>
                <a:cs typeface="BIZ UDPゴシック" pitchFamily="34" charset="-120"/>
              </a:rPr>
              <a:t>アーキテクチャ＆</a:t>
            </a:r>
            <a:endParaRPr lang="en-US" sz="3600" dirty="0"/>
          </a:p>
          <a:p>
            <a:pPr indent="0" marL="0">
              <a:buNone/>
            </a:pPr>
            <a:r>
              <a:rPr lang="en-US" sz="3600" b="1" dirty="0">
                <a:solidFill>
                  <a:srgbClr val="FFFFFF"/>
                </a:solidFill>
                <a:latin typeface="BIZ UDPゴシック" pitchFamily="34" charset="0"/>
                <a:ea typeface="BIZ UDPゴシック" pitchFamily="34" charset="-122"/>
                <a:cs typeface="BIZ UDPゴシック" pitchFamily="34" charset="-120"/>
              </a:rPr>
              <a:t>技術的工夫</a:t>
            </a:r>
            <a:endParaRPr lang="en-US" sz="3600" dirty="0"/>
          </a:p>
        </p:txBody>
      </p:sp>
      <p:sp>
        <p:nvSpPr>
          <p:cNvPr id="8" name="Text 5"/>
          <p:cNvSpPr/>
          <p:nvPr/>
        </p:nvSpPr>
        <p:spPr>
          <a:xfrm>
            <a:off x="822960" y="4114800"/>
            <a:ext cx="4937760" cy="914400"/>
          </a:xfrm>
          <a:prstGeom prst="rect">
            <a:avLst/>
          </a:prstGeom>
          <a:noFill/>
          <a:ln/>
        </p:spPr>
        <p:txBody>
          <a:bodyPr wrap="square" lIns="0" tIns="0" rIns="0" bIns="0" rtlCol="0" anchor="t"/>
          <a:lstStyle/>
          <a:p>
            <a:pPr indent="0" marL="0">
              <a:lnSpc>
                <a:spcPct val="130000"/>
              </a:lnSpc>
              <a:buNone/>
            </a:pPr>
            <a:r>
              <a:rPr lang="en-US" sz="1400" dirty="0">
                <a:solidFill>
                  <a:srgbClr val="E8E1F5"/>
                </a:solidFill>
                <a:latin typeface="BIZ UDPゴシック" pitchFamily="34" charset="0"/>
                <a:ea typeface="BIZ UDPゴシック" pitchFamily="34" charset="-122"/>
                <a:cs typeface="BIZ UDPゴシック" pitchFamily="34" charset="-120"/>
              </a:rPr>
              <a:t>AWS構成と各サービスの役割</a:t>
            </a:r>
            <a:endParaRPr lang="en-US" sz="1400" dirty="0"/>
          </a:p>
          <a:p>
            <a:pPr indent="0" marL="0">
              <a:lnSpc>
                <a:spcPct val="130000"/>
              </a:lnSpc>
              <a:buNone/>
            </a:pPr>
            <a:r>
              <a:rPr lang="en-US" sz="1400" dirty="0">
                <a:solidFill>
                  <a:srgbClr val="E8E1F5"/>
                </a:solidFill>
                <a:latin typeface="BIZ UDPゴシック" pitchFamily="34" charset="0"/>
                <a:ea typeface="BIZ UDPゴシック" pitchFamily="34" charset="-122"/>
                <a:cs typeface="BIZ UDPゴシック" pitchFamily="34" charset="-120"/>
              </a:rPr>
              <a:t>AIを開発に組み込んだ工夫</a:t>
            </a:r>
            <a:endParaRPr lang="en-US" sz="1400" dirty="0"/>
          </a:p>
          <a:p>
            <a:pPr indent="0" marL="0">
              <a:lnSpc>
                <a:spcPct val="130000"/>
              </a:lnSpc>
              <a:buNone/>
            </a:pPr>
            <a:r>
              <a:rPr lang="en-US" sz="1400" dirty="0">
                <a:solidFill>
                  <a:srgbClr val="E8E1F5"/>
                </a:solidFill>
                <a:latin typeface="BIZ UDPゴシック" pitchFamily="34" charset="0"/>
                <a:ea typeface="BIZ UDPゴシック" pitchFamily="34" charset="-122"/>
                <a:cs typeface="BIZ UDPゴシック" pitchFamily="34" charset="-120"/>
              </a:rPr>
              <a:t>アプリのこだわりポイント</a:t>
            </a:r>
            <a:endParaRPr lang="en-US" sz="1400" dirty="0"/>
          </a:p>
        </p:txBody>
      </p:sp>
      <p:sp>
        <p:nvSpPr>
          <p:cNvPr id="9" name="Shape 6"/>
          <p:cNvSpPr/>
          <p:nvPr/>
        </p:nvSpPr>
        <p:spPr>
          <a:xfrm>
            <a:off x="822960" y="5120640"/>
            <a:ext cx="1737360" cy="502920"/>
          </a:xfrm>
          <a:prstGeom prst="roundRect">
            <a:avLst>
              <a:gd name="adj" fmla="val 49091"/>
            </a:avLst>
          </a:prstGeom>
          <a:solidFill>
            <a:srgbClr val="B8862B"/>
          </a:solidFill>
          <a:ln/>
        </p:spPr>
      </p:sp>
      <p:sp>
        <p:nvSpPr>
          <p:cNvPr id="10" name="Text 7"/>
          <p:cNvSpPr/>
          <p:nvPr/>
        </p:nvSpPr>
        <p:spPr>
          <a:xfrm>
            <a:off x="822960" y="5120640"/>
            <a:ext cx="17373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発表 10分</a:t>
            </a:r>
            <a:endParaRPr lang="en-US" sz="1500" dirty="0"/>
          </a:p>
        </p:txBody>
      </p:sp>
      <p:sp>
        <p:nvSpPr>
          <p:cNvPr id="11" name="Shape 8"/>
          <p:cNvSpPr/>
          <p:nvPr/>
        </p:nvSpPr>
        <p:spPr>
          <a:xfrm>
            <a:off x="7452360" y="1417320"/>
            <a:ext cx="3291840" cy="3291840"/>
          </a:xfrm>
          <a:prstGeom prst="ellipse">
            <a:avLst/>
          </a:prstGeom>
          <a:solidFill>
            <a:srgbClr val="FBF4E4">
              <a:alpha val="90000"/>
            </a:srgbClr>
          </a:solidFill>
          <a:ln w="38100">
            <a:solidFill>
              <a:srgbClr val="B8862B"/>
            </a:solidFill>
            <a:prstDash val="solid"/>
          </a:ln>
        </p:spPr>
      </p:sp>
      <p:pic>
        <p:nvPicPr>
          <p:cNvPr id="12" name="Image 1" descr="C:\Users\ltosuser\AppData\Local\Temp\michishiru-ppt\img\lv03.png">    </p:cNvPr>
          <p:cNvPicPr>
            <a:picLocks noChangeAspect="1"/>
          </p:cNvPicPr>
          <p:nvPr/>
        </p:nvPicPr>
        <p:blipFill>
          <a:blip r:embed="rId2"/>
          <a:stretch>
            <a:fillRect/>
          </a:stretch>
        </p:blipFill>
        <p:spPr>
          <a:xfrm>
            <a:off x="7635240" y="1554480"/>
            <a:ext cx="2926080" cy="2926080"/>
          </a:xfrm>
          <a:prstGeom prst="rect">
            <a:avLst/>
          </a:prstGeom>
        </p:spPr>
      </p:pic>
      <p:sp>
        <p:nvSpPr>
          <p:cNvPr id="13" name="Text 9"/>
          <p:cNvSpPr/>
          <p:nvPr/>
        </p:nvSpPr>
        <p:spPr>
          <a:xfrm>
            <a:off x="7452360" y="4892040"/>
            <a:ext cx="3291840" cy="457200"/>
          </a:xfrm>
          <a:prstGeom prst="rect">
            <a:avLst/>
          </a:prstGeom>
          <a:noFill/>
          <a:ln/>
        </p:spPr>
        <p:txBody>
          <a:bodyPr wrap="square" lIns="0" tIns="0" rIns="0" bIns="0" rtlCol="0" anchor="t"/>
          <a:lstStyle/>
          <a:p>
            <a:pPr algn="ctr" indent="0" marL="0">
              <a:buNone/>
            </a:pPr>
            <a:r>
              <a:rPr lang="en-US" sz="2000" b="1" dirty="0">
                <a:solidFill>
                  <a:srgbClr val="FFFFFF"/>
                </a:solidFill>
                <a:latin typeface="Georgia" pitchFamily="34" charset="0"/>
                <a:ea typeface="Georgia" pitchFamily="34" charset="-122"/>
                <a:cs typeface="Georgia" pitchFamily="34" charset="-120"/>
              </a:rPr>
              <a:t>Lv.3</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01 ARCHITECTURE</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全体システムアーキテクチャ（AWS構成）</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01 アーキテクチャ＆技術的工夫</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4</a:t>
            </a:r>
            <a:endParaRPr lang="en-US" sz="900" dirty="0"/>
          </a:p>
        </p:txBody>
      </p:sp>
      <p:sp>
        <p:nvSpPr>
          <p:cNvPr id="11" name="Shape 8"/>
          <p:cNvSpPr/>
          <p:nvPr/>
        </p:nvSpPr>
        <p:spPr>
          <a:xfrm>
            <a:off x="1645920" y="1353312"/>
            <a:ext cx="10177272" cy="3493008"/>
          </a:xfrm>
          <a:prstGeom prst="roundRect">
            <a:avLst>
              <a:gd name="adj" fmla="val 2618"/>
            </a:avLst>
          </a:prstGeom>
          <a:solidFill>
            <a:srgbClr val="FFFFFF">
              <a:alpha val="60000"/>
            </a:srgbClr>
          </a:solidFill>
          <a:ln w="15875">
            <a:solidFill>
              <a:srgbClr val="B9AE9C"/>
            </a:solidFill>
            <a:prstDash val="dash"/>
          </a:ln>
        </p:spPr>
      </p:sp>
      <p:sp>
        <p:nvSpPr>
          <p:cNvPr id="12" name="Text 9"/>
          <p:cNvSpPr/>
          <p:nvPr/>
        </p:nvSpPr>
        <p:spPr>
          <a:xfrm>
            <a:off x="1783080" y="1399032"/>
            <a:ext cx="3657600" cy="228600"/>
          </a:xfrm>
          <a:prstGeom prst="rect">
            <a:avLst/>
          </a:prstGeom>
          <a:noFill/>
          <a:ln/>
        </p:spPr>
        <p:txBody>
          <a:bodyPr wrap="square" lIns="0" tIns="0" rIns="0" bIns="0" rtlCol="0" anchor="t"/>
          <a:lstStyle/>
          <a:p>
            <a:pPr indent="0" marL="0">
              <a:buNone/>
            </a:pPr>
            <a:r>
              <a:rPr lang="en-US" sz="950" b="1" dirty="0">
                <a:solidFill>
                  <a:srgbClr val="6B5B46"/>
                </a:solidFill>
                <a:latin typeface="BIZ UDPゴシック" pitchFamily="34" charset="0"/>
                <a:ea typeface="BIZ UDPゴシック" pitchFamily="34" charset="-122"/>
                <a:cs typeface="BIZ UDPゴシック" pitchFamily="34" charset="-120"/>
              </a:rPr>
              <a:t>AWS クラウド（東京リージョン）</a:t>
            </a:r>
            <a:endParaRPr lang="en-US" sz="950" dirty="0"/>
          </a:p>
        </p:txBody>
      </p:sp>
      <p:sp>
        <p:nvSpPr>
          <p:cNvPr id="13" name="Shape 10"/>
          <p:cNvSpPr/>
          <p:nvPr/>
        </p:nvSpPr>
        <p:spPr>
          <a:xfrm>
            <a:off x="274320" y="2560320"/>
            <a:ext cx="1143000" cy="1097280"/>
          </a:xfrm>
          <a:prstGeom prst="roundRect">
            <a:avLst>
              <a:gd name="adj" fmla="val 10000"/>
            </a:avLst>
          </a:prstGeom>
          <a:solidFill>
            <a:srgbClr val="45356B"/>
          </a:solidFill>
          <a:ln/>
          <a:effectLst>
            <a:outerShdw sx="100000" sy="100000" kx="0" ky="0" algn="bl" rotWithShape="0" blurRad="101600" dist="38100" dir="2700000">
              <a:srgbClr val="5C4430">
                <a:alpha val="30000"/>
              </a:srgbClr>
            </a:outerShdw>
          </a:effectLst>
        </p:spPr>
      </p:sp>
      <p:sp>
        <p:nvSpPr>
          <p:cNvPr id="14" name="Shape 11"/>
          <p:cNvSpPr/>
          <p:nvPr/>
        </p:nvSpPr>
        <p:spPr>
          <a:xfrm>
            <a:off x="676656" y="2670048"/>
            <a:ext cx="329184" cy="329184"/>
          </a:xfrm>
          <a:prstGeom prst="ellipse">
            <a:avLst/>
          </a:prstGeom>
          <a:solidFill>
            <a:srgbClr val="FFFFFF"/>
          </a:solidFill>
          <a:ln/>
        </p:spPr>
      </p:sp>
      <p:sp>
        <p:nvSpPr>
          <p:cNvPr id="15" name="Shape 12"/>
          <p:cNvSpPr/>
          <p:nvPr/>
        </p:nvSpPr>
        <p:spPr>
          <a:xfrm>
            <a:off x="566928" y="3035808"/>
            <a:ext cx="548640" cy="237744"/>
          </a:xfrm>
          <a:prstGeom prst="roundRect">
            <a:avLst>
              <a:gd name="adj" fmla="val 46154"/>
            </a:avLst>
          </a:prstGeom>
          <a:solidFill>
            <a:srgbClr val="FFFFFF"/>
          </a:solidFill>
          <a:ln/>
        </p:spPr>
      </p:sp>
      <p:sp>
        <p:nvSpPr>
          <p:cNvPr id="16" name="Text 13"/>
          <p:cNvSpPr/>
          <p:nvPr/>
        </p:nvSpPr>
        <p:spPr>
          <a:xfrm>
            <a:off x="274320" y="3273552"/>
            <a:ext cx="1143000" cy="384048"/>
          </a:xfrm>
          <a:prstGeom prst="rect">
            <a:avLst/>
          </a:prstGeom>
          <a:noFill/>
          <a:ln/>
        </p:spPr>
        <p:txBody>
          <a:bodyPr wrap="square" lIns="0" tIns="0" rIns="0" bIns="0" rtlCol="0" anchor="t"/>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利用者</a:t>
            </a:r>
            <a:endParaRPr lang="en-US" sz="950" dirty="0"/>
          </a:p>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（スマホ）</a:t>
            </a:r>
            <a:endParaRPr lang="en-US" sz="950" dirty="0"/>
          </a:p>
        </p:txBody>
      </p:sp>
      <p:sp>
        <p:nvSpPr>
          <p:cNvPr id="17" name="Shape 14"/>
          <p:cNvSpPr/>
          <p:nvPr/>
        </p:nvSpPr>
        <p:spPr>
          <a:xfrm>
            <a:off x="1828800" y="1691640"/>
            <a:ext cx="1965960" cy="713232"/>
          </a:xfrm>
          <a:prstGeom prst="roundRect">
            <a:avLst>
              <a:gd name="adj" fmla="val 7692"/>
            </a:avLst>
          </a:prstGeom>
          <a:solidFill>
            <a:srgbClr val="FFFFFF"/>
          </a:solidFill>
          <a:ln w="19050">
            <a:solidFill>
              <a:srgbClr val="DD344C"/>
            </a:solidFill>
            <a:prstDash val="solid"/>
          </a:ln>
        </p:spPr>
      </p:sp>
      <p:sp>
        <p:nvSpPr>
          <p:cNvPr id="18" name="Shape 15"/>
          <p:cNvSpPr/>
          <p:nvPr/>
        </p:nvSpPr>
        <p:spPr>
          <a:xfrm>
            <a:off x="1901952" y="1819656"/>
            <a:ext cx="457200" cy="457200"/>
          </a:xfrm>
          <a:prstGeom prst="roundRect">
            <a:avLst>
              <a:gd name="adj" fmla="val 12000"/>
            </a:avLst>
          </a:prstGeom>
          <a:solidFill>
            <a:srgbClr val="DD344C"/>
          </a:solidFill>
          <a:ln/>
        </p:spPr>
      </p:sp>
      <p:sp>
        <p:nvSpPr>
          <p:cNvPr id="19" name="Text 16"/>
          <p:cNvSpPr/>
          <p:nvPr/>
        </p:nvSpPr>
        <p:spPr>
          <a:xfrm>
            <a:off x="1901952" y="1819656"/>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BIZ UDPゴシック" pitchFamily="34" charset="0"/>
                <a:ea typeface="BIZ UDPゴシック" pitchFamily="34" charset="-122"/>
                <a:cs typeface="BIZ UDPゴシック" pitchFamily="34" charset="-120"/>
              </a:rPr>
              <a:t>Cog</a:t>
            </a:r>
            <a:endParaRPr lang="en-US" sz="900" dirty="0"/>
          </a:p>
        </p:txBody>
      </p:sp>
      <p:sp>
        <p:nvSpPr>
          <p:cNvPr id="20" name="Text 17"/>
          <p:cNvSpPr/>
          <p:nvPr/>
        </p:nvSpPr>
        <p:spPr>
          <a:xfrm>
            <a:off x="2432304" y="1755648"/>
            <a:ext cx="1325880" cy="256032"/>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Cognito</a:t>
            </a:r>
            <a:endParaRPr lang="en-US" sz="1100" dirty="0"/>
          </a:p>
        </p:txBody>
      </p:sp>
      <p:sp>
        <p:nvSpPr>
          <p:cNvPr id="21" name="Text 18"/>
          <p:cNvSpPr/>
          <p:nvPr/>
        </p:nvSpPr>
        <p:spPr>
          <a:xfrm>
            <a:off x="2432304" y="2011680"/>
            <a:ext cx="1325880" cy="365760"/>
          </a:xfrm>
          <a:prstGeom prst="rect">
            <a:avLst/>
          </a:prstGeom>
          <a:noFill/>
          <a:ln/>
        </p:spPr>
        <p:txBody>
          <a:bodyPr wrap="square" lIns="0" tIns="0" rIns="0" bIns="0" rtlCol="0" anchor="t"/>
          <a:lstStyle/>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ログイン・ユーザー登録</a:t>
            </a:r>
            <a:endParaRPr lang="en-US" sz="850" dirty="0"/>
          </a:p>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（ブラウザから直接）</a:t>
            </a:r>
            <a:endParaRPr lang="en-US" sz="850" dirty="0"/>
          </a:p>
        </p:txBody>
      </p:sp>
      <p:sp>
        <p:nvSpPr>
          <p:cNvPr id="22" name="Shape 19"/>
          <p:cNvSpPr/>
          <p:nvPr/>
        </p:nvSpPr>
        <p:spPr>
          <a:xfrm>
            <a:off x="1828800" y="2834640"/>
            <a:ext cx="1965960" cy="713232"/>
          </a:xfrm>
          <a:prstGeom prst="roundRect">
            <a:avLst>
              <a:gd name="adj" fmla="val 7692"/>
            </a:avLst>
          </a:prstGeom>
          <a:solidFill>
            <a:srgbClr val="FFFFFF"/>
          </a:solidFill>
          <a:ln w="19050">
            <a:solidFill>
              <a:srgbClr val="8C4FFF"/>
            </a:solidFill>
            <a:prstDash val="solid"/>
          </a:ln>
        </p:spPr>
      </p:sp>
      <p:sp>
        <p:nvSpPr>
          <p:cNvPr id="23" name="Shape 20"/>
          <p:cNvSpPr/>
          <p:nvPr/>
        </p:nvSpPr>
        <p:spPr>
          <a:xfrm>
            <a:off x="1901952" y="2962656"/>
            <a:ext cx="457200" cy="457200"/>
          </a:xfrm>
          <a:prstGeom prst="roundRect">
            <a:avLst>
              <a:gd name="adj" fmla="val 12000"/>
            </a:avLst>
          </a:prstGeom>
          <a:solidFill>
            <a:srgbClr val="8C4FFF"/>
          </a:solidFill>
          <a:ln/>
        </p:spPr>
      </p:sp>
      <p:sp>
        <p:nvSpPr>
          <p:cNvPr id="24" name="Text 21"/>
          <p:cNvSpPr/>
          <p:nvPr/>
        </p:nvSpPr>
        <p:spPr>
          <a:xfrm>
            <a:off x="1901952" y="296265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BIZ UDPゴシック" pitchFamily="34" charset="0"/>
                <a:ea typeface="BIZ UDPゴシック" pitchFamily="34" charset="-122"/>
                <a:cs typeface="BIZ UDPゴシック" pitchFamily="34" charset="-120"/>
              </a:rPr>
              <a:t>CF</a:t>
            </a:r>
            <a:endParaRPr lang="en-US" sz="1200" dirty="0"/>
          </a:p>
        </p:txBody>
      </p:sp>
      <p:sp>
        <p:nvSpPr>
          <p:cNvPr id="25" name="Text 22"/>
          <p:cNvSpPr/>
          <p:nvPr/>
        </p:nvSpPr>
        <p:spPr>
          <a:xfrm>
            <a:off x="2432304" y="2898648"/>
            <a:ext cx="1325880" cy="256032"/>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CloudFront</a:t>
            </a:r>
            <a:endParaRPr lang="en-US" sz="1100" dirty="0"/>
          </a:p>
        </p:txBody>
      </p:sp>
      <p:sp>
        <p:nvSpPr>
          <p:cNvPr id="26" name="Text 23"/>
          <p:cNvSpPr/>
          <p:nvPr/>
        </p:nvSpPr>
        <p:spPr>
          <a:xfrm>
            <a:off x="2432304" y="3154680"/>
            <a:ext cx="1325880" cy="365760"/>
          </a:xfrm>
          <a:prstGeom prst="rect">
            <a:avLst/>
          </a:prstGeom>
          <a:noFill/>
          <a:ln/>
        </p:spPr>
        <p:txBody>
          <a:bodyPr wrap="square" lIns="0" tIns="0" rIns="0" bIns="0" rtlCol="0" anchor="t"/>
          <a:lstStyle/>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/api/* を API GW へ転送</a:t>
            </a:r>
            <a:endParaRPr lang="en-US" sz="850" dirty="0"/>
          </a:p>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同一オリジン（CORS不要）</a:t>
            </a:r>
            <a:endParaRPr lang="en-US" sz="850" dirty="0"/>
          </a:p>
        </p:txBody>
      </p:sp>
      <p:sp>
        <p:nvSpPr>
          <p:cNvPr id="27" name="Shape 24"/>
          <p:cNvSpPr/>
          <p:nvPr/>
        </p:nvSpPr>
        <p:spPr>
          <a:xfrm>
            <a:off x="1828800" y="3977640"/>
            <a:ext cx="1965960" cy="713232"/>
          </a:xfrm>
          <a:prstGeom prst="roundRect">
            <a:avLst>
              <a:gd name="adj" fmla="val 7692"/>
            </a:avLst>
          </a:prstGeom>
          <a:solidFill>
            <a:srgbClr val="FFFFFF"/>
          </a:solidFill>
          <a:ln w="19050">
            <a:solidFill>
              <a:srgbClr val="2E73B8"/>
            </a:solidFill>
            <a:prstDash val="solid"/>
          </a:ln>
        </p:spPr>
      </p:sp>
      <p:sp>
        <p:nvSpPr>
          <p:cNvPr id="28" name="Shape 25"/>
          <p:cNvSpPr/>
          <p:nvPr/>
        </p:nvSpPr>
        <p:spPr>
          <a:xfrm>
            <a:off x="1901952" y="4105656"/>
            <a:ext cx="457200" cy="457200"/>
          </a:xfrm>
          <a:prstGeom prst="roundRect">
            <a:avLst>
              <a:gd name="adj" fmla="val 12000"/>
            </a:avLst>
          </a:prstGeom>
          <a:solidFill>
            <a:srgbClr val="2E73B8"/>
          </a:solidFill>
          <a:ln/>
        </p:spPr>
      </p:sp>
      <p:sp>
        <p:nvSpPr>
          <p:cNvPr id="29" name="Text 26"/>
          <p:cNvSpPr/>
          <p:nvPr/>
        </p:nvSpPr>
        <p:spPr>
          <a:xfrm>
            <a:off x="1901952" y="4105656"/>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BIZ UDPゴシック" pitchFamily="34" charset="0"/>
                <a:ea typeface="BIZ UDPゴシック" pitchFamily="34" charset="-122"/>
                <a:cs typeface="BIZ UDPゴシック" pitchFamily="34" charset="-120"/>
              </a:rPr>
              <a:t>Map</a:t>
            </a:r>
            <a:endParaRPr lang="en-US" sz="900" dirty="0"/>
          </a:p>
        </p:txBody>
      </p:sp>
      <p:sp>
        <p:nvSpPr>
          <p:cNvPr id="30" name="Text 27"/>
          <p:cNvSpPr/>
          <p:nvPr/>
        </p:nvSpPr>
        <p:spPr>
          <a:xfrm>
            <a:off x="2432304" y="4041648"/>
            <a:ext cx="1325880" cy="256032"/>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Location（Maps）</a:t>
            </a:r>
            <a:endParaRPr lang="en-US" sz="1100" dirty="0"/>
          </a:p>
        </p:txBody>
      </p:sp>
      <p:sp>
        <p:nvSpPr>
          <p:cNvPr id="31" name="Text 28"/>
          <p:cNvSpPr/>
          <p:nvPr/>
        </p:nvSpPr>
        <p:spPr>
          <a:xfrm>
            <a:off x="2432304" y="4297680"/>
            <a:ext cx="1325880" cy="365760"/>
          </a:xfrm>
          <a:prstGeom prst="rect">
            <a:avLst/>
          </a:prstGeom>
          <a:noFill/>
          <a:ln/>
        </p:spPr>
        <p:txBody>
          <a:bodyPr wrap="square" lIns="0" tIns="0" rIns="0" bIns="0" rtlCol="0" anchor="t"/>
          <a:lstStyle/>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地図タイル</a:t>
            </a:r>
            <a:endParaRPr lang="en-US" sz="850" dirty="0"/>
          </a:p>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（MapLibre GLで描画）</a:t>
            </a:r>
            <a:endParaRPr lang="en-US" sz="850" dirty="0"/>
          </a:p>
        </p:txBody>
      </p:sp>
      <p:sp>
        <p:nvSpPr>
          <p:cNvPr id="32" name="Shape 29"/>
          <p:cNvSpPr/>
          <p:nvPr/>
        </p:nvSpPr>
        <p:spPr>
          <a:xfrm>
            <a:off x="4206240" y="1691640"/>
            <a:ext cx="1828800" cy="713232"/>
          </a:xfrm>
          <a:prstGeom prst="roundRect">
            <a:avLst>
              <a:gd name="adj" fmla="val 7692"/>
            </a:avLst>
          </a:prstGeom>
          <a:solidFill>
            <a:srgbClr val="FFFFFF"/>
          </a:solidFill>
          <a:ln w="19050">
            <a:solidFill>
              <a:srgbClr val="7AA116"/>
            </a:solidFill>
            <a:prstDash val="solid"/>
          </a:ln>
        </p:spPr>
      </p:sp>
      <p:sp>
        <p:nvSpPr>
          <p:cNvPr id="33" name="Shape 30"/>
          <p:cNvSpPr/>
          <p:nvPr/>
        </p:nvSpPr>
        <p:spPr>
          <a:xfrm>
            <a:off x="4279392" y="1819656"/>
            <a:ext cx="457200" cy="457200"/>
          </a:xfrm>
          <a:prstGeom prst="roundRect">
            <a:avLst>
              <a:gd name="adj" fmla="val 12000"/>
            </a:avLst>
          </a:prstGeom>
          <a:solidFill>
            <a:srgbClr val="7AA116"/>
          </a:solidFill>
          <a:ln/>
        </p:spPr>
      </p:sp>
      <p:sp>
        <p:nvSpPr>
          <p:cNvPr id="34" name="Text 31"/>
          <p:cNvSpPr/>
          <p:nvPr/>
        </p:nvSpPr>
        <p:spPr>
          <a:xfrm>
            <a:off x="4279392" y="181965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BIZ UDPゴシック" pitchFamily="34" charset="0"/>
                <a:ea typeface="BIZ UDPゴシック" pitchFamily="34" charset="-122"/>
                <a:cs typeface="BIZ UDPゴシック" pitchFamily="34" charset="-120"/>
              </a:rPr>
              <a:t>S3</a:t>
            </a:r>
            <a:endParaRPr lang="en-US" sz="1200" dirty="0"/>
          </a:p>
        </p:txBody>
      </p:sp>
      <p:sp>
        <p:nvSpPr>
          <p:cNvPr id="35" name="Text 32"/>
          <p:cNvSpPr/>
          <p:nvPr/>
        </p:nvSpPr>
        <p:spPr>
          <a:xfrm>
            <a:off x="4809744" y="1755648"/>
            <a:ext cx="1188720" cy="256032"/>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S3（画面）</a:t>
            </a:r>
            <a:endParaRPr lang="en-US" sz="1100" dirty="0"/>
          </a:p>
        </p:txBody>
      </p:sp>
      <p:sp>
        <p:nvSpPr>
          <p:cNvPr id="36" name="Text 33"/>
          <p:cNvSpPr/>
          <p:nvPr/>
        </p:nvSpPr>
        <p:spPr>
          <a:xfrm>
            <a:off x="4809744" y="2011680"/>
            <a:ext cx="1188720" cy="365760"/>
          </a:xfrm>
          <a:prstGeom prst="rect">
            <a:avLst/>
          </a:prstGeom>
          <a:noFill/>
          <a:ln/>
        </p:spPr>
        <p:txBody>
          <a:bodyPr wrap="square" lIns="0" tIns="0" rIns="0" bIns="0" rtlCol="0" anchor="t"/>
          <a:lstStyle/>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Vue SPA の画面</a:t>
            </a:r>
            <a:endParaRPr lang="en-US" sz="850" dirty="0"/>
          </a:p>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OAC経由でのみ公開</a:t>
            </a:r>
            <a:endParaRPr lang="en-US" sz="850" dirty="0"/>
          </a:p>
        </p:txBody>
      </p:sp>
      <p:sp>
        <p:nvSpPr>
          <p:cNvPr id="37" name="Shape 34"/>
          <p:cNvSpPr/>
          <p:nvPr/>
        </p:nvSpPr>
        <p:spPr>
          <a:xfrm>
            <a:off x="4206240" y="2834640"/>
            <a:ext cx="1828800" cy="713232"/>
          </a:xfrm>
          <a:prstGeom prst="roundRect">
            <a:avLst>
              <a:gd name="adj" fmla="val 7692"/>
            </a:avLst>
          </a:prstGeom>
          <a:solidFill>
            <a:srgbClr val="FFFFFF"/>
          </a:solidFill>
          <a:ln w="19050">
            <a:solidFill>
              <a:srgbClr val="E7157B"/>
            </a:solidFill>
            <a:prstDash val="solid"/>
          </a:ln>
        </p:spPr>
      </p:sp>
      <p:sp>
        <p:nvSpPr>
          <p:cNvPr id="38" name="Shape 35"/>
          <p:cNvSpPr/>
          <p:nvPr/>
        </p:nvSpPr>
        <p:spPr>
          <a:xfrm>
            <a:off x="4279392" y="2962656"/>
            <a:ext cx="457200" cy="457200"/>
          </a:xfrm>
          <a:prstGeom prst="roundRect">
            <a:avLst>
              <a:gd name="adj" fmla="val 12000"/>
            </a:avLst>
          </a:prstGeom>
          <a:solidFill>
            <a:srgbClr val="E7157B"/>
          </a:solidFill>
          <a:ln/>
        </p:spPr>
      </p:sp>
      <p:sp>
        <p:nvSpPr>
          <p:cNvPr id="39" name="Text 36"/>
          <p:cNvSpPr/>
          <p:nvPr/>
        </p:nvSpPr>
        <p:spPr>
          <a:xfrm>
            <a:off x="4279392" y="2962656"/>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BIZ UDPゴシック" pitchFamily="34" charset="0"/>
                <a:ea typeface="BIZ UDPゴシック" pitchFamily="34" charset="-122"/>
                <a:cs typeface="BIZ UDPゴシック" pitchFamily="34" charset="-120"/>
              </a:rPr>
              <a:t>API</a:t>
            </a:r>
            <a:endParaRPr lang="en-US" sz="900" dirty="0"/>
          </a:p>
        </p:txBody>
      </p:sp>
      <p:sp>
        <p:nvSpPr>
          <p:cNvPr id="40" name="Text 37"/>
          <p:cNvSpPr/>
          <p:nvPr/>
        </p:nvSpPr>
        <p:spPr>
          <a:xfrm>
            <a:off x="4809744" y="2898648"/>
            <a:ext cx="1188720" cy="256032"/>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API Gateway</a:t>
            </a:r>
            <a:endParaRPr lang="en-US" sz="1100" dirty="0"/>
          </a:p>
        </p:txBody>
      </p:sp>
      <p:sp>
        <p:nvSpPr>
          <p:cNvPr id="41" name="Text 38"/>
          <p:cNvSpPr/>
          <p:nvPr/>
        </p:nvSpPr>
        <p:spPr>
          <a:xfrm>
            <a:off x="4809744" y="3154680"/>
            <a:ext cx="1188720" cy="365760"/>
          </a:xfrm>
          <a:prstGeom prst="rect">
            <a:avLst/>
          </a:prstGeom>
          <a:noFill/>
          <a:ln/>
        </p:spPr>
        <p:txBody>
          <a:bodyPr wrap="square" lIns="0" tIns="0" rIns="0" bIns="0" rtlCol="0" anchor="t"/>
          <a:lstStyle/>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REST /api/v1</a:t>
            </a:r>
            <a:endParaRPr lang="en-US" sz="850" dirty="0"/>
          </a:p>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Cognitoで認可</a:t>
            </a:r>
            <a:endParaRPr lang="en-US" sz="850" dirty="0"/>
          </a:p>
        </p:txBody>
      </p:sp>
      <p:sp>
        <p:nvSpPr>
          <p:cNvPr id="42" name="Shape 39"/>
          <p:cNvSpPr/>
          <p:nvPr/>
        </p:nvSpPr>
        <p:spPr>
          <a:xfrm flipV="1">
            <a:off x="1417320" y="2048256"/>
            <a:ext cx="411480" cy="1060704"/>
          </a:xfrm>
          <a:prstGeom prst="line">
            <a:avLst/>
          </a:prstGeom>
          <a:noFill/>
          <a:ln w="22225">
            <a:solidFill>
              <a:srgbClr val="5C4430"/>
            </a:solidFill>
            <a:prstDash val="solid"/>
            <a:tailEnd type="triangle"/>
          </a:ln>
        </p:spPr>
      </p:sp>
      <p:sp>
        <p:nvSpPr>
          <p:cNvPr id="43" name="Shape 40"/>
          <p:cNvSpPr/>
          <p:nvPr/>
        </p:nvSpPr>
        <p:spPr>
          <a:xfrm>
            <a:off x="1417320" y="3108960"/>
            <a:ext cx="411480" cy="82296"/>
          </a:xfrm>
          <a:prstGeom prst="line">
            <a:avLst/>
          </a:prstGeom>
          <a:noFill/>
          <a:ln w="22225">
            <a:solidFill>
              <a:srgbClr val="5C4430"/>
            </a:solidFill>
            <a:prstDash val="solid"/>
            <a:tailEnd type="triangle"/>
          </a:ln>
        </p:spPr>
      </p:sp>
      <p:sp>
        <p:nvSpPr>
          <p:cNvPr id="44" name="Shape 41"/>
          <p:cNvSpPr/>
          <p:nvPr/>
        </p:nvSpPr>
        <p:spPr>
          <a:xfrm>
            <a:off x="1417320" y="3108960"/>
            <a:ext cx="411480" cy="1225296"/>
          </a:xfrm>
          <a:prstGeom prst="line">
            <a:avLst/>
          </a:prstGeom>
          <a:noFill/>
          <a:ln w="22225">
            <a:solidFill>
              <a:srgbClr val="5C4430"/>
            </a:solidFill>
            <a:prstDash val="solid"/>
            <a:tailEnd type="triangle"/>
          </a:ln>
        </p:spPr>
      </p:sp>
      <p:sp>
        <p:nvSpPr>
          <p:cNvPr id="45" name="Shape 42"/>
          <p:cNvSpPr/>
          <p:nvPr/>
        </p:nvSpPr>
        <p:spPr>
          <a:xfrm flipV="1">
            <a:off x="3794760" y="2048256"/>
            <a:ext cx="411480" cy="969264"/>
          </a:xfrm>
          <a:prstGeom prst="line">
            <a:avLst/>
          </a:prstGeom>
          <a:noFill/>
          <a:ln w="22225">
            <a:solidFill>
              <a:srgbClr val="5C4430"/>
            </a:solidFill>
            <a:prstDash val="solid"/>
            <a:tailEnd type="triangle"/>
          </a:ln>
        </p:spPr>
      </p:sp>
      <p:sp>
        <p:nvSpPr>
          <p:cNvPr id="46" name="Shape 43"/>
          <p:cNvSpPr/>
          <p:nvPr/>
        </p:nvSpPr>
        <p:spPr>
          <a:xfrm>
            <a:off x="3794760" y="3191256"/>
            <a:ext cx="411480" cy="914"/>
          </a:xfrm>
          <a:prstGeom prst="line">
            <a:avLst/>
          </a:prstGeom>
          <a:noFill/>
          <a:ln w="22225">
            <a:solidFill>
              <a:srgbClr val="5C4430"/>
            </a:solidFill>
            <a:prstDash val="solid"/>
            <a:tailEnd type="triangle"/>
          </a:ln>
        </p:spPr>
      </p:sp>
      <p:sp>
        <p:nvSpPr>
          <p:cNvPr id="47" name="Shape 44"/>
          <p:cNvSpPr/>
          <p:nvPr/>
        </p:nvSpPr>
        <p:spPr>
          <a:xfrm>
            <a:off x="6035040" y="3191256"/>
            <a:ext cx="411480" cy="914"/>
          </a:xfrm>
          <a:prstGeom prst="line">
            <a:avLst/>
          </a:prstGeom>
          <a:noFill/>
          <a:ln w="22225">
            <a:solidFill>
              <a:srgbClr val="5C4430"/>
            </a:solidFill>
            <a:prstDash val="solid"/>
            <a:tailEnd type="triangle"/>
          </a:ln>
        </p:spPr>
      </p:sp>
      <p:sp>
        <p:nvSpPr>
          <p:cNvPr id="48" name="Shape 45"/>
          <p:cNvSpPr/>
          <p:nvPr/>
        </p:nvSpPr>
        <p:spPr>
          <a:xfrm>
            <a:off x="6446520" y="1691640"/>
            <a:ext cx="2514600" cy="2990088"/>
          </a:xfrm>
          <a:prstGeom prst="roundRect">
            <a:avLst>
              <a:gd name="adj" fmla="val 2182"/>
            </a:avLst>
          </a:prstGeom>
          <a:solidFill>
            <a:srgbClr val="FFF6EC"/>
          </a:solidFill>
          <a:ln w="19050">
            <a:solidFill>
              <a:srgbClr val="ED7100"/>
            </a:solidFill>
            <a:prstDash val="solid"/>
          </a:ln>
        </p:spPr>
      </p:sp>
      <p:sp>
        <p:nvSpPr>
          <p:cNvPr id="49" name="Shape 46"/>
          <p:cNvSpPr/>
          <p:nvPr/>
        </p:nvSpPr>
        <p:spPr>
          <a:xfrm>
            <a:off x="6446520" y="1691640"/>
            <a:ext cx="2514600" cy="384048"/>
          </a:xfrm>
          <a:prstGeom prst="rect">
            <a:avLst/>
          </a:prstGeom>
          <a:solidFill>
            <a:srgbClr val="ED7100"/>
          </a:solidFill>
          <a:ln/>
        </p:spPr>
      </p:sp>
      <p:sp>
        <p:nvSpPr>
          <p:cNvPr id="50" name="Text 47"/>
          <p:cNvSpPr/>
          <p:nvPr/>
        </p:nvSpPr>
        <p:spPr>
          <a:xfrm>
            <a:off x="6446520" y="1691640"/>
            <a:ext cx="25146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λ  Lambda（Node.js）11関数</a:t>
            </a:r>
            <a:endParaRPr lang="en-US" sz="1100" dirty="0"/>
          </a:p>
        </p:txBody>
      </p:sp>
      <p:sp>
        <p:nvSpPr>
          <p:cNvPr id="51" name="Text 48"/>
          <p:cNvSpPr/>
          <p:nvPr/>
        </p:nvSpPr>
        <p:spPr>
          <a:xfrm>
            <a:off x="6583680" y="2148840"/>
            <a:ext cx="2286000" cy="2487168"/>
          </a:xfrm>
          <a:prstGeom prst="rect">
            <a:avLst/>
          </a:prstGeom>
          <a:noFill/>
          <a:ln/>
        </p:spPr>
        <p:txBody>
          <a:bodyPr wrap="square" lIns="0" tIns="0" rIns="0" bIns="0" rtlCol="0" anchor="t"/>
          <a:lstStyle/>
          <a:p>
            <a:pPr indent="0" marL="0">
              <a:lnSpc>
                <a:spcPct val="100000"/>
              </a:lnSpc>
              <a:buNone/>
            </a:pPr>
            <a:r>
              <a:rPr lang="en-US" sz="950" b="1" dirty="0">
                <a:solidFill>
                  <a:srgbClr val="ED7100"/>
                </a:solidFill>
                <a:latin typeface="BIZ UDPゴシック" pitchFamily="34" charset="0"/>
                <a:ea typeface="BIZ UDPゴシック" pitchFamily="34" charset="-122"/>
                <a:cs typeface="BIZ UDPゴシック" pitchFamily="34" charset="-120"/>
              </a:rPr>
              <a:t>ルート作成</a:t>
            </a:r>
            <a:endParaRPr lang="en-US" sz="1400" dirty="0"/>
          </a:p>
          <a:p>
            <a:pPr indent="0" marL="0">
              <a:lnSpc>
                <a:spcPct val="100000"/>
              </a:lnSpc>
              <a:spcAft>
                <a:spcPts val="400"/>
              </a:spcAft>
              <a:buNone/>
            </a:pPr>
            <a:r>
              <a:rPr lang="en-US" sz="850" dirty="0">
                <a:solidFill>
                  <a:srgbClr val="3A2E20"/>
                </a:solidFill>
                <a:latin typeface="Consolas" pitchFamily="34" charset="0"/>
                <a:ea typeface="Consolas" pitchFamily="34" charset="-122"/>
                <a:cs typeface="Consolas" pitchFamily="34" charset="-120"/>
              </a:rPr>
              <a:t>createRoute・getRoute</a:t>
            </a:r>
            <a:endParaRPr lang="en-US" sz="1400" dirty="0"/>
          </a:p>
          <a:p>
            <a:pPr indent="0" marL="0">
              <a:lnSpc>
                <a:spcPct val="100000"/>
              </a:lnSpc>
              <a:spcAft>
                <a:spcPts val="400"/>
              </a:spcAft>
              <a:buNone/>
            </a:pPr>
            <a:r>
              <a:rPr lang="en-US" sz="850" dirty="0">
                <a:solidFill>
                  <a:srgbClr val="3A2E20"/>
                </a:solidFill>
                <a:latin typeface="Consolas" pitchFamily="34" charset="0"/>
                <a:ea typeface="Consolas" pitchFamily="34" charset="-122"/>
                <a:cs typeface="Consolas" pitchFamily="34" charset="-120"/>
              </a:rPr>
              <a:t>getConditions</a:t>
            </a:r>
            <a:endParaRPr lang="en-US" sz="1400" dirty="0"/>
          </a:p>
          <a:p>
            <a:pPr indent="0" marL="0">
              <a:lnSpc>
                <a:spcPct val="100000"/>
              </a:lnSpc>
              <a:buNone/>
            </a:pPr>
            <a:r>
              <a:rPr lang="en-US" sz="950" b="1" dirty="0">
                <a:solidFill>
                  <a:srgbClr val="ED7100"/>
                </a:solidFill>
                <a:latin typeface="BIZ UDPゴシック" pitchFamily="34" charset="0"/>
                <a:ea typeface="BIZ UDPゴシック" pitchFamily="34" charset="-122"/>
                <a:cs typeface="BIZ UDPゴシック" pitchFamily="34" charset="-120"/>
              </a:rPr>
              <a:t>口コミ</a:t>
            </a:r>
            <a:endParaRPr lang="en-US" sz="1400" dirty="0"/>
          </a:p>
          <a:p>
            <a:pPr indent="0" marL="0">
              <a:lnSpc>
                <a:spcPct val="100000"/>
              </a:lnSpc>
              <a:spcAft>
                <a:spcPts val="400"/>
              </a:spcAft>
              <a:buNone/>
            </a:pPr>
            <a:r>
              <a:rPr lang="en-US" sz="850" dirty="0">
                <a:solidFill>
                  <a:srgbClr val="3A2E20"/>
                </a:solidFill>
                <a:latin typeface="Consolas" pitchFamily="34" charset="0"/>
                <a:ea typeface="Consolas" pitchFamily="34" charset="-122"/>
                <a:cs typeface="Consolas" pitchFamily="34" charset="-120"/>
              </a:rPr>
              <a:t>createReview・getSpot</a:t>
            </a:r>
            <a:endParaRPr lang="en-US" sz="1400" dirty="0"/>
          </a:p>
          <a:p>
            <a:pPr indent="0" marL="0">
              <a:lnSpc>
                <a:spcPct val="100000"/>
              </a:lnSpc>
              <a:spcAft>
                <a:spcPts val="400"/>
              </a:spcAft>
              <a:buNone/>
            </a:pPr>
            <a:r>
              <a:rPr lang="en-US" sz="850" dirty="0">
                <a:solidFill>
                  <a:srgbClr val="3A2E20"/>
                </a:solidFill>
                <a:latin typeface="Consolas" pitchFamily="34" charset="0"/>
                <a:ea typeface="Consolas" pitchFamily="34" charset="-122"/>
                <a:cs typeface="Consolas" pitchFamily="34" charset="-120"/>
              </a:rPr>
              <a:t>getReviewSpots・getUserReviews</a:t>
            </a:r>
            <a:endParaRPr lang="en-US" sz="1400" dirty="0"/>
          </a:p>
          <a:p>
            <a:pPr indent="0" marL="0">
              <a:lnSpc>
                <a:spcPct val="100000"/>
              </a:lnSpc>
              <a:spcAft>
                <a:spcPts val="400"/>
              </a:spcAft>
              <a:buNone/>
            </a:pPr>
            <a:r>
              <a:rPr lang="en-US" sz="850" dirty="0">
                <a:solidFill>
                  <a:srgbClr val="3A2E20"/>
                </a:solidFill>
                <a:latin typeface="Consolas" pitchFamily="34" charset="0"/>
                <a:ea typeface="Consolas" pitchFamily="34" charset="-122"/>
                <a:cs typeface="Consolas" pitchFamily="34" charset="-120"/>
              </a:rPr>
              <a:t>createPhotoUploadUrls</a:t>
            </a:r>
            <a:endParaRPr lang="en-US" sz="1400" dirty="0"/>
          </a:p>
          <a:p>
            <a:pPr indent="0" marL="0">
              <a:lnSpc>
                <a:spcPct val="100000"/>
              </a:lnSpc>
              <a:buNone/>
            </a:pPr>
            <a:r>
              <a:rPr lang="en-US" sz="950" b="1" dirty="0">
                <a:solidFill>
                  <a:srgbClr val="ED7100"/>
                </a:solidFill>
                <a:latin typeface="BIZ UDPゴシック" pitchFamily="34" charset="0"/>
                <a:ea typeface="BIZ UDPゴシック" pitchFamily="34" charset="-122"/>
                <a:cs typeface="BIZ UDPゴシック" pitchFamily="34" charset="-120"/>
              </a:rPr>
              <a:t>散歩実績・経験値</a:t>
            </a:r>
            <a:endParaRPr lang="en-US" sz="1400" dirty="0"/>
          </a:p>
          <a:p>
            <a:pPr indent="0" marL="0">
              <a:lnSpc>
                <a:spcPct val="100000"/>
              </a:lnSpc>
              <a:spcAft>
                <a:spcPts val="400"/>
              </a:spcAft>
              <a:buNone/>
            </a:pPr>
            <a:r>
              <a:rPr lang="en-US" sz="850" dirty="0">
                <a:solidFill>
                  <a:srgbClr val="3A2E20"/>
                </a:solidFill>
                <a:latin typeface="Consolas" pitchFamily="34" charset="0"/>
                <a:ea typeface="Consolas" pitchFamily="34" charset="-122"/>
                <a:cs typeface="Consolas" pitchFamily="34" charset="-120"/>
              </a:rPr>
              <a:t>createWalkResult</a:t>
            </a:r>
            <a:endParaRPr lang="en-US" sz="1400" dirty="0"/>
          </a:p>
          <a:p>
            <a:pPr indent="0" marL="0">
              <a:lnSpc>
                <a:spcPct val="100000"/>
              </a:lnSpc>
              <a:spcAft>
                <a:spcPts val="400"/>
              </a:spcAft>
              <a:buNone/>
            </a:pPr>
            <a:r>
              <a:rPr lang="en-US" sz="850" dirty="0">
                <a:solidFill>
                  <a:srgbClr val="3A2E20"/>
                </a:solidFill>
                <a:latin typeface="Consolas" pitchFamily="34" charset="0"/>
                <a:ea typeface="Consolas" pitchFamily="34" charset="-122"/>
                <a:cs typeface="Consolas" pitchFamily="34" charset="-120"/>
              </a:rPr>
              <a:t>getUserExperience</a:t>
            </a:r>
            <a:endParaRPr lang="en-US" sz="1400" dirty="0"/>
          </a:p>
          <a:p>
            <a:pPr indent="0" marL="0">
              <a:lnSpc>
                <a:spcPct val="100000"/>
              </a:lnSpc>
              <a:buNone/>
            </a:pPr>
            <a:r>
              <a:rPr lang="en-US" sz="950" b="1" dirty="0">
                <a:solidFill>
                  <a:srgbClr val="ED7100"/>
                </a:solidFill>
                <a:latin typeface="BIZ UDPゴシック" pitchFamily="34" charset="0"/>
                <a:ea typeface="BIZ UDPゴシック" pitchFamily="34" charset="-122"/>
                <a:cs typeface="BIZ UDPゴシック" pitchFamily="34" charset="-120"/>
              </a:rPr>
              <a:t>パスワード再設定</a:t>
            </a:r>
            <a:endParaRPr lang="en-US" sz="1400" dirty="0"/>
          </a:p>
          <a:p>
            <a:pPr indent="0" marL="0">
              <a:lnSpc>
                <a:spcPct val="100000"/>
              </a:lnSpc>
              <a:spcAft>
                <a:spcPts val="400"/>
              </a:spcAft>
              <a:buNone/>
            </a:pPr>
            <a:r>
              <a:rPr lang="en-US" sz="850" dirty="0">
                <a:solidFill>
                  <a:srgbClr val="3A2E20"/>
                </a:solidFill>
                <a:latin typeface="Consolas" pitchFamily="34" charset="0"/>
                <a:ea typeface="Consolas" pitchFamily="34" charset="-122"/>
                <a:cs typeface="Consolas" pitchFamily="34" charset="-120"/>
              </a:rPr>
              <a:t>verifyPasswordResetTarget</a:t>
            </a:r>
            <a:endParaRPr lang="en-US" sz="1400" dirty="0"/>
          </a:p>
        </p:txBody>
      </p:sp>
      <p:sp>
        <p:nvSpPr>
          <p:cNvPr id="52" name="Shape 49"/>
          <p:cNvSpPr/>
          <p:nvPr/>
        </p:nvSpPr>
        <p:spPr>
          <a:xfrm>
            <a:off x="9372600" y="1691640"/>
            <a:ext cx="2377440" cy="685800"/>
          </a:xfrm>
          <a:prstGeom prst="roundRect">
            <a:avLst>
              <a:gd name="adj" fmla="val 8000"/>
            </a:avLst>
          </a:prstGeom>
          <a:solidFill>
            <a:srgbClr val="FFFFFF"/>
          </a:solidFill>
          <a:ln w="19050">
            <a:solidFill>
              <a:srgbClr val="C925D1"/>
            </a:solidFill>
            <a:prstDash val="solid"/>
          </a:ln>
        </p:spPr>
      </p:sp>
      <p:sp>
        <p:nvSpPr>
          <p:cNvPr id="53" name="Shape 50"/>
          <p:cNvSpPr/>
          <p:nvPr/>
        </p:nvSpPr>
        <p:spPr>
          <a:xfrm>
            <a:off x="9445752" y="1805940"/>
            <a:ext cx="457200" cy="457200"/>
          </a:xfrm>
          <a:prstGeom prst="roundRect">
            <a:avLst>
              <a:gd name="adj" fmla="val 12000"/>
            </a:avLst>
          </a:prstGeom>
          <a:solidFill>
            <a:srgbClr val="C925D1"/>
          </a:solidFill>
          <a:ln/>
        </p:spPr>
      </p:sp>
      <p:sp>
        <p:nvSpPr>
          <p:cNvPr id="54" name="Text 51"/>
          <p:cNvSpPr/>
          <p:nvPr/>
        </p:nvSpPr>
        <p:spPr>
          <a:xfrm>
            <a:off x="9445752" y="18059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BIZ UDPゴシック" pitchFamily="34" charset="0"/>
                <a:ea typeface="BIZ UDPゴシック" pitchFamily="34" charset="-122"/>
                <a:cs typeface="BIZ UDPゴシック" pitchFamily="34" charset="-120"/>
              </a:rPr>
              <a:t>DB</a:t>
            </a:r>
            <a:endParaRPr lang="en-US" sz="1200" dirty="0"/>
          </a:p>
        </p:txBody>
      </p:sp>
      <p:sp>
        <p:nvSpPr>
          <p:cNvPr id="55" name="Text 52"/>
          <p:cNvSpPr/>
          <p:nvPr/>
        </p:nvSpPr>
        <p:spPr>
          <a:xfrm>
            <a:off x="9976104" y="1755648"/>
            <a:ext cx="1737360" cy="256032"/>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DynamoDB</a:t>
            </a:r>
            <a:endParaRPr lang="en-US" sz="1100" dirty="0"/>
          </a:p>
        </p:txBody>
      </p:sp>
      <p:sp>
        <p:nvSpPr>
          <p:cNvPr id="56" name="Text 53"/>
          <p:cNvSpPr/>
          <p:nvPr/>
        </p:nvSpPr>
        <p:spPr>
          <a:xfrm>
            <a:off x="9976104" y="2011680"/>
            <a:ext cx="1737360" cy="338328"/>
          </a:xfrm>
          <a:prstGeom prst="rect">
            <a:avLst/>
          </a:prstGeom>
          <a:noFill/>
          <a:ln/>
        </p:spPr>
        <p:txBody>
          <a:bodyPr wrap="square" lIns="0" tIns="0" rIns="0" bIns="0" rtlCol="0" anchor="t"/>
          <a:lstStyle/>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Route / Review / WalkResult</a:t>
            </a:r>
            <a:endParaRPr lang="en-US" sz="850" dirty="0"/>
          </a:p>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検索条件などのマスタ</a:t>
            </a:r>
            <a:endParaRPr lang="en-US" sz="850" dirty="0"/>
          </a:p>
        </p:txBody>
      </p:sp>
      <p:sp>
        <p:nvSpPr>
          <p:cNvPr id="57" name="Shape 54"/>
          <p:cNvSpPr/>
          <p:nvPr/>
        </p:nvSpPr>
        <p:spPr>
          <a:xfrm>
            <a:off x="8961120" y="2034540"/>
            <a:ext cx="411480" cy="914"/>
          </a:xfrm>
          <a:prstGeom prst="line">
            <a:avLst/>
          </a:prstGeom>
          <a:noFill/>
          <a:ln w="22225">
            <a:solidFill>
              <a:srgbClr val="5C4430"/>
            </a:solidFill>
            <a:prstDash val="solid"/>
            <a:tailEnd type="triangle"/>
          </a:ln>
        </p:spPr>
      </p:sp>
      <p:sp>
        <p:nvSpPr>
          <p:cNvPr id="58" name="Shape 55"/>
          <p:cNvSpPr/>
          <p:nvPr/>
        </p:nvSpPr>
        <p:spPr>
          <a:xfrm>
            <a:off x="9372600" y="2468880"/>
            <a:ext cx="2377440" cy="685800"/>
          </a:xfrm>
          <a:prstGeom prst="roundRect">
            <a:avLst>
              <a:gd name="adj" fmla="val 8000"/>
            </a:avLst>
          </a:prstGeom>
          <a:solidFill>
            <a:srgbClr val="FFFFFF"/>
          </a:solidFill>
          <a:ln w="19050">
            <a:solidFill>
              <a:srgbClr val="2E73B8"/>
            </a:solidFill>
            <a:prstDash val="solid"/>
          </a:ln>
        </p:spPr>
      </p:sp>
      <p:sp>
        <p:nvSpPr>
          <p:cNvPr id="59" name="Shape 56"/>
          <p:cNvSpPr/>
          <p:nvPr/>
        </p:nvSpPr>
        <p:spPr>
          <a:xfrm>
            <a:off x="9445752" y="2583180"/>
            <a:ext cx="457200" cy="457200"/>
          </a:xfrm>
          <a:prstGeom prst="roundRect">
            <a:avLst>
              <a:gd name="adj" fmla="val 12000"/>
            </a:avLst>
          </a:prstGeom>
          <a:solidFill>
            <a:srgbClr val="2E73B8"/>
          </a:solidFill>
          <a:ln/>
        </p:spPr>
      </p:sp>
      <p:sp>
        <p:nvSpPr>
          <p:cNvPr id="60" name="Text 57"/>
          <p:cNvSpPr/>
          <p:nvPr/>
        </p:nvSpPr>
        <p:spPr>
          <a:xfrm>
            <a:off x="9445752" y="2583180"/>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BIZ UDPゴシック" pitchFamily="34" charset="0"/>
                <a:ea typeface="BIZ UDPゴシック" pitchFamily="34" charset="-122"/>
                <a:cs typeface="BIZ UDPゴシック" pitchFamily="34" charset="-120"/>
              </a:rPr>
              <a:t>Loc</a:t>
            </a:r>
            <a:endParaRPr lang="en-US" sz="900" dirty="0"/>
          </a:p>
        </p:txBody>
      </p:sp>
      <p:sp>
        <p:nvSpPr>
          <p:cNvPr id="61" name="Text 58"/>
          <p:cNvSpPr/>
          <p:nvPr/>
        </p:nvSpPr>
        <p:spPr>
          <a:xfrm>
            <a:off x="9976104" y="2532888"/>
            <a:ext cx="1737360" cy="256032"/>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Location Service</a:t>
            </a:r>
            <a:endParaRPr lang="en-US" sz="1100" dirty="0"/>
          </a:p>
        </p:txBody>
      </p:sp>
      <p:sp>
        <p:nvSpPr>
          <p:cNvPr id="62" name="Text 59"/>
          <p:cNvSpPr/>
          <p:nvPr/>
        </p:nvSpPr>
        <p:spPr>
          <a:xfrm>
            <a:off x="9976104" y="2788920"/>
            <a:ext cx="1737360" cy="338328"/>
          </a:xfrm>
          <a:prstGeom prst="rect">
            <a:avLst/>
          </a:prstGeom>
          <a:noFill/>
          <a:ln/>
        </p:spPr>
        <p:txBody>
          <a:bodyPr wrap="square" lIns="0" tIns="0" rIns="0" bIns="0" rtlCol="0" anchor="t"/>
          <a:lstStyle/>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Places：周辺スポット検索</a:t>
            </a:r>
            <a:endParaRPr lang="en-US" sz="850" dirty="0"/>
          </a:p>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Routes：徒歩経路・距離</a:t>
            </a:r>
            <a:endParaRPr lang="en-US" sz="850" dirty="0"/>
          </a:p>
        </p:txBody>
      </p:sp>
      <p:sp>
        <p:nvSpPr>
          <p:cNvPr id="63" name="Shape 60"/>
          <p:cNvSpPr/>
          <p:nvPr/>
        </p:nvSpPr>
        <p:spPr>
          <a:xfrm>
            <a:off x="8961120" y="2811780"/>
            <a:ext cx="411480" cy="914"/>
          </a:xfrm>
          <a:prstGeom prst="line">
            <a:avLst/>
          </a:prstGeom>
          <a:noFill/>
          <a:ln w="22225">
            <a:solidFill>
              <a:srgbClr val="5C4430"/>
            </a:solidFill>
            <a:prstDash val="solid"/>
            <a:tailEnd type="triangle"/>
          </a:ln>
        </p:spPr>
      </p:sp>
      <p:sp>
        <p:nvSpPr>
          <p:cNvPr id="64" name="Shape 61"/>
          <p:cNvSpPr/>
          <p:nvPr/>
        </p:nvSpPr>
        <p:spPr>
          <a:xfrm>
            <a:off x="9372600" y="3246120"/>
            <a:ext cx="2377440" cy="685800"/>
          </a:xfrm>
          <a:prstGeom prst="roundRect">
            <a:avLst>
              <a:gd name="adj" fmla="val 8000"/>
            </a:avLst>
          </a:prstGeom>
          <a:solidFill>
            <a:srgbClr val="FFFFFF"/>
          </a:solidFill>
          <a:ln w="19050">
            <a:solidFill>
              <a:srgbClr val="01A88D"/>
            </a:solidFill>
            <a:prstDash val="solid"/>
          </a:ln>
        </p:spPr>
      </p:sp>
      <p:sp>
        <p:nvSpPr>
          <p:cNvPr id="65" name="Shape 62"/>
          <p:cNvSpPr/>
          <p:nvPr/>
        </p:nvSpPr>
        <p:spPr>
          <a:xfrm>
            <a:off x="9445752" y="3360420"/>
            <a:ext cx="457200" cy="457200"/>
          </a:xfrm>
          <a:prstGeom prst="roundRect">
            <a:avLst>
              <a:gd name="adj" fmla="val 12000"/>
            </a:avLst>
          </a:prstGeom>
          <a:solidFill>
            <a:srgbClr val="01A88D"/>
          </a:solidFill>
          <a:ln/>
        </p:spPr>
      </p:sp>
      <p:sp>
        <p:nvSpPr>
          <p:cNvPr id="66" name="Text 63"/>
          <p:cNvSpPr/>
          <p:nvPr/>
        </p:nvSpPr>
        <p:spPr>
          <a:xfrm>
            <a:off x="9445752" y="33604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BIZ UDPゴシック" pitchFamily="34" charset="0"/>
                <a:ea typeface="BIZ UDPゴシック" pitchFamily="34" charset="-122"/>
                <a:cs typeface="BIZ UDPゴシック" pitchFamily="34" charset="-120"/>
              </a:rPr>
              <a:t>AI</a:t>
            </a:r>
            <a:endParaRPr lang="en-US" sz="1200" dirty="0"/>
          </a:p>
        </p:txBody>
      </p:sp>
      <p:sp>
        <p:nvSpPr>
          <p:cNvPr id="67" name="Text 64"/>
          <p:cNvSpPr/>
          <p:nvPr/>
        </p:nvSpPr>
        <p:spPr>
          <a:xfrm>
            <a:off x="9976104" y="3310128"/>
            <a:ext cx="1737360" cy="256032"/>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Amazon Bedrock</a:t>
            </a:r>
            <a:endParaRPr lang="en-US" sz="1100" dirty="0"/>
          </a:p>
        </p:txBody>
      </p:sp>
      <p:sp>
        <p:nvSpPr>
          <p:cNvPr id="68" name="Text 65"/>
          <p:cNvSpPr/>
          <p:nvPr/>
        </p:nvSpPr>
        <p:spPr>
          <a:xfrm>
            <a:off x="9976104" y="3566160"/>
            <a:ext cx="1737360" cy="338328"/>
          </a:xfrm>
          <a:prstGeom prst="rect">
            <a:avLst/>
          </a:prstGeom>
          <a:noFill/>
          <a:ln/>
        </p:spPr>
        <p:txBody>
          <a:bodyPr wrap="square" lIns="0" tIns="0" rIns="0" bIns="0" rtlCol="0" anchor="t"/>
          <a:lstStyle/>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Claude Haiku 4.5</a:t>
            </a:r>
            <a:endParaRPr lang="en-US" sz="850" dirty="0"/>
          </a:p>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スポット選定・解説文生成</a:t>
            </a:r>
            <a:endParaRPr lang="en-US" sz="850" dirty="0"/>
          </a:p>
        </p:txBody>
      </p:sp>
      <p:sp>
        <p:nvSpPr>
          <p:cNvPr id="69" name="Shape 66"/>
          <p:cNvSpPr/>
          <p:nvPr/>
        </p:nvSpPr>
        <p:spPr>
          <a:xfrm>
            <a:off x="8961120" y="3589020"/>
            <a:ext cx="411480" cy="914"/>
          </a:xfrm>
          <a:prstGeom prst="line">
            <a:avLst/>
          </a:prstGeom>
          <a:noFill/>
          <a:ln w="22225">
            <a:solidFill>
              <a:srgbClr val="5C4430"/>
            </a:solidFill>
            <a:prstDash val="solid"/>
            <a:tailEnd type="triangle"/>
          </a:ln>
        </p:spPr>
      </p:sp>
      <p:sp>
        <p:nvSpPr>
          <p:cNvPr id="70" name="Shape 67"/>
          <p:cNvSpPr/>
          <p:nvPr/>
        </p:nvSpPr>
        <p:spPr>
          <a:xfrm>
            <a:off x="9372600" y="4023360"/>
            <a:ext cx="2377440" cy="685800"/>
          </a:xfrm>
          <a:prstGeom prst="roundRect">
            <a:avLst>
              <a:gd name="adj" fmla="val 8000"/>
            </a:avLst>
          </a:prstGeom>
          <a:solidFill>
            <a:srgbClr val="FFFFFF"/>
          </a:solidFill>
          <a:ln w="19050">
            <a:solidFill>
              <a:srgbClr val="7AA116"/>
            </a:solidFill>
            <a:prstDash val="solid"/>
          </a:ln>
        </p:spPr>
      </p:sp>
      <p:sp>
        <p:nvSpPr>
          <p:cNvPr id="71" name="Shape 68"/>
          <p:cNvSpPr/>
          <p:nvPr/>
        </p:nvSpPr>
        <p:spPr>
          <a:xfrm>
            <a:off x="9445752" y="4137660"/>
            <a:ext cx="457200" cy="457200"/>
          </a:xfrm>
          <a:prstGeom prst="roundRect">
            <a:avLst>
              <a:gd name="adj" fmla="val 12000"/>
            </a:avLst>
          </a:prstGeom>
          <a:solidFill>
            <a:srgbClr val="7AA116"/>
          </a:solidFill>
          <a:ln/>
        </p:spPr>
      </p:sp>
      <p:sp>
        <p:nvSpPr>
          <p:cNvPr id="72" name="Text 69"/>
          <p:cNvSpPr/>
          <p:nvPr/>
        </p:nvSpPr>
        <p:spPr>
          <a:xfrm>
            <a:off x="9445752" y="41376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BIZ UDPゴシック" pitchFamily="34" charset="0"/>
                <a:ea typeface="BIZ UDPゴシック" pitchFamily="34" charset="-122"/>
                <a:cs typeface="BIZ UDPゴシック" pitchFamily="34" charset="-120"/>
              </a:rPr>
              <a:t>S3</a:t>
            </a:r>
            <a:endParaRPr lang="en-US" sz="1200" dirty="0"/>
          </a:p>
        </p:txBody>
      </p:sp>
      <p:sp>
        <p:nvSpPr>
          <p:cNvPr id="73" name="Text 70"/>
          <p:cNvSpPr/>
          <p:nvPr/>
        </p:nvSpPr>
        <p:spPr>
          <a:xfrm>
            <a:off x="9976104" y="4087368"/>
            <a:ext cx="1737360" cy="256032"/>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S3（口コミ写真）</a:t>
            </a:r>
            <a:endParaRPr lang="en-US" sz="1100" dirty="0"/>
          </a:p>
        </p:txBody>
      </p:sp>
      <p:sp>
        <p:nvSpPr>
          <p:cNvPr id="74" name="Text 71"/>
          <p:cNvSpPr/>
          <p:nvPr/>
        </p:nvSpPr>
        <p:spPr>
          <a:xfrm>
            <a:off x="9976104" y="4343400"/>
            <a:ext cx="1737360" cy="338328"/>
          </a:xfrm>
          <a:prstGeom prst="rect">
            <a:avLst/>
          </a:prstGeom>
          <a:noFill/>
          <a:ln/>
        </p:spPr>
        <p:txBody>
          <a:bodyPr wrap="square" lIns="0" tIns="0" rIns="0" bIns="0" rtlCol="0" anchor="t"/>
          <a:lstStyle/>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署名付きURLで</a:t>
            </a:r>
            <a:endParaRPr lang="en-US" sz="850" dirty="0"/>
          </a:p>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ブラウザから直接アップロード</a:t>
            </a:r>
            <a:endParaRPr lang="en-US" sz="850" dirty="0"/>
          </a:p>
        </p:txBody>
      </p:sp>
      <p:sp>
        <p:nvSpPr>
          <p:cNvPr id="75" name="Shape 72"/>
          <p:cNvSpPr/>
          <p:nvPr/>
        </p:nvSpPr>
        <p:spPr>
          <a:xfrm>
            <a:off x="8961120" y="4366260"/>
            <a:ext cx="411480" cy="914"/>
          </a:xfrm>
          <a:prstGeom prst="line">
            <a:avLst/>
          </a:prstGeom>
          <a:noFill/>
          <a:ln w="22225">
            <a:solidFill>
              <a:srgbClr val="5C4430"/>
            </a:solidFill>
            <a:prstDash val="solid"/>
            <a:tailEnd type="triangle"/>
          </a:ln>
        </p:spPr>
      </p:sp>
      <p:sp>
        <p:nvSpPr>
          <p:cNvPr id="76" name="Text 73"/>
          <p:cNvSpPr/>
          <p:nvPr/>
        </p:nvSpPr>
        <p:spPr>
          <a:xfrm>
            <a:off x="548640" y="5010912"/>
            <a:ext cx="2743200" cy="256032"/>
          </a:xfrm>
          <a:prstGeom prst="rect">
            <a:avLst/>
          </a:prstGeom>
          <a:noFill/>
          <a:ln/>
        </p:spPr>
        <p:txBody>
          <a:bodyPr wrap="square" lIns="0" tIns="0" rIns="0" bIns="0" rtlCol="0" anchor="t"/>
          <a:lstStyle/>
          <a:p>
            <a:pPr indent="0" marL="0">
              <a:buNone/>
            </a:pPr>
            <a:r>
              <a:rPr lang="en-US" sz="1050" b="1" dirty="0">
                <a:solidFill>
                  <a:srgbClr val="6B5B46"/>
                </a:solidFill>
                <a:latin typeface="BIZ UDPゴシック" pitchFamily="34" charset="0"/>
                <a:ea typeface="BIZ UDPゴシック" pitchFamily="34" charset="-122"/>
                <a:cs typeface="BIZ UDPゴシック" pitchFamily="34" charset="-120"/>
              </a:rPr>
              <a:t>デプロイ（CI/CD）</a:t>
            </a:r>
            <a:endParaRPr lang="en-US" sz="1050" dirty="0"/>
          </a:p>
        </p:txBody>
      </p:sp>
      <p:sp>
        <p:nvSpPr>
          <p:cNvPr id="77" name="Shape 74"/>
          <p:cNvSpPr/>
          <p:nvPr/>
        </p:nvSpPr>
        <p:spPr>
          <a:xfrm>
            <a:off x="548640" y="5321808"/>
            <a:ext cx="2697480" cy="777240"/>
          </a:xfrm>
          <a:prstGeom prst="roundRect">
            <a:avLst>
              <a:gd name="adj" fmla="val 7059"/>
            </a:avLst>
          </a:prstGeom>
          <a:solidFill>
            <a:srgbClr val="FFFFFF"/>
          </a:solidFill>
          <a:ln w="19050">
            <a:solidFill>
              <a:srgbClr val="24292F"/>
            </a:solidFill>
            <a:prstDash val="solid"/>
          </a:ln>
        </p:spPr>
      </p:sp>
      <p:sp>
        <p:nvSpPr>
          <p:cNvPr id="78" name="Shape 75"/>
          <p:cNvSpPr/>
          <p:nvPr/>
        </p:nvSpPr>
        <p:spPr>
          <a:xfrm>
            <a:off x="621792" y="5481828"/>
            <a:ext cx="457200" cy="457200"/>
          </a:xfrm>
          <a:prstGeom prst="roundRect">
            <a:avLst>
              <a:gd name="adj" fmla="val 12000"/>
            </a:avLst>
          </a:prstGeom>
          <a:solidFill>
            <a:srgbClr val="24292F"/>
          </a:solidFill>
          <a:ln/>
        </p:spPr>
      </p:sp>
      <p:sp>
        <p:nvSpPr>
          <p:cNvPr id="79" name="Text 76"/>
          <p:cNvSpPr/>
          <p:nvPr/>
        </p:nvSpPr>
        <p:spPr>
          <a:xfrm>
            <a:off x="621792" y="54818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BIZ UDPゴシック" pitchFamily="34" charset="0"/>
                <a:ea typeface="BIZ UDPゴシック" pitchFamily="34" charset="-122"/>
                <a:cs typeface="BIZ UDPゴシック" pitchFamily="34" charset="-120"/>
              </a:rPr>
              <a:t>GH</a:t>
            </a:r>
            <a:endParaRPr lang="en-US" sz="1200" dirty="0"/>
          </a:p>
        </p:txBody>
      </p:sp>
      <p:sp>
        <p:nvSpPr>
          <p:cNvPr id="80" name="Text 77"/>
          <p:cNvSpPr/>
          <p:nvPr/>
        </p:nvSpPr>
        <p:spPr>
          <a:xfrm>
            <a:off x="1152144" y="5385816"/>
            <a:ext cx="2057400" cy="256032"/>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GitHub Actions</a:t>
            </a:r>
            <a:endParaRPr lang="en-US" sz="1100" dirty="0"/>
          </a:p>
        </p:txBody>
      </p:sp>
      <p:sp>
        <p:nvSpPr>
          <p:cNvPr id="81" name="Text 78"/>
          <p:cNvSpPr/>
          <p:nvPr/>
        </p:nvSpPr>
        <p:spPr>
          <a:xfrm>
            <a:off x="1152144" y="5641848"/>
            <a:ext cx="2057400" cy="429768"/>
          </a:xfrm>
          <a:prstGeom prst="rect">
            <a:avLst/>
          </a:prstGeom>
          <a:noFill/>
          <a:ln/>
        </p:spPr>
        <p:txBody>
          <a:bodyPr wrap="square" lIns="0" tIns="0" rIns="0" bIns="0" rtlCol="0" anchor="t"/>
          <a:lstStyle/>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CI：build / lint / test</a:t>
            </a:r>
            <a:endParaRPr lang="en-US" sz="850" dirty="0"/>
          </a:p>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CD：develop・main へのpushで実行</a:t>
            </a:r>
            <a:endParaRPr lang="en-US" sz="850" dirty="0"/>
          </a:p>
        </p:txBody>
      </p:sp>
      <p:sp>
        <p:nvSpPr>
          <p:cNvPr id="82" name="Shape 79"/>
          <p:cNvSpPr/>
          <p:nvPr/>
        </p:nvSpPr>
        <p:spPr>
          <a:xfrm>
            <a:off x="3794760" y="5321808"/>
            <a:ext cx="2697480" cy="777240"/>
          </a:xfrm>
          <a:prstGeom prst="roundRect">
            <a:avLst>
              <a:gd name="adj" fmla="val 7059"/>
            </a:avLst>
          </a:prstGeom>
          <a:solidFill>
            <a:srgbClr val="FFFFFF"/>
          </a:solidFill>
          <a:ln w="19050">
            <a:solidFill>
              <a:srgbClr val="DD344C"/>
            </a:solidFill>
            <a:prstDash val="solid"/>
          </a:ln>
        </p:spPr>
      </p:sp>
      <p:sp>
        <p:nvSpPr>
          <p:cNvPr id="83" name="Shape 80"/>
          <p:cNvSpPr/>
          <p:nvPr/>
        </p:nvSpPr>
        <p:spPr>
          <a:xfrm>
            <a:off x="3867912" y="5481828"/>
            <a:ext cx="457200" cy="457200"/>
          </a:xfrm>
          <a:prstGeom prst="roundRect">
            <a:avLst>
              <a:gd name="adj" fmla="val 12000"/>
            </a:avLst>
          </a:prstGeom>
          <a:solidFill>
            <a:srgbClr val="DD344C"/>
          </a:solidFill>
          <a:ln/>
        </p:spPr>
      </p:sp>
      <p:sp>
        <p:nvSpPr>
          <p:cNvPr id="84" name="Text 81"/>
          <p:cNvSpPr/>
          <p:nvPr/>
        </p:nvSpPr>
        <p:spPr>
          <a:xfrm>
            <a:off x="3867912" y="5481828"/>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BIZ UDPゴシック" pitchFamily="34" charset="0"/>
                <a:ea typeface="BIZ UDPゴシック" pitchFamily="34" charset="-122"/>
                <a:cs typeface="BIZ UDPゴシック" pitchFamily="34" charset="-120"/>
              </a:rPr>
              <a:t>IAM</a:t>
            </a:r>
            <a:endParaRPr lang="en-US" sz="900" dirty="0"/>
          </a:p>
        </p:txBody>
      </p:sp>
      <p:sp>
        <p:nvSpPr>
          <p:cNvPr id="85" name="Text 82"/>
          <p:cNvSpPr/>
          <p:nvPr/>
        </p:nvSpPr>
        <p:spPr>
          <a:xfrm>
            <a:off x="4398264" y="5385816"/>
            <a:ext cx="2057400" cy="256032"/>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IAM（OIDC）</a:t>
            </a:r>
            <a:endParaRPr lang="en-US" sz="1100" dirty="0"/>
          </a:p>
        </p:txBody>
      </p:sp>
      <p:sp>
        <p:nvSpPr>
          <p:cNvPr id="86" name="Text 83"/>
          <p:cNvSpPr/>
          <p:nvPr/>
        </p:nvSpPr>
        <p:spPr>
          <a:xfrm>
            <a:off x="4398264" y="5641848"/>
            <a:ext cx="2057400" cy="429768"/>
          </a:xfrm>
          <a:prstGeom prst="rect">
            <a:avLst/>
          </a:prstGeom>
          <a:noFill/>
          <a:ln/>
        </p:spPr>
        <p:txBody>
          <a:bodyPr wrap="square" lIns="0" tIns="0" rIns="0" bIns="0" rtlCol="0" anchor="t"/>
          <a:lstStyle/>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長期のアクセスキーを持たず</a:t>
            </a:r>
            <a:endParaRPr lang="en-US" sz="850" dirty="0"/>
          </a:p>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一時的にロールを引き受け</a:t>
            </a:r>
            <a:endParaRPr lang="en-US" sz="850" dirty="0"/>
          </a:p>
        </p:txBody>
      </p:sp>
      <p:sp>
        <p:nvSpPr>
          <p:cNvPr id="87" name="Shape 84"/>
          <p:cNvSpPr/>
          <p:nvPr/>
        </p:nvSpPr>
        <p:spPr>
          <a:xfrm>
            <a:off x="7040880" y="5321808"/>
            <a:ext cx="2743200" cy="777240"/>
          </a:xfrm>
          <a:prstGeom prst="roundRect">
            <a:avLst>
              <a:gd name="adj" fmla="val 7059"/>
            </a:avLst>
          </a:prstGeom>
          <a:solidFill>
            <a:srgbClr val="FFFFFF"/>
          </a:solidFill>
          <a:ln w="19050">
            <a:solidFill>
              <a:srgbClr val="E7157B"/>
            </a:solidFill>
            <a:prstDash val="solid"/>
          </a:ln>
        </p:spPr>
      </p:sp>
      <p:sp>
        <p:nvSpPr>
          <p:cNvPr id="88" name="Shape 85"/>
          <p:cNvSpPr/>
          <p:nvPr/>
        </p:nvSpPr>
        <p:spPr>
          <a:xfrm>
            <a:off x="7114032" y="5481828"/>
            <a:ext cx="457200" cy="457200"/>
          </a:xfrm>
          <a:prstGeom prst="roundRect">
            <a:avLst>
              <a:gd name="adj" fmla="val 12000"/>
            </a:avLst>
          </a:prstGeom>
          <a:solidFill>
            <a:srgbClr val="E7157B"/>
          </a:solidFill>
          <a:ln/>
        </p:spPr>
      </p:sp>
      <p:sp>
        <p:nvSpPr>
          <p:cNvPr id="89" name="Text 86"/>
          <p:cNvSpPr/>
          <p:nvPr/>
        </p:nvSpPr>
        <p:spPr>
          <a:xfrm>
            <a:off x="7114032" y="5481828"/>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BIZ UDPゴシック" pitchFamily="34" charset="0"/>
                <a:ea typeface="BIZ UDPゴシック" pitchFamily="34" charset="-122"/>
                <a:cs typeface="BIZ UDPゴシック" pitchFamily="34" charset="-120"/>
              </a:rPr>
              <a:t>CDK</a:t>
            </a:r>
            <a:endParaRPr lang="en-US" sz="900" dirty="0"/>
          </a:p>
        </p:txBody>
      </p:sp>
      <p:sp>
        <p:nvSpPr>
          <p:cNvPr id="90" name="Text 87"/>
          <p:cNvSpPr/>
          <p:nvPr/>
        </p:nvSpPr>
        <p:spPr>
          <a:xfrm>
            <a:off x="7644384" y="5385816"/>
            <a:ext cx="2103120" cy="256032"/>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AWS CDK</a:t>
            </a:r>
            <a:endParaRPr lang="en-US" sz="1100" dirty="0"/>
          </a:p>
        </p:txBody>
      </p:sp>
      <p:sp>
        <p:nvSpPr>
          <p:cNvPr id="91" name="Text 88"/>
          <p:cNvSpPr/>
          <p:nvPr/>
        </p:nvSpPr>
        <p:spPr>
          <a:xfrm>
            <a:off x="7644384" y="5641848"/>
            <a:ext cx="2103120" cy="429768"/>
          </a:xfrm>
          <a:prstGeom prst="rect">
            <a:avLst/>
          </a:prstGeom>
          <a:noFill/>
          <a:ln/>
        </p:spPr>
        <p:txBody>
          <a:bodyPr wrap="square" lIns="0" tIns="0" rIns="0" bIns="0" rtlCol="0" anchor="t"/>
          <a:lstStyle/>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TypeScriptでインフラ定義</a:t>
            </a:r>
            <a:endParaRPr lang="en-US" sz="850" dirty="0"/>
          </a:p>
          <a:p>
            <a:pPr indent="0" marL="0">
              <a:buNone/>
            </a:pPr>
            <a:r>
              <a:rPr lang="en-US" sz="850" dirty="0">
                <a:solidFill>
                  <a:srgbClr val="6B5B46"/>
                </a:solidFill>
                <a:latin typeface="BIZ UDPゴシック" pitchFamily="34" charset="0"/>
                <a:ea typeface="BIZ UDPゴシック" pitchFamily="34" charset="-122"/>
                <a:cs typeface="BIZ UDPゴシック" pitchFamily="34" charset="-120"/>
              </a:rPr>
              <a:t>CloudFormationで構築</a:t>
            </a:r>
            <a:endParaRPr lang="en-US" sz="850" dirty="0"/>
          </a:p>
        </p:txBody>
      </p:sp>
      <p:sp>
        <p:nvSpPr>
          <p:cNvPr id="92" name="Shape 89"/>
          <p:cNvSpPr/>
          <p:nvPr/>
        </p:nvSpPr>
        <p:spPr>
          <a:xfrm>
            <a:off x="3246120" y="5710428"/>
            <a:ext cx="548640" cy="914"/>
          </a:xfrm>
          <a:prstGeom prst="line">
            <a:avLst/>
          </a:prstGeom>
          <a:noFill/>
          <a:ln w="22225">
            <a:solidFill>
              <a:srgbClr val="5C4430"/>
            </a:solidFill>
            <a:prstDash val="solid"/>
            <a:tailEnd type="triangle"/>
          </a:ln>
        </p:spPr>
      </p:sp>
      <p:sp>
        <p:nvSpPr>
          <p:cNvPr id="93" name="Shape 90"/>
          <p:cNvSpPr/>
          <p:nvPr/>
        </p:nvSpPr>
        <p:spPr>
          <a:xfrm>
            <a:off x="6492240" y="5710428"/>
            <a:ext cx="548640" cy="914"/>
          </a:xfrm>
          <a:prstGeom prst="line">
            <a:avLst/>
          </a:prstGeom>
          <a:noFill/>
          <a:ln w="22225">
            <a:solidFill>
              <a:srgbClr val="5C4430"/>
            </a:solidFill>
            <a:prstDash val="solid"/>
            <a:tailEnd type="triangle"/>
          </a:ln>
        </p:spPr>
      </p:sp>
      <p:sp>
        <p:nvSpPr>
          <p:cNvPr id="94" name="Shape 91"/>
          <p:cNvSpPr/>
          <p:nvPr/>
        </p:nvSpPr>
        <p:spPr>
          <a:xfrm flipV="1">
            <a:off x="8412480" y="4864608"/>
            <a:ext cx="914" cy="457200"/>
          </a:xfrm>
          <a:prstGeom prst="line">
            <a:avLst/>
          </a:prstGeom>
          <a:noFill/>
          <a:ln w="22225">
            <a:solidFill>
              <a:srgbClr val="5C4430"/>
            </a:solidFill>
            <a:prstDash val="dash"/>
            <a:tailEnd type="triangle"/>
          </a:ln>
        </p:spPr>
      </p:sp>
      <p:sp>
        <p:nvSpPr>
          <p:cNvPr id="95" name="Text 92"/>
          <p:cNvSpPr/>
          <p:nvPr/>
        </p:nvSpPr>
        <p:spPr>
          <a:xfrm>
            <a:off x="9966960" y="5394960"/>
            <a:ext cx="1828800" cy="640080"/>
          </a:xfrm>
          <a:prstGeom prst="rect">
            <a:avLst/>
          </a:prstGeom>
          <a:noFill/>
          <a:ln/>
        </p:spPr>
        <p:txBody>
          <a:bodyPr wrap="square" lIns="0" tIns="0" rIns="0" bIns="0" rtlCol="0" anchor="ctr"/>
          <a:lstStyle/>
          <a:p>
            <a:pPr indent="0" marL="0">
              <a:buNone/>
            </a:pPr>
            <a:r>
              <a:rPr lang="en-US" sz="1050" b="1" dirty="0">
                <a:solidFill>
                  <a:srgbClr val="45356B"/>
                </a:solidFill>
                <a:latin typeface="Consolas" pitchFamily="34" charset="0"/>
                <a:ea typeface="Consolas" pitchFamily="34" charset="-122"/>
                <a:cs typeface="Consolas" pitchFamily="34" charset="-120"/>
              </a:rPr>
              <a:t>Michishiru-dev</a:t>
            </a:r>
            <a:endParaRPr lang="en-US" sz="1050" dirty="0"/>
          </a:p>
          <a:p>
            <a:pPr indent="0" marL="0">
              <a:buNone/>
            </a:pPr>
            <a:r>
              <a:rPr lang="en-US" sz="1050" b="1" dirty="0">
                <a:solidFill>
                  <a:srgbClr val="45356B"/>
                </a:solidFill>
                <a:latin typeface="Consolas" pitchFamily="34" charset="0"/>
                <a:ea typeface="Consolas" pitchFamily="34" charset="-122"/>
                <a:cs typeface="Consolas" pitchFamily="34" charset="-120"/>
              </a:rPr>
              <a:t>Michishiru-prod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01 ARCHITECTURE ｜ SERVICES 1/2</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各サービスの説明①　配信・認証・API</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01 アーキテクチャ＆技術的工夫</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5</a:t>
            </a:r>
            <a:endParaRPr lang="en-US" sz="900" dirty="0"/>
          </a:p>
        </p:txBody>
      </p:sp>
      <p:sp>
        <p:nvSpPr>
          <p:cNvPr id="11" name="Shape 8"/>
          <p:cNvSpPr/>
          <p:nvPr/>
        </p:nvSpPr>
        <p:spPr>
          <a:xfrm>
            <a:off x="548640" y="1463040"/>
            <a:ext cx="5440680" cy="2286000"/>
          </a:xfrm>
          <a:prstGeom prst="roundRect">
            <a:avLst>
              <a:gd name="adj" fmla="val 3200"/>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2" name="Shape 9"/>
          <p:cNvSpPr/>
          <p:nvPr/>
        </p:nvSpPr>
        <p:spPr>
          <a:xfrm>
            <a:off x="548640" y="1536192"/>
            <a:ext cx="91440" cy="2139696"/>
          </a:xfrm>
          <a:prstGeom prst="rect">
            <a:avLst/>
          </a:prstGeom>
          <a:solidFill>
            <a:srgbClr val="8C4FFF"/>
          </a:solidFill>
          <a:ln/>
        </p:spPr>
      </p:sp>
      <p:sp>
        <p:nvSpPr>
          <p:cNvPr id="13" name="Shape 10"/>
          <p:cNvSpPr/>
          <p:nvPr/>
        </p:nvSpPr>
        <p:spPr>
          <a:xfrm>
            <a:off x="822960" y="1664208"/>
            <a:ext cx="566928" cy="566928"/>
          </a:xfrm>
          <a:prstGeom prst="roundRect">
            <a:avLst>
              <a:gd name="adj" fmla="val 9677"/>
            </a:avLst>
          </a:prstGeom>
          <a:solidFill>
            <a:srgbClr val="8C4FFF"/>
          </a:solidFill>
          <a:ln/>
        </p:spPr>
      </p:sp>
      <p:sp>
        <p:nvSpPr>
          <p:cNvPr id="14" name="Text 11"/>
          <p:cNvSpPr/>
          <p:nvPr/>
        </p:nvSpPr>
        <p:spPr>
          <a:xfrm>
            <a:off x="822960" y="166420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ゴシック" pitchFamily="34" charset="0"/>
                <a:ea typeface="BIZ UDPゴシック" pitchFamily="34" charset="-122"/>
                <a:cs typeface="BIZ UDPゴシック" pitchFamily="34" charset="-120"/>
              </a:rPr>
              <a:t>CF</a:t>
            </a:r>
            <a:endParaRPr lang="en-US" sz="1400" dirty="0"/>
          </a:p>
        </p:txBody>
      </p:sp>
      <p:sp>
        <p:nvSpPr>
          <p:cNvPr id="15" name="Text 12"/>
          <p:cNvSpPr/>
          <p:nvPr/>
        </p:nvSpPr>
        <p:spPr>
          <a:xfrm>
            <a:off x="1527048" y="1627632"/>
            <a:ext cx="4297680" cy="329184"/>
          </a:xfrm>
          <a:prstGeom prst="rect">
            <a:avLst/>
          </a:prstGeom>
          <a:noFill/>
          <a:ln/>
        </p:spPr>
        <p:txBody>
          <a:bodyPr wrap="square" lIns="0" tIns="0" rIns="0" bIns="0" rtlCol="0" anchor="t"/>
          <a:lstStyle/>
          <a:p>
            <a:pPr indent="0" marL="0">
              <a:buNone/>
            </a:pPr>
            <a:r>
              <a:rPr lang="en-US" sz="1700" b="1" dirty="0">
                <a:solidFill>
                  <a:srgbClr val="3A2E20"/>
                </a:solidFill>
                <a:latin typeface="BIZ UDPゴシック" pitchFamily="34" charset="0"/>
                <a:ea typeface="BIZ UDPゴシック" pitchFamily="34" charset="-122"/>
                <a:cs typeface="BIZ UDPゴシック" pitchFamily="34" charset="-120"/>
              </a:rPr>
              <a:t>Amazon CloudFront</a:t>
            </a:r>
            <a:endParaRPr lang="en-US" sz="1700" dirty="0"/>
          </a:p>
        </p:txBody>
      </p:sp>
      <p:sp>
        <p:nvSpPr>
          <p:cNvPr id="16" name="Text 13"/>
          <p:cNvSpPr/>
          <p:nvPr/>
        </p:nvSpPr>
        <p:spPr>
          <a:xfrm>
            <a:off x="1527048" y="1956816"/>
            <a:ext cx="4343400" cy="292608"/>
          </a:xfrm>
          <a:prstGeom prst="rect">
            <a:avLst/>
          </a:prstGeom>
          <a:noFill/>
          <a:ln/>
        </p:spPr>
        <p:txBody>
          <a:bodyPr wrap="square" lIns="0" tIns="0" rIns="0" bIns="0" rtlCol="0" anchor="t"/>
          <a:lstStyle/>
          <a:p>
            <a:pPr indent="0" marL="0">
              <a:buNone/>
            </a:pPr>
            <a:r>
              <a:rPr lang="en-US" sz="1150" b="1" dirty="0">
                <a:solidFill>
                  <a:srgbClr val="8C4FFF"/>
                </a:solidFill>
                <a:latin typeface="BIZ UDPゴシック" pitchFamily="34" charset="0"/>
                <a:ea typeface="BIZ UDPゴシック" pitchFamily="34" charset="-122"/>
                <a:cs typeface="BIZ UDPゴシック" pitchFamily="34" charset="-120"/>
              </a:rPr>
              <a:t>役割：利用者の入口。画面とAPIを1つのドメインで配信</a:t>
            </a:r>
            <a:endParaRPr lang="en-US" sz="1150" dirty="0"/>
          </a:p>
        </p:txBody>
      </p:sp>
      <p:sp>
        <p:nvSpPr>
          <p:cNvPr id="17" name="Text 14"/>
          <p:cNvSpPr/>
          <p:nvPr/>
        </p:nvSpPr>
        <p:spPr>
          <a:xfrm>
            <a:off x="841248" y="2377440"/>
            <a:ext cx="4983480" cy="132588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「/」は S3、「/api/*」は API Gateway へ振り分け</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同一オリジンになるため CORS の設定が不要</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HTTPS で配信し、静的ファイルはキャッシュで高速に表示</a:t>
            </a:r>
            <a:endParaRPr lang="en-US" sz="1150" dirty="0"/>
          </a:p>
        </p:txBody>
      </p:sp>
      <p:sp>
        <p:nvSpPr>
          <p:cNvPr id="18" name="Shape 15"/>
          <p:cNvSpPr/>
          <p:nvPr/>
        </p:nvSpPr>
        <p:spPr>
          <a:xfrm>
            <a:off x="6199632" y="1463040"/>
            <a:ext cx="5440680" cy="2286000"/>
          </a:xfrm>
          <a:prstGeom prst="roundRect">
            <a:avLst>
              <a:gd name="adj" fmla="val 3200"/>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9" name="Shape 16"/>
          <p:cNvSpPr/>
          <p:nvPr/>
        </p:nvSpPr>
        <p:spPr>
          <a:xfrm>
            <a:off x="6199632" y="1536192"/>
            <a:ext cx="91440" cy="2139696"/>
          </a:xfrm>
          <a:prstGeom prst="rect">
            <a:avLst/>
          </a:prstGeom>
          <a:solidFill>
            <a:srgbClr val="7AA116"/>
          </a:solidFill>
          <a:ln/>
        </p:spPr>
      </p:sp>
      <p:sp>
        <p:nvSpPr>
          <p:cNvPr id="20" name="Shape 17"/>
          <p:cNvSpPr/>
          <p:nvPr/>
        </p:nvSpPr>
        <p:spPr>
          <a:xfrm>
            <a:off x="6473952" y="1664208"/>
            <a:ext cx="566928" cy="566928"/>
          </a:xfrm>
          <a:prstGeom prst="roundRect">
            <a:avLst>
              <a:gd name="adj" fmla="val 9677"/>
            </a:avLst>
          </a:prstGeom>
          <a:solidFill>
            <a:srgbClr val="7AA116"/>
          </a:solidFill>
          <a:ln/>
        </p:spPr>
      </p:sp>
      <p:sp>
        <p:nvSpPr>
          <p:cNvPr id="21" name="Text 18"/>
          <p:cNvSpPr/>
          <p:nvPr/>
        </p:nvSpPr>
        <p:spPr>
          <a:xfrm>
            <a:off x="6473952" y="166420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ゴシック" pitchFamily="34" charset="0"/>
                <a:ea typeface="BIZ UDPゴシック" pitchFamily="34" charset="-122"/>
                <a:cs typeface="BIZ UDPゴシック" pitchFamily="34" charset="-120"/>
              </a:rPr>
              <a:t>S3</a:t>
            </a:r>
            <a:endParaRPr lang="en-US" sz="1400" dirty="0"/>
          </a:p>
        </p:txBody>
      </p:sp>
      <p:sp>
        <p:nvSpPr>
          <p:cNvPr id="22" name="Text 19"/>
          <p:cNvSpPr/>
          <p:nvPr/>
        </p:nvSpPr>
        <p:spPr>
          <a:xfrm>
            <a:off x="7178040" y="1627632"/>
            <a:ext cx="4297680" cy="329184"/>
          </a:xfrm>
          <a:prstGeom prst="rect">
            <a:avLst/>
          </a:prstGeom>
          <a:noFill/>
          <a:ln/>
        </p:spPr>
        <p:txBody>
          <a:bodyPr wrap="square" lIns="0" tIns="0" rIns="0" bIns="0" rtlCol="0" anchor="t"/>
          <a:lstStyle/>
          <a:p>
            <a:pPr indent="0" marL="0">
              <a:buNone/>
            </a:pPr>
            <a:r>
              <a:rPr lang="en-US" sz="1700" b="1" dirty="0">
                <a:solidFill>
                  <a:srgbClr val="3A2E20"/>
                </a:solidFill>
                <a:latin typeface="BIZ UDPゴシック" pitchFamily="34" charset="0"/>
                <a:ea typeface="BIZ UDPゴシック" pitchFamily="34" charset="-122"/>
                <a:cs typeface="BIZ UDPゴシック" pitchFamily="34" charset="-120"/>
              </a:rPr>
              <a:t>Amazon S3</a:t>
            </a:r>
            <a:endParaRPr lang="en-US" sz="1700" dirty="0"/>
          </a:p>
        </p:txBody>
      </p:sp>
      <p:sp>
        <p:nvSpPr>
          <p:cNvPr id="23" name="Text 20"/>
          <p:cNvSpPr/>
          <p:nvPr/>
        </p:nvSpPr>
        <p:spPr>
          <a:xfrm>
            <a:off x="7178040" y="1956816"/>
            <a:ext cx="4343400" cy="292608"/>
          </a:xfrm>
          <a:prstGeom prst="rect">
            <a:avLst/>
          </a:prstGeom>
          <a:noFill/>
          <a:ln/>
        </p:spPr>
        <p:txBody>
          <a:bodyPr wrap="square" lIns="0" tIns="0" rIns="0" bIns="0" rtlCol="0" anchor="t"/>
          <a:lstStyle/>
          <a:p>
            <a:pPr indent="0" marL="0">
              <a:buNone/>
            </a:pPr>
            <a:r>
              <a:rPr lang="en-US" sz="1150" b="1" dirty="0">
                <a:solidFill>
                  <a:srgbClr val="7AA116"/>
                </a:solidFill>
                <a:latin typeface="BIZ UDPゴシック" pitchFamily="34" charset="0"/>
                <a:ea typeface="BIZ UDPゴシック" pitchFamily="34" charset="-122"/>
                <a:cs typeface="BIZ UDPゴシック" pitchFamily="34" charset="-120"/>
              </a:rPr>
              <a:t>役割：画面（Vue SPA）と口コミ写真の保管</a:t>
            </a:r>
            <a:endParaRPr lang="en-US" sz="1150" dirty="0"/>
          </a:p>
        </p:txBody>
      </p:sp>
      <p:sp>
        <p:nvSpPr>
          <p:cNvPr id="24" name="Text 21"/>
          <p:cNvSpPr/>
          <p:nvPr/>
        </p:nvSpPr>
        <p:spPr>
          <a:xfrm>
            <a:off x="6492240" y="2377440"/>
            <a:ext cx="4983480" cy="132588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バケットは非公開。CloudFront（OAC）経由でのみ読める</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写真は署名付きURLでブラウザから直接アップロード</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デプロイ時に CDK が画面を同期し、キャッシュも更新</a:t>
            </a:r>
            <a:endParaRPr lang="en-US" sz="1150" dirty="0"/>
          </a:p>
        </p:txBody>
      </p:sp>
      <p:sp>
        <p:nvSpPr>
          <p:cNvPr id="25" name="Shape 22"/>
          <p:cNvSpPr/>
          <p:nvPr/>
        </p:nvSpPr>
        <p:spPr>
          <a:xfrm>
            <a:off x="548640" y="3913632"/>
            <a:ext cx="5440680" cy="2286000"/>
          </a:xfrm>
          <a:prstGeom prst="roundRect">
            <a:avLst>
              <a:gd name="adj" fmla="val 3200"/>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6" name="Shape 23"/>
          <p:cNvSpPr/>
          <p:nvPr/>
        </p:nvSpPr>
        <p:spPr>
          <a:xfrm>
            <a:off x="548640" y="3986784"/>
            <a:ext cx="91440" cy="2139696"/>
          </a:xfrm>
          <a:prstGeom prst="rect">
            <a:avLst/>
          </a:prstGeom>
          <a:solidFill>
            <a:srgbClr val="DD344C"/>
          </a:solidFill>
          <a:ln/>
        </p:spPr>
      </p:sp>
      <p:sp>
        <p:nvSpPr>
          <p:cNvPr id="27" name="Shape 24"/>
          <p:cNvSpPr/>
          <p:nvPr/>
        </p:nvSpPr>
        <p:spPr>
          <a:xfrm>
            <a:off x="822960" y="4114800"/>
            <a:ext cx="566928" cy="566928"/>
          </a:xfrm>
          <a:prstGeom prst="roundRect">
            <a:avLst>
              <a:gd name="adj" fmla="val 9677"/>
            </a:avLst>
          </a:prstGeom>
          <a:solidFill>
            <a:srgbClr val="DD344C"/>
          </a:solidFill>
          <a:ln/>
        </p:spPr>
      </p:sp>
      <p:sp>
        <p:nvSpPr>
          <p:cNvPr id="28" name="Text 25"/>
          <p:cNvSpPr/>
          <p:nvPr/>
        </p:nvSpPr>
        <p:spPr>
          <a:xfrm>
            <a:off x="822960" y="4114800"/>
            <a:ext cx="566928"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ゴシック" pitchFamily="34" charset="0"/>
                <a:ea typeface="BIZ UDPゴシック" pitchFamily="34" charset="-122"/>
                <a:cs typeface="BIZ UDPゴシック" pitchFamily="34" charset="-120"/>
              </a:rPr>
              <a:t>Cog</a:t>
            </a:r>
            <a:endParaRPr lang="en-US" sz="1000" dirty="0"/>
          </a:p>
        </p:txBody>
      </p:sp>
      <p:sp>
        <p:nvSpPr>
          <p:cNvPr id="29" name="Text 26"/>
          <p:cNvSpPr/>
          <p:nvPr/>
        </p:nvSpPr>
        <p:spPr>
          <a:xfrm>
            <a:off x="1527048" y="4078224"/>
            <a:ext cx="4297680" cy="329184"/>
          </a:xfrm>
          <a:prstGeom prst="rect">
            <a:avLst/>
          </a:prstGeom>
          <a:noFill/>
          <a:ln/>
        </p:spPr>
        <p:txBody>
          <a:bodyPr wrap="square" lIns="0" tIns="0" rIns="0" bIns="0" rtlCol="0" anchor="t"/>
          <a:lstStyle/>
          <a:p>
            <a:pPr indent="0" marL="0">
              <a:buNone/>
            </a:pPr>
            <a:r>
              <a:rPr lang="en-US" sz="1700" b="1" dirty="0">
                <a:solidFill>
                  <a:srgbClr val="3A2E20"/>
                </a:solidFill>
                <a:latin typeface="BIZ UDPゴシック" pitchFamily="34" charset="0"/>
                <a:ea typeface="BIZ UDPゴシック" pitchFamily="34" charset="-122"/>
                <a:cs typeface="BIZ UDPゴシック" pitchFamily="34" charset="-120"/>
              </a:rPr>
              <a:t>Amazon Cognito</a:t>
            </a:r>
            <a:endParaRPr lang="en-US" sz="1700" dirty="0"/>
          </a:p>
        </p:txBody>
      </p:sp>
      <p:sp>
        <p:nvSpPr>
          <p:cNvPr id="30" name="Text 27"/>
          <p:cNvSpPr/>
          <p:nvPr/>
        </p:nvSpPr>
        <p:spPr>
          <a:xfrm>
            <a:off x="1527048" y="4407408"/>
            <a:ext cx="4343400" cy="292608"/>
          </a:xfrm>
          <a:prstGeom prst="rect">
            <a:avLst/>
          </a:prstGeom>
          <a:noFill/>
          <a:ln/>
        </p:spPr>
        <p:txBody>
          <a:bodyPr wrap="square" lIns="0" tIns="0" rIns="0" bIns="0" rtlCol="0" anchor="t"/>
          <a:lstStyle/>
          <a:p>
            <a:pPr indent="0" marL="0">
              <a:buNone/>
            </a:pPr>
            <a:r>
              <a:rPr lang="en-US" sz="1150" b="1" dirty="0">
                <a:solidFill>
                  <a:srgbClr val="DD344C"/>
                </a:solidFill>
                <a:latin typeface="BIZ UDPゴシック" pitchFamily="34" charset="0"/>
                <a:ea typeface="BIZ UDPゴシック" pitchFamily="34" charset="-122"/>
                <a:cs typeface="BIZ UDPゴシック" pitchFamily="34" charset="-120"/>
              </a:rPr>
              <a:t>役割：ログインとユーザー登録</a:t>
            </a:r>
            <a:endParaRPr lang="en-US" sz="1150" dirty="0"/>
          </a:p>
        </p:txBody>
      </p:sp>
      <p:sp>
        <p:nvSpPr>
          <p:cNvPr id="31" name="Text 28"/>
          <p:cNvSpPr/>
          <p:nvPr/>
        </p:nvSpPr>
        <p:spPr>
          <a:xfrm>
            <a:off x="841248" y="4828032"/>
            <a:ext cx="4983480" cy="132588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ユーザー名でサインイン、メールの確認コードで本人確認</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ログイン画面はアプリ内に自作（マネージドログイン不使用）</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プールIDは cdk deploy の出力からビルドへ自動で渡す</a:t>
            </a:r>
            <a:endParaRPr lang="en-US" sz="1150" dirty="0"/>
          </a:p>
        </p:txBody>
      </p:sp>
      <p:sp>
        <p:nvSpPr>
          <p:cNvPr id="32" name="Shape 29"/>
          <p:cNvSpPr/>
          <p:nvPr/>
        </p:nvSpPr>
        <p:spPr>
          <a:xfrm>
            <a:off x="6199632" y="3913632"/>
            <a:ext cx="5440680" cy="2286000"/>
          </a:xfrm>
          <a:prstGeom prst="roundRect">
            <a:avLst>
              <a:gd name="adj" fmla="val 3200"/>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3" name="Shape 30"/>
          <p:cNvSpPr/>
          <p:nvPr/>
        </p:nvSpPr>
        <p:spPr>
          <a:xfrm>
            <a:off x="6199632" y="3986784"/>
            <a:ext cx="91440" cy="2139696"/>
          </a:xfrm>
          <a:prstGeom prst="rect">
            <a:avLst/>
          </a:prstGeom>
          <a:solidFill>
            <a:srgbClr val="E7157B"/>
          </a:solidFill>
          <a:ln/>
        </p:spPr>
      </p:sp>
      <p:sp>
        <p:nvSpPr>
          <p:cNvPr id="34" name="Shape 31"/>
          <p:cNvSpPr/>
          <p:nvPr/>
        </p:nvSpPr>
        <p:spPr>
          <a:xfrm>
            <a:off x="6473952" y="4114800"/>
            <a:ext cx="566928" cy="566928"/>
          </a:xfrm>
          <a:prstGeom prst="roundRect">
            <a:avLst>
              <a:gd name="adj" fmla="val 9677"/>
            </a:avLst>
          </a:prstGeom>
          <a:solidFill>
            <a:srgbClr val="E7157B"/>
          </a:solidFill>
          <a:ln/>
        </p:spPr>
      </p:sp>
      <p:sp>
        <p:nvSpPr>
          <p:cNvPr id="35" name="Text 32"/>
          <p:cNvSpPr/>
          <p:nvPr/>
        </p:nvSpPr>
        <p:spPr>
          <a:xfrm>
            <a:off x="6473952" y="4114800"/>
            <a:ext cx="566928"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ゴシック" pitchFamily="34" charset="0"/>
                <a:ea typeface="BIZ UDPゴシック" pitchFamily="34" charset="-122"/>
                <a:cs typeface="BIZ UDPゴシック" pitchFamily="34" charset="-120"/>
              </a:rPr>
              <a:t>API</a:t>
            </a:r>
            <a:endParaRPr lang="en-US" sz="1000" dirty="0"/>
          </a:p>
        </p:txBody>
      </p:sp>
      <p:sp>
        <p:nvSpPr>
          <p:cNvPr id="36" name="Text 33"/>
          <p:cNvSpPr/>
          <p:nvPr/>
        </p:nvSpPr>
        <p:spPr>
          <a:xfrm>
            <a:off x="7178040" y="4078224"/>
            <a:ext cx="4297680" cy="329184"/>
          </a:xfrm>
          <a:prstGeom prst="rect">
            <a:avLst/>
          </a:prstGeom>
          <a:noFill/>
          <a:ln/>
        </p:spPr>
        <p:txBody>
          <a:bodyPr wrap="square" lIns="0" tIns="0" rIns="0" bIns="0" rtlCol="0" anchor="t"/>
          <a:lstStyle/>
          <a:p>
            <a:pPr indent="0" marL="0">
              <a:buNone/>
            </a:pPr>
            <a:r>
              <a:rPr lang="en-US" sz="1700" b="1" dirty="0">
                <a:solidFill>
                  <a:srgbClr val="3A2E20"/>
                </a:solidFill>
                <a:latin typeface="BIZ UDPゴシック" pitchFamily="34" charset="0"/>
                <a:ea typeface="BIZ UDPゴシック" pitchFamily="34" charset="-122"/>
                <a:cs typeface="BIZ UDPゴシック" pitchFamily="34" charset="-120"/>
              </a:rPr>
              <a:t>Amazon API Gateway</a:t>
            </a:r>
            <a:endParaRPr lang="en-US" sz="1700" dirty="0"/>
          </a:p>
        </p:txBody>
      </p:sp>
      <p:sp>
        <p:nvSpPr>
          <p:cNvPr id="37" name="Text 34"/>
          <p:cNvSpPr/>
          <p:nvPr/>
        </p:nvSpPr>
        <p:spPr>
          <a:xfrm>
            <a:off x="7178040" y="4407408"/>
            <a:ext cx="4343400" cy="292608"/>
          </a:xfrm>
          <a:prstGeom prst="rect">
            <a:avLst/>
          </a:prstGeom>
          <a:noFill/>
          <a:ln/>
        </p:spPr>
        <p:txBody>
          <a:bodyPr wrap="square" lIns="0" tIns="0" rIns="0" bIns="0" rtlCol="0" anchor="t"/>
          <a:lstStyle/>
          <a:p>
            <a:pPr indent="0" marL="0">
              <a:buNone/>
            </a:pPr>
            <a:r>
              <a:rPr lang="en-US" sz="1150" b="1" dirty="0">
                <a:solidFill>
                  <a:srgbClr val="E7157B"/>
                </a:solidFill>
                <a:latin typeface="BIZ UDPゴシック" pitchFamily="34" charset="0"/>
                <a:ea typeface="BIZ UDPゴシック" pitchFamily="34" charset="-122"/>
                <a:cs typeface="BIZ UDPゴシック" pitchFamily="34" charset="-120"/>
              </a:rPr>
              <a:t>役割：REST API の窓口（/api/v1/...）</a:t>
            </a:r>
            <a:endParaRPr lang="en-US" sz="1150" dirty="0"/>
          </a:p>
        </p:txBody>
      </p:sp>
      <p:sp>
        <p:nvSpPr>
          <p:cNvPr id="38" name="Text 35"/>
          <p:cNvSpPr/>
          <p:nvPr/>
        </p:nvSpPr>
        <p:spPr>
          <a:xfrm>
            <a:off x="6492240" y="4828032"/>
            <a:ext cx="4983480" cy="132588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Cognito オーソライザーで idToken を検証してから処理</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ログイン前に使う「パスワード再設定の照合」だけ認可の対象外</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Lambda を直接公開せず、必ず API Gateway を通す</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01 ARCHITECTURE ｜ SERVICES 2/2</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各サービスの説明②　処理・データ・AI・地図</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01 アーキテクチャ＆技術的工夫</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6</a:t>
            </a:r>
            <a:endParaRPr lang="en-US" sz="900" dirty="0"/>
          </a:p>
        </p:txBody>
      </p:sp>
      <p:sp>
        <p:nvSpPr>
          <p:cNvPr id="11" name="Shape 8"/>
          <p:cNvSpPr/>
          <p:nvPr/>
        </p:nvSpPr>
        <p:spPr>
          <a:xfrm>
            <a:off x="548640" y="1463040"/>
            <a:ext cx="5440680" cy="2286000"/>
          </a:xfrm>
          <a:prstGeom prst="roundRect">
            <a:avLst>
              <a:gd name="adj" fmla="val 3200"/>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2" name="Shape 9"/>
          <p:cNvSpPr/>
          <p:nvPr/>
        </p:nvSpPr>
        <p:spPr>
          <a:xfrm>
            <a:off x="548640" y="1536192"/>
            <a:ext cx="91440" cy="2139696"/>
          </a:xfrm>
          <a:prstGeom prst="rect">
            <a:avLst/>
          </a:prstGeom>
          <a:solidFill>
            <a:srgbClr val="ED7100"/>
          </a:solidFill>
          <a:ln/>
        </p:spPr>
      </p:sp>
      <p:sp>
        <p:nvSpPr>
          <p:cNvPr id="13" name="Shape 10"/>
          <p:cNvSpPr/>
          <p:nvPr/>
        </p:nvSpPr>
        <p:spPr>
          <a:xfrm>
            <a:off x="822960" y="1664208"/>
            <a:ext cx="566928" cy="566928"/>
          </a:xfrm>
          <a:prstGeom prst="roundRect">
            <a:avLst>
              <a:gd name="adj" fmla="val 9677"/>
            </a:avLst>
          </a:prstGeom>
          <a:solidFill>
            <a:srgbClr val="ED7100"/>
          </a:solidFill>
          <a:ln/>
        </p:spPr>
      </p:sp>
      <p:sp>
        <p:nvSpPr>
          <p:cNvPr id="14" name="Text 11"/>
          <p:cNvSpPr/>
          <p:nvPr/>
        </p:nvSpPr>
        <p:spPr>
          <a:xfrm>
            <a:off x="822960" y="166420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ゴシック" pitchFamily="34" charset="0"/>
                <a:ea typeface="BIZ UDPゴシック" pitchFamily="34" charset="-122"/>
                <a:cs typeface="BIZ UDPゴシック" pitchFamily="34" charset="-120"/>
              </a:rPr>
              <a:t>λ</a:t>
            </a:r>
            <a:endParaRPr lang="en-US" sz="1400" dirty="0"/>
          </a:p>
        </p:txBody>
      </p:sp>
      <p:sp>
        <p:nvSpPr>
          <p:cNvPr id="15" name="Text 12"/>
          <p:cNvSpPr/>
          <p:nvPr/>
        </p:nvSpPr>
        <p:spPr>
          <a:xfrm>
            <a:off x="1527048" y="1627632"/>
            <a:ext cx="4297680" cy="329184"/>
          </a:xfrm>
          <a:prstGeom prst="rect">
            <a:avLst/>
          </a:prstGeom>
          <a:noFill/>
          <a:ln/>
        </p:spPr>
        <p:txBody>
          <a:bodyPr wrap="square" lIns="0" tIns="0" rIns="0" bIns="0" rtlCol="0" anchor="t"/>
          <a:lstStyle/>
          <a:p>
            <a:pPr indent="0" marL="0">
              <a:buNone/>
            </a:pPr>
            <a:r>
              <a:rPr lang="en-US" sz="1700" b="1" dirty="0">
                <a:solidFill>
                  <a:srgbClr val="3A2E20"/>
                </a:solidFill>
                <a:latin typeface="BIZ UDPゴシック" pitchFamily="34" charset="0"/>
                <a:ea typeface="BIZ UDPゴシック" pitchFamily="34" charset="-122"/>
                <a:cs typeface="BIZ UDPゴシック" pitchFamily="34" charset="-120"/>
              </a:rPr>
              <a:t>AWS Lambda（Node.js）</a:t>
            </a:r>
            <a:endParaRPr lang="en-US" sz="1700" dirty="0"/>
          </a:p>
        </p:txBody>
      </p:sp>
      <p:sp>
        <p:nvSpPr>
          <p:cNvPr id="16" name="Text 13"/>
          <p:cNvSpPr/>
          <p:nvPr/>
        </p:nvSpPr>
        <p:spPr>
          <a:xfrm>
            <a:off x="1527048" y="1956816"/>
            <a:ext cx="4343400" cy="292608"/>
          </a:xfrm>
          <a:prstGeom prst="rect">
            <a:avLst/>
          </a:prstGeom>
          <a:noFill/>
          <a:ln/>
        </p:spPr>
        <p:txBody>
          <a:bodyPr wrap="square" lIns="0" tIns="0" rIns="0" bIns="0" rtlCol="0" anchor="t"/>
          <a:lstStyle/>
          <a:p>
            <a:pPr indent="0" marL="0">
              <a:buNone/>
            </a:pPr>
            <a:r>
              <a:rPr lang="en-US" sz="1150" b="1" dirty="0">
                <a:solidFill>
                  <a:srgbClr val="ED7100"/>
                </a:solidFill>
                <a:latin typeface="BIZ UDPゴシック" pitchFamily="34" charset="0"/>
                <a:ea typeface="BIZ UDPゴシック" pitchFamily="34" charset="-122"/>
                <a:cs typeface="BIZ UDPゴシック" pitchFamily="34" charset="-120"/>
              </a:rPr>
              <a:t>役割：バックエンドの処理（11関数）</a:t>
            </a:r>
            <a:endParaRPr lang="en-US" sz="1150" dirty="0"/>
          </a:p>
        </p:txBody>
      </p:sp>
      <p:sp>
        <p:nvSpPr>
          <p:cNvPr id="17" name="Text 14"/>
          <p:cNvSpPr/>
          <p:nvPr/>
        </p:nvSpPr>
        <p:spPr>
          <a:xfrm>
            <a:off x="841248" y="2377440"/>
            <a:ext cx="4983480" cy="132588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1関数1責務（ルート作成・口コミ投稿・実績保存など）</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handler → service → repository の3層で責務を分離</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外部APIは repository 層からだけ呼び、キーを画面に出さない</a:t>
            </a:r>
            <a:endParaRPr lang="en-US" sz="1150" dirty="0"/>
          </a:p>
        </p:txBody>
      </p:sp>
      <p:sp>
        <p:nvSpPr>
          <p:cNvPr id="18" name="Shape 15"/>
          <p:cNvSpPr/>
          <p:nvPr/>
        </p:nvSpPr>
        <p:spPr>
          <a:xfrm>
            <a:off x="6199632" y="1463040"/>
            <a:ext cx="5440680" cy="2286000"/>
          </a:xfrm>
          <a:prstGeom prst="roundRect">
            <a:avLst>
              <a:gd name="adj" fmla="val 3200"/>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9" name="Shape 16"/>
          <p:cNvSpPr/>
          <p:nvPr/>
        </p:nvSpPr>
        <p:spPr>
          <a:xfrm>
            <a:off x="6199632" y="1536192"/>
            <a:ext cx="91440" cy="2139696"/>
          </a:xfrm>
          <a:prstGeom prst="rect">
            <a:avLst/>
          </a:prstGeom>
          <a:solidFill>
            <a:srgbClr val="C925D1"/>
          </a:solidFill>
          <a:ln/>
        </p:spPr>
      </p:sp>
      <p:sp>
        <p:nvSpPr>
          <p:cNvPr id="20" name="Shape 17"/>
          <p:cNvSpPr/>
          <p:nvPr/>
        </p:nvSpPr>
        <p:spPr>
          <a:xfrm>
            <a:off x="6473952" y="1664208"/>
            <a:ext cx="566928" cy="566928"/>
          </a:xfrm>
          <a:prstGeom prst="roundRect">
            <a:avLst>
              <a:gd name="adj" fmla="val 9677"/>
            </a:avLst>
          </a:prstGeom>
          <a:solidFill>
            <a:srgbClr val="C925D1"/>
          </a:solidFill>
          <a:ln/>
        </p:spPr>
      </p:sp>
      <p:sp>
        <p:nvSpPr>
          <p:cNvPr id="21" name="Text 18"/>
          <p:cNvSpPr/>
          <p:nvPr/>
        </p:nvSpPr>
        <p:spPr>
          <a:xfrm>
            <a:off x="6473952" y="166420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ゴシック" pitchFamily="34" charset="0"/>
                <a:ea typeface="BIZ UDPゴシック" pitchFamily="34" charset="-122"/>
                <a:cs typeface="BIZ UDPゴシック" pitchFamily="34" charset="-120"/>
              </a:rPr>
              <a:t>DB</a:t>
            </a:r>
            <a:endParaRPr lang="en-US" sz="1400" dirty="0"/>
          </a:p>
        </p:txBody>
      </p:sp>
      <p:sp>
        <p:nvSpPr>
          <p:cNvPr id="22" name="Text 19"/>
          <p:cNvSpPr/>
          <p:nvPr/>
        </p:nvSpPr>
        <p:spPr>
          <a:xfrm>
            <a:off x="7178040" y="1627632"/>
            <a:ext cx="4297680" cy="329184"/>
          </a:xfrm>
          <a:prstGeom prst="rect">
            <a:avLst/>
          </a:prstGeom>
          <a:noFill/>
          <a:ln/>
        </p:spPr>
        <p:txBody>
          <a:bodyPr wrap="square" lIns="0" tIns="0" rIns="0" bIns="0" rtlCol="0" anchor="t"/>
          <a:lstStyle/>
          <a:p>
            <a:pPr indent="0" marL="0">
              <a:buNone/>
            </a:pPr>
            <a:r>
              <a:rPr lang="en-US" sz="1700" b="1" dirty="0">
                <a:solidFill>
                  <a:srgbClr val="3A2E20"/>
                </a:solidFill>
                <a:latin typeface="BIZ UDPゴシック" pitchFamily="34" charset="0"/>
                <a:ea typeface="BIZ UDPゴシック" pitchFamily="34" charset="-122"/>
                <a:cs typeface="BIZ UDPゴシック" pitchFamily="34" charset="-120"/>
              </a:rPr>
              <a:t>Amazon DynamoDB</a:t>
            </a:r>
            <a:endParaRPr lang="en-US" sz="1700" dirty="0"/>
          </a:p>
        </p:txBody>
      </p:sp>
      <p:sp>
        <p:nvSpPr>
          <p:cNvPr id="23" name="Text 20"/>
          <p:cNvSpPr/>
          <p:nvPr/>
        </p:nvSpPr>
        <p:spPr>
          <a:xfrm>
            <a:off x="7178040" y="1956816"/>
            <a:ext cx="4343400" cy="292608"/>
          </a:xfrm>
          <a:prstGeom prst="rect">
            <a:avLst/>
          </a:prstGeom>
          <a:noFill/>
          <a:ln/>
        </p:spPr>
        <p:txBody>
          <a:bodyPr wrap="square" lIns="0" tIns="0" rIns="0" bIns="0" rtlCol="0" anchor="t"/>
          <a:lstStyle/>
          <a:p>
            <a:pPr indent="0" marL="0">
              <a:buNone/>
            </a:pPr>
            <a:r>
              <a:rPr lang="en-US" sz="1150" b="1" dirty="0">
                <a:solidFill>
                  <a:srgbClr val="C925D1"/>
                </a:solidFill>
                <a:latin typeface="BIZ UDPゴシック" pitchFamily="34" charset="0"/>
                <a:ea typeface="BIZ UDPゴシック" pitchFamily="34" charset="-122"/>
                <a:cs typeface="BIZ UDPゴシック" pitchFamily="34" charset="-120"/>
              </a:rPr>
              <a:t>役割：データの保存</a:t>
            </a:r>
            <a:endParaRPr lang="en-US" sz="1150" dirty="0"/>
          </a:p>
        </p:txBody>
      </p:sp>
      <p:sp>
        <p:nvSpPr>
          <p:cNvPr id="24" name="Text 21"/>
          <p:cNvSpPr/>
          <p:nvPr/>
        </p:nvSpPr>
        <p:spPr>
          <a:xfrm>
            <a:off x="6492240" y="2377440"/>
            <a:ext cx="4983480" cy="132588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Route / Review / WalkResult の3テーブル（-dev / -prod）</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口コミは丸めセル（geoCell）の索引で近くの場所を検索</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検索条件・ジャンル・カテゴリのマスタも保持</a:t>
            </a:r>
            <a:endParaRPr lang="en-US" sz="1150" dirty="0"/>
          </a:p>
        </p:txBody>
      </p:sp>
      <p:sp>
        <p:nvSpPr>
          <p:cNvPr id="25" name="Shape 22"/>
          <p:cNvSpPr/>
          <p:nvPr/>
        </p:nvSpPr>
        <p:spPr>
          <a:xfrm>
            <a:off x="548640" y="3913632"/>
            <a:ext cx="5440680" cy="2286000"/>
          </a:xfrm>
          <a:prstGeom prst="roundRect">
            <a:avLst>
              <a:gd name="adj" fmla="val 3200"/>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6" name="Shape 23"/>
          <p:cNvSpPr/>
          <p:nvPr/>
        </p:nvSpPr>
        <p:spPr>
          <a:xfrm>
            <a:off x="548640" y="3986784"/>
            <a:ext cx="91440" cy="2139696"/>
          </a:xfrm>
          <a:prstGeom prst="rect">
            <a:avLst/>
          </a:prstGeom>
          <a:solidFill>
            <a:srgbClr val="2E73B8"/>
          </a:solidFill>
          <a:ln/>
        </p:spPr>
      </p:sp>
      <p:sp>
        <p:nvSpPr>
          <p:cNvPr id="27" name="Shape 24"/>
          <p:cNvSpPr/>
          <p:nvPr/>
        </p:nvSpPr>
        <p:spPr>
          <a:xfrm>
            <a:off x="822960" y="4114800"/>
            <a:ext cx="566928" cy="566928"/>
          </a:xfrm>
          <a:prstGeom prst="roundRect">
            <a:avLst>
              <a:gd name="adj" fmla="val 9677"/>
            </a:avLst>
          </a:prstGeom>
          <a:solidFill>
            <a:srgbClr val="2E73B8"/>
          </a:solidFill>
          <a:ln/>
        </p:spPr>
      </p:sp>
      <p:sp>
        <p:nvSpPr>
          <p:cNvPr id="28" name="Text 25"/>
          <p:cNvSpPr/>
          <p:nvPr/>
        </p:nvSpPr>
        <p:spPr>
          <a:xfrm>
            <a:off x="822960" y="4114800"/>
            <a:ext cx="566928"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ゴシック" pitchFamily="34" charset="0"/>
                <a:ea typeface="BIZ UDPゴシック" pitchFamily="34" charset="-122"/>
                <a:cs typeface="BIZ UDPゴシック" pitchFamily="34" charset="-120"/>
              </a:rPr>
              <a:t>Loc</a:t>
            </a:r>
            <a:endParaRPr lang="en-US" sz="1000" dirty="0"/>
          </a:p>
        </p:txBody>
      </p:sp>
      <p:sp>
        <p:nvSpPr>
          <p:cNvPr id="29" name="Text 26"/>
          <p:cNvSpPr/>
          <p:nvPr/>
        </p:nvSpPr>
        <p:spPr>
          <a:xfrm>
            <a:off x="1527048" y="4078224"/>
            <a:ext cx="4297680" cy="329184"/>
          </a:xfrm>
          <a:prstGeom prst="rect">
            <a:avLst/>
          </a:prstGeom>
          <a:noFill/>
          <a:ln/>
        </p:spPr>
        <p:txBody>
          <a:bodyPr wrap="square" lIns="0" tIns="0" rIns="0" bIns="0" rtlCol="0" anchor="t"/>
          <a:lstStyle/>
          <a:p>
            <a:pPr indent="0" marL="0">
              <a:buNone/>
            </a:pPr>
            <a:r>
              <a:rPr lang="en-US" sz="1700" b="1" dirty="0">
                <a:solidFill>
                  <a:srgbClr val="3A2E20"/>
                </a:solidFill>
                <a:latin typeface="BIZ UDPゴシック" pitchFamily="34" charset="0"/>
                <a:ea typeface="BIZ UDPゴシック" pitchFamily="34" charset="-122"/>
                <a:cs typeface="BIZ UDPゴシック" pitchFamily="34" charset="-120"/>
              </a:rPr>
              <a:t>Amazon Location Service</a:t>
            </a:r>
            <a:endParaRPr lang="en-US" sz="1700" dirty="0"/>
          </a:p>
        </p:txBody>
      </p:sp>
      <p:sp>
        <p:nvSpPr>
          <p:cNvPr id="30" name="Text 27"/>
          <p:cNvSpPr/>
          <p:nvPr/>
        </p:nvSpPr>
        <p:spPr>
          <a:xfrm>
            <a:off x="1527048" y="4407408"/>
            <a:ext cx="4343400" cy="292608"/>
          </a:xfrm>
          <a:prstGeom prst="rect">
            <a:avLst/>
          </a:prstGeom>
          <a:noFill/>
          <a:ln/>
        </p:spPr>
        <p:txBody>
          <a:bodyPr wrap="square" lIns="0" tIns="0" rIns="0" bIns="0" rtlCol="0" anchor="t"/>
          <a:lstStyle/>
          <a:p>
            <a:pPr indent="0" marL="0">
              <a:buNone/>
            </a:pPr>
            <a:r>
              <a:rPr lang="en-US" sz="1150" b="1" dirty="0">
                <a:solidFill>
                  <a:srgbClr val="2E73B8"/>
                </a:solidFill>
                <a:latin typeface="BIZ UDPゴシック" pitchFamily="34" charset="0"/>
                <a:ea typeface="BIZ UDPゴシック" pitchFamily="34" charset="-122"/>
                <a:cs typeface="BIZ UDPゴシック" pitchFamily="34" charset="-120"/>
              </a:rPr>
              <a:t>役割：地図まわり（Places / Routes / Maps）</a:t>
            </a:r>
            <a:endParaRPr lang="en-US" sz="1150" dirty="0"/>
          </a:p>
        </p:txBody>
      </p:sp>
      <p:sp>
        <p:nvSpPr>
          <p:cNvPr id="31" name="Text 28"/>
          <p:cNvSpPr/>
          <p:nvPr/>
        </p:nvSpPr>
        <p:spPr>
          <a:xfrm>
            <a:off x="841248" y="4828032"/>
            <a:ext cx="4983480" cy="132588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Places：SearchNearby で現在地周辺のスポットを検索</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Routes：CalculateRoutes（徒歩）で道なりの経路と距離を計算</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Maps：地図タイル（未設定時は OpenStreetMap で代替）</a:t>
            </a:r>
            <a:endParaRPr lang="en-US" sz="1150" dirty="0"/>
          </a:p>
        </p:txBody>
      </p:sp>
      <p:sp>
        <p:nvSpPr>
          <p:cNvPr id="32" name="Shape 29"/>
          <p:cNvSpPr/>
          <p:nvPr/>
        </p:nvSpPr>
        <p:spPr>
          <a:xfrm>
            <a:off x="6199632" y="3913632"/>
            <a:ext cx="5440680" cy="2286000"/>
          </a:xfrm>
          <a:prstGeom prst="roundRect">
            <a:avLst>
              <a:gd name="adj" fmla="val 3200"/>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3" name="Shape 30"/>
          <p:cNvSpPr/>
          <p:nvPr/>
        </p:nvSpPr>
        <p:spPr>
          <a:xfrm>
            <a:off x="6199632" y="3986784"/>
            <a:ext cx="91440" cy="2139696"/>
          </a:xfrm>
          <a:prstGeom prst="rect">
            <a:avLst/>
          </a:prstGeom>
          <a:solidFill>
            <a:srgbClr val="01A88D"/>
          </a:solidFill>
          <a:ln/>
        </p:spPr>
      </p:sp>
      <p:sp>
        <p:nvSpPr>
          <p:cNvPr id="34" name="Shape 31"/>
          <p:cNvSpPr/>
          <p:nvPr/>
        </p:nvSpPr>
        <p:spPr>
          <a:xfrm>
            <a:off x="6473952" y="4114800"/>
            <a:ext cx="566928" cy="566928"/>
          </a:xfrm>
          <a:prstGeom prst="roundRect">
            <a:avLst>
              <a:gd name="adj" fmla="val 9677"/>
            </a:avLst>
          </a:prstGeom>
          <a:solidFill>
            <a:srgbClr val="01A88D"/>
          </a:solidFill>
          <a:ln/>
        </p:spPr>
      </p:sp>
      <p:sp>
        <p:nvSpPr>
          <p:cNvPr id="35" name="Text 32"/>
          <p:cNvSpPr/>
          <p:nvPr/>
        </p:nvSpPr>
        <p:spPr>
          <a:xfrm>
            <a:off x="6473952" y="41148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ゴシック" pitchFamily="34" charset="0"/>
                <a:ea typeface="BIZ UDPゴシック" pitchFamily="34" charset="-122"/>
                <a:cs typeface="BIZ UDPゴシック" pitchFamily="34" charset="-120"/>
              </a:rPr>
              <a:t>AI</a:t>
            </a:r>
            <a:endParaRPr lang="en-US" sz="1400" dirty="0"/>
          </a:p>
        </p:txBody>
      </p:sp>
      <p:sp>
        <p:nvSpPr>
          <p:cNvPr id="36" name="Text 33"/>
          <p:cNvSpPr/>
          <p:nvPr/>
        </p:nvSpPr>
        <p:spPr>
          <a:xfrm>
            <a:off x="7178040" y="4078224"/>
            <a:ext cx="4297680" cy="329184"/>
          </a:xfrm>
          <a:prstGeom prst="rect">
            <a:avLst/>
          </a:prstGeom>
          <a:noFill/>
          <a:ln/>
        </p:spPr>
        <p:txBody>
          <a:bodyPr wrap="square" lIns="0" tIns="0" rIns="0" bIns="0" rtlCol="0" anchor="t"/>
          <a:lstStyle/>
          <a:p>
            <a:pPr indent="0" marL="0">
              <a:buNone/>
            </a:pPr>
            <a:r>
              <a:rPr lang="en-US" sz="1700" b="1" dirty="0">
                <a:solidFill>
                  <a:srgbClr val="3A2E20"/>
                </a:solidFill>
                <a:latin typeface="BIZ UDPゴシック" pitchFamily="34" charset="0"/>
                <a:ea typeface="BIZ UDPゴシック" pitchFamily="34" charset="-122"/>
                <a:cs typeface="BIZ UDPゴシック" pitchFamily="34" charset="-120"/>
              </a:rPr>
              <a:t>Amazon Bedrock</a:t>
            </a:r>
            <a:endParaRPr lang="en-US" sz="1700" dirty="0"/>
          </a:p>
        </p:txBody>
      </p:sp>
      <p:sp>
        <p:nvSpPr>
          <p:cNvPr id="37" name="Text 34"/>
          <p:cNvSpPr/>
          <p:nvPr/>
        </p:nvSpPr>
        <p:spPr>
          <a:xfrm>
            <a:off x="7178040" y="4407408"/>
            <a:ext cx="4343400" cy="292608"/>
          </a:xfrm>
          <a:prstGeom prst="rect">
            <a:avLst/>
          </a:prstGeom>
          <a:noFill/>
          <a:ln/>
        </p:spPr>
        <p:txBody>
          <a:bodyPr wrap="square" lIns="0" tIns="0" rIns="0" bIns="0" rtlCol="0" anchor="t"/>
          <a:lstStyle/>
          <a:p>
            <a:pPr indent="0" marL="0">
              <a:buNone/>
            </a:pPr>
            <a:r>
              <a:rPr lang="en-US" sz="1150" b="1" dirty="0">
                <a:solidFill>
                  <a:srgbClr val="01A88D"/>
                </a:solidFill>
                <a:latin typeface="BIZ UDPゴシック" pitchFamily="34" charset="0"/>
                <a:ea typeface="BIZ UDPゴシック" pitchFamily="34" charset="-122"/>
                <a:cs typeface="BIZ UDPゴシック" pitchFamily="34" charset="-120"/>
              </a:rPr>
              <a:t>役割：AIによるスポット選定と文章生成</a:t>
            </a:r>
            <a:endParaRPr lang="en-US" sz="1150" dirty="0"/>
          </a:p>
        </p:txBody>
      </p:sp>
      <p:sp>
        <p:nvSpPr>
          <p:cNvPr id="38" name="Text 35"/>
          <p:cNvSpPr/>
          <p:nvPr/>
        </p:nvSpPr>
        <p:spPr>
          <a:xfrm>
            <a:off x="6492240" y="4828032"/>
            <a:ext cx="4983480" cy="132588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モデルは Claude Haiku 4.5（jp. 推論プロファイル）</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候補から巡る場所を選び、ルートのタイトルと解説文を生成</a:t>
            </a:r>
            <a:endParaRPr lang="en-US" sz="1150" dirty="0"/>
          </a:p>
          <a:p>
            <a:pPr marL="177800" indent="-177800">
              <a:lnSpc>
                <a:spcPct val="105000"/>
              </a:lnSpc>
              <a:spcAft>
                <a:spcPts val="3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距離が合わないときは前回の距離を伝えて作り直させる</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01 TECHNIQUE ①</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AIに手順書を作らせ、そのとおりに環境構築</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01 アーキテクチャ＆技術的工夫</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7</a:t>
            </a:r>
            <a:endParaRPr lang="en-US" sz="900" dirty="0"/>
          </a:p>
        </p:txBody>
      </p:sp>
      <p:sp>
        <p:nvSpPr>
          <p:cNvPr id="11" name="Shape 8"/>
          <p:cNvSpPr/>
          <p:nvPr/>
        </p:nvSpPr>
        <p:spPr>
          <a:xfrm>
            <a:off x="914400" y="1828800"/>
            <a:ext cx="0" cy="3291840"/>
          </a:xfrm>
          <a:prstGeom prst="line">
            <a:avLst/>
          </a:prstGeom>
          <a:noFill/>
          <a:ln w="38100">
            <a:solidFill>
              <a:srgbClr val="DCC48A"/>
            </a:solidFill>
            <a:prstDash val="solid"/>
          </a:ln>
        </p:spPr>
      </p:sp>
      <p:sp>
        <p:nvSpPr>
          <p:cNvPr id="12" name="Shape 9"/>
          <p:cNvSpPr/>
          <p:nvPr/>
        </p:nvSpPr>
        <p:spPr>
          <a:xfrm>
            <a:off x="594360" y="1572768"/>
            <a:ext cx="640080" cy="640080"/>
          </a:xfrm>
          <a:prstGeom prst="ellipse">
            <a:avLst/>
          </a:prstGeom>
          <a:solidFill>
            <a:srgbClr val="45356B"/>
          </a:solidFill>
          <a:ln/>
        </p:spPr>
      </p:sp>
      <p:sp>
        <p:nvSpPr>
          <p:cNvPr id="13" name="Text 10"/>
          <p:cNvSpPr/>
          <p:nvPr/>
        </p:nvSpPr>
        <p:spPr>
          <a:xfrm>
            <a:off x="594360" y="157276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4" name="Shape 11"/>
          <p:cNvSpPr/>
          <p:nvPr/>
        </p:nvSpPr>
        <p:spPr>
          <a:xfrm>
            <a:off x="1463040" y="1463040"/>
            <a:ext cx="5120640" cy="914400"/>
          </a:xfrm>
          <a:prstGeom prst="roundRect">
            <a:avLst>
              <a:gd name="adj" fmla="val 8000"/>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5" name="Text 12"/>
          <p:cNvSpPr/>
          <p:nvPr/>
        </p:nvSpPr>
        <p:spPr>
          <a:xfrm>
            <a:off x="1691640" y="1572768"/>
            <a:ext cx="4754880" cy="329184"/>
          </a:xfrm>
          <a:prstGeom prst="rect">
            <a:avLst/>
          </a:prstGeom>
          <a:noFill/>
          <a:ln/>
        </p:spPr>
        <p:txBody>
          <a:bodyPr wrap="square" lIns="0" tIns="0" rIns="0" bIns="0" rtlCol="0" anchor="t"/>
          <a:lstStyle/>
          <a:p>
            <a:pPr indent="0" marL="0">
              <a:buNone/>
            </a:pPr>
            <a:r>
              <a:rPr lang="en-US" sz="1600" b="1" dirty="0">
                <a:solidFill>
                  <a:srgbClr val="45356B"/>
                </a:solidFill>
                <a:latin typeface="BIZ UDPゴシック" pitchFamily="34" charset="0"/>
                <a:ea typeface="BIZ UDPゴシック" pitchFamily="34" charset="-122"/>
                <a:cs typeface="BIZ UDPゴシック" pitchFamily="34" charset="-120"/>
              </a:rPr>
              <a:t>やりたいことをAIに伝える</a:t>
            </a:r>
            <a:endParaRPr lang="en-US" sz="1600" dirty="0"/>
          </a:p>
        </p:txBody>
      </p:sp>
      <p:sp>
        <p:nvSpPr>
          <p:cNvPr id="16" name="Text 13"/>
          <p:cNvSpPr/>
          <p:nvPr/>
        </p:nvSpPr>
        <p:spPr>
          <a:xfrm>
            <a:off x="1691640" y="1920240"/>
            <a:ext cx="4754880" cy="411480"/>
          </a:xfrm>
          <a:prstGeom prst="rect">
            <a:avLst/>
          </a:prstGeom>
          <a:noFill/>
          <a:ln/>
        </p:spPr>
        <p:txBody>
          <a:bodyPr wrap="square" lIns="0" tIns="0" rIns="0" bIns="0" rtlCol="0" anchor="t"/>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「Cognitoでログイン画面を作りたい」など、目的と前提条件を渡す</a:t>
            </a:r>
            <a:endParaRPr lang="en-US" sz="1200" dirty="0"/>
          </a:p>
        </p:txBody>
      </p:sp>
      <p:sp>
        <p:nvSpPr>
          <p:cNvPr id="17" name="Shape 14"/>
          <p:cNvSpPr/>
          <p:nvPr/>
        </p:nvSpPr>
        <p:spPr>
          <a:xfrm>
            <a:off x="594360" y="2743200"/>
            <a:ext cx="640080" cy="640080"/>
          </a:xfrm>
          <a:prstGeom prst="ellipse">
            <a:avLst/>
          </a:prstGeom>
          <a:solidFill>
            <a:srgbClr val="45356B"/>
          </a:solidFill>
          <a:ln/>
        </p:spPr>
      </p:sp>
      <p:sp>
        <p:nvSpPr>
          <p:cNvPr id="18" name="Text 15"/>
          <p:cNvSpPr/>
          <p:nvPr/>
        </p:nvSpPr>
        <p:spPr>
          <a:xfrm>
            <a:off x="594360" y="27432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9" name="Shape 16"/>
          <p:cNvSpPr/>
          <p:nvPr/>
        </p:nvSpPr>
        <p:spPr>
          <a:xfrm>
            <a:off x="1463040" y="2633472"/>
            <a:ext cx="5120640" cy="914400"/>
          </a:xfrm>
          <a:prstGeom prst="roundRect">
            <a:avLst>
              <a:gd name="adj" fmla="val 8000"/>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0" name="Text 17"/>
          <p:cNvSpPr/>
          <p:nvPr/>
        </p:nvSpPr>
        <p:spPr>
          <a:xfrm>
            <a:off x="1691640" y="2743200"/>
            <a:ext cx="4754880" cy="329184"/>
          </a:xfrm>
          <a:prstGeom prst="rect">
            <a:avLst/>
          </a:prstGeom>
          <a:noFill/>
          <a:ln/>
        </p:spPr>
        <p:txBody>
          <a:bodyPr wrap="square" lIns="0" tIns="0" rIns="0" bIns="0" rtlCol="0" anchor="t"/>
          <a:lstStyle/>
          <a:p>
            <a:pPr indent="0" marL="0">
              <a:buNone/>
            </a:pPr>
            <a:r>
              <a:rPr lang="en-US" sz="1600" b="1" dirty="0">
                <a:solidFill>
                  <a:srgbClr val="45356B"/>
                </a:solidFill>
                <a:latin typeface="BIZ UDPゴシック" pitchFamily="34" charset="0"/>
                <a:ea typeface="BIZ UDPゴシック" pitchFamily="34" charset="-122"/>
                <a:cs typeface="BIZ UDPゴシック" pitchFamily="34" charset="-120"/>
              </a:rPr>
              <a:t>AIが手順書を作成</a:t>
            </a:r>
            <a:endParaRPr lang="en-US" sz="1600" dirty="0"/>
          </a:p>
        </p:txBody>
      </p:sp>
      <p:sp>
        <p:nvSpPr>
          <p:cNvPr id="21" name="Text 18"/>
          <p:cNvSpPr/>
          <p:nvPr/>
        </p:nvSpPr>
        <p:spPr>
          <a:xfrm>
            <a:off x="1691640" y="3090672"/>
            <a:ext cx="4754880" cy="411480"/>
          </a:xfrm>
          <a:prstGeom prst="rect">
            <a:avLst/>
          </a:prstGeom>
          <a:noFill/>
          <a:ln/>
        </p:spPr>
        <p:txBody>
          <a:bodyPr wrap="square" lIns="0" tIns="0" rIns="0" bIns="0" rtlCol="0" anchor="t"/>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コンソール操作・コマンド・確認方法までを1本の手順書（HTML）に</a:t>
            </a:r>
            <a:endParaRPr lang="en-US" sz="1200" dirty="0"/>
          </a:p>
        </p:txBody>
      </p:sp>
      <p:sp>
        <p:nvSpPr>
          <p:cNvPr id="22" name="Shape 19"/>
          <p:cNvSpPr/>
          <p:nvPr/>
        </p:nvSpPr>
        <p:spPr>
          <a:xfrm>
            <a:off x="594360" y="3913632"/>
            <a:ext cx="640080" cy="640080"/>
          </a:xfrm>
          <a:prstGeom prst="ellipse">
            <a:avLst/>
          </a:prstGeom>
          <a:solidFill>
            <a:srgbClr val="45356B"/>
          </a:solidFill>
          <a:ln/>
        </p:spPr>
      </p:sp>
      <p:sp>
        <p:nvSpPr>
          <p:cNvPr id="23" name="Text 20"/>
          <p:cNvSpPr/>
          <p:nvPr/>
        </p:nvSpPr>
        <p:spPr>
          <a:xfrm>
            <a:off x="594360" y="391363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24" name="Shape 21"/>
          <p:cNvSpPr/>
          <p:nvPr/>
        </p:nvSpPr>
        <p:spPr>
          <a:xfrm>
            <a:off x="1463040" y="3803904"/>
            <a:ext cx="5120640" cy="914400"/>
          </a:xfrm>
          <a:prstGeom prst="roundRect">
            <a:avLst>
              <a:gd name="adj" fmla="val 8000"/>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5" name="Text 22"/>
          <p:cNvSpPr/>
          <p:nvPr/>
        </p:nvSpPr>
        <p:spPr>
          <a:xfrm>
            <a:off x="1691640" y="3913632"/>
            <a:ext cx="4754880" cy="329184"/>
          </a:xfrm>
          <a:prstGeom prst="rect">
            <a:avLst/>
          </a:prstGeom>
          <a:noFill/>
          <a:ln/>
        </p:spPr>
        <p:txBody>
          <a:bodyPr wrap="square" lIns="0" tIns="0" rIns="0" bIns="0" rtlCol="0" anchor="t"/>
          <a:lstStyle/>
          <a:p>
            <a:pPr indent="0" marL="0">
              <a:buNone/>
            </a:pPr>
            <a:r>
              <a:rPr lang="en-US" sz="1600" b="1" dirty="0">
                <a:solidFill>
                  <a:srgbClr val="45356B"/>
                </a:solidFill>
                <a:latin typeface="BIZ UDPゴシック" pitchFamily="34" charset="0"/>
                <a:ea typeface="BIZ UDPゴシック" pitchFamily="34" charset="-122"/>
                <a:cs typeface="BIZ UDPゴシック" pitchFamily="34" charset="-120"/>
              </a:rPr>
              <a:t>手順書どおりに構築</a:t>
            </a:r>
            <a:endParaRPr lang="en-US" sz="1600" dirty="0"/>
          </a:p>
        </p:txBody>
      </p:sp>
      <p:sp>
        <p:nvSpPr>
          <p:cNvPr id="26" name="Text 23"/>
          <p:cNvSpPr/>
          <p:nvPr/>
        </p:nvSpPr>
        <p:spPr>
          <a:xfrm>
            <a:off x="1691640" y="4261104"/>
            <a:ext cx="4754880" cy="411480"/>
          </a:xfrm>
          <a:prstGeom prst="rect">
            <a:avLst/>
          </a:prstGeom>
          <a:noFill/>
          <a:ln/>
        </p:spPr>
        <p:txBody>
          <a:bodyPr wrap="square" lIns="0" tIns="0" rIns="0" bIns="0" rtlCol="0" anchor="t"/>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1ステップずつ実行し、結果を確かめながら進める</a:t>
            </a:r>
            <a:endParaRPr lang="en-US" sz="1200" dirty="0"/>
          </a:p>
        </p:txBody>
      </p:sp>
      <p:sp>
        <p:nvSpPr>
          <p:cNvPr id="27" name="Shape 24"/>
          <p:cNvSpPr/>
          <p:nvPr/>
        </p:nvSpPr>
        <p:spPr>
          <a:xfrm>
            <a:off x="594360" y="5084064"/>
            <a:ext cx="640080" cy="640080"/>
          </a:xfrm>
          <a:prstGeom prst="ellipse">
            <a:avLst/>
          </a:prstGeom>
          <a:solidFill>
            <a:srgbClr val="45356B"/>
          </a:solidFill>
          <a:ln/>
        </p:spPr>
      </p:sp>
      <p:sp>
        <p:nvSpPr>
          <p:cNvPr id="28" name="Text 25"/>
          <p:cNvSpPr/>
          <p:nvPr/>
        </p:nvSpPr>
        <p:spPr>
          <a:xfrm>
            <a:off x="594360" y="5084064"/>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9" name="Shape 26"/>
          <p:cNvSpPr/>
          <p:nvPr/>
        </p:nvSpPr>
        <p:spPr>
          <a:xfrm>
            <a:off x="1463040" y="4974336"/>
            <a:ext cx="5120640" cy="914400"/>
          </a:xfrm>
          <a:prstGeom prst="roundRect">
            <a:avLst>
              <a:gd name="adj" fmla="val 8000"/>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0" name="Text 27"/>
          <p:cNvSpPr/>
          <p:nvPr/>
        </p:nvSpPr>
        <p:spPr>
          <a:xfrm>
            <a:off x="1691640" y="5084064"/>
            <a:ext cx="4754880" cy="329184"/>
          </a:xfrm>
          <a:prstGeom prst="rect">
            <a:avLst/>
          </a:prstGeom>
          <a:noFill/>
          <a:ln/>
        </p:spPr>
        <p:txBody>
          <a:bodyPr wrap="square" lIns="0" tIns="0" rIns="0" bIns="0" rtlCol="0" anchor="t"/>
          <a:lstStyle/>
          <a:p>
            <a:pPr indent="0" marL="0">
              <a:buNone/>
            </a:pPr>
            <a:r>
              <a:rPr lang="en-US" sz="1600" b="1" dirty="0">
                <a:solidFill>
                  <a:srgbClr val="45356B"/>
                </a:solidFill>
                <a:latin typeface="BIZ UDPゴシック" pitchFamily="34" charset="0"/>
                <a:ea typeface="BIZ UDPゴシック" pitchFamily="34" charset="-122"/>
                <a:cs typeface="BIZ UDPゴシック" pitchFamily="34" charset="-120"/>
              </a:rPr>
              <a:t>手順書を資料として残す</a:t>
            </a:r>
            <a:endParaRPr lang="en-US" sz="1600" dirty="0"/>
          </a:p>
        </p:txBody>
      </p:sp>
      <p:sp>
        <p:nvSpPr>
          <p:cNvPr id="31" name="Text 28"/>
          <p:cNvSpPr/>
          <p:nvPr/>
        </p:nvSpPr>
        <p:spPr>
          <a:xfrm>
            <a:off x="1691640" y="5431536"/>
            <a:ext cx="4754880" cy="411480"/>
          </a:xfrm>
          <a:prstGeom prst="rect">
            <a:avLst/>
          </a:prstGeom>
          <a:noFill/>
          <a:ln/>
        </p:spPr>
        <p:txBody>
          <a:bodyPr wrap="square" lIns="0" tIns="0" rIns="0" bIns="0" rtlCol="0" anchor="t"/>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チームで共有し、同じ構築を誰でも再現できるようにする</a:t>
            </a:r>
            <a:endParaRPr lang="en-US" sz="1200" dirty="0"/>
          </a:p>
        </p:txBody>
      </p:sp>
      <p:sp>
        <p:nvSpPr>
          <p:cNvPr id="32" name="Shape 29"/>
          <p:cNvSpPr/>
          <p:nvPr/>
        </p:nvSpPr>
        <p:spPr>
          <a:xfrm>
            <a:off x="6949440" y="1463040"/>
            <a:ext cx="4690872" cy="2423160"/>
          </a:xfrm>
          <a:prstGeom prst="roundRect">
            <a:avLst>
              <a:gd name="adj" fmla="val 3019"/>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3" name="Text 30"/>
          <p:cNvSpPr/>
          <p:nvPr/>
        </p:nvSpPr>
        <p:spPr>
          <a:xfrm>
            <a:off x="7178040" y="1600200"/>
            <a:ext cx="4297680" cy="320040"/>
          </a:xfrm>
          <a:prstGeom prst="rect">
            <a:avLst/>
          </a:prstGeom>
          <a:noFill/>
          <a:ln/>
        </p:spPr>
        <p:txBody>
          <a:bodyPr wrap="square" lIns="0" tIns="0" rIns="0" bIns="0" rtlCol="0" anchor="t"/>
          <a:lstStyle/>
          <a:p>
            <a:pPr indent="0" marL="0">
              <a:buNone/>
            </a:pPr>
            <a:r>
              <a:rPr lang="en-US" sz="1400" b="1" dirty="0">
                <a:solidFill>
                  <a:srgbClr val="45356B"/>
                </a:solidFill>
                <a:latin typeface="BIZ UDPゴシック" pitchFamily="34" charset="0"/>
                <a:ea typeface="BIZ UDPゴシック" pitchFamily="34" charset="-122"/>
                <a:cs typeface="BIZ UDPゴシック" pitchFamily="34" charset="-120"/>
              </a:rPr>
              <a:t>実際に作った手順書・解説（docs/）</a:t>
            </a:r>
            <a:endParaRPr lang="en-US" sz="1400" dirty="0"/>
          </a:p>
        </p:txBody>
      </p:sp>
      <p:sp>
        <p:nvSpPr>
          <p:cNvPr id="34" name="Shape 31"/>
          <p:cNvSpPr/>
          <p:nvPr/>
        </p:nvSpPr>
        <p:spPr>
          <a:xfrm>
            <a:off x="7223760" y="2093976"/>
            <a:ext cx="292608" cy="365760"/>
          </a:xfrm>
          <a:prstGeom prst="rect">
            <a:avLst/>
          </a:prstGeom>
          <a:solidFill>
            <a:srgbClr val="FFFFFF"/>
          </a:solidFill>
          <a:ln w="15875">
            <a:solidFill>
              <a:srgbClr val="B8862B"/>
            </a:solidFill>
            <a:prstDash val="solid"/>
          </a:ln>
        </p:spPr>
      </p:sp>
      <p:sp>
        <p:nvSpPr>
          <p:cNvPr id="35" name="Shape 32"/>
          <p:cNvSpPr/>
          <p:nvPr/>
        </p:nvSpPr>
        <p:spPr>
          <a:xfrm>
            <a:off x="7278624" y="2185416"/>
            <a:ext cx="182880" cy="27432"/>
          </a:xfrm>
          <a:prstGeom prst="rect">
            <a:avLst/>
          </a:prstGeom>
          <a:solidFill>
            <a:srgbClr val="B8862B"/>
          </a:solidFill>
          <a:ln/>
        </p:spPr>
      </p:sp>
      <p:sp>
        <p:nvSpPr>
          <p:cNvPr id="36" name="Shape 33"/>
          <p:cNvSpPr/>
          <p:nvPr/>
        </p:nvSpPr>
        <p:spPr>
          <a:xfrm>
            <a:off x="7278624" y="2258568"/>
            <a:ext cx="182880" cy="27432"/>
          </a:xfrm>
          <a:prstGeom prst="rect">
            <a:avLst/>
          </a:prstGeom>
          <a:solidFill>
            <a:srgbClr val="B8862B"/>
          </a:solidFill>
          <a:ln/>
        </p:spPr>
      </p:sp>
      <p:sp>
        <p:nvSpPr>
          <p:cNvPr id="37" name="Shape 34"/>
          <p:cNvSpPr/>
          <p:nvPr/>
        </p:nvSpPr>
        <p:spPr>
          <a:xfrm>
            <a:off x="7278624" y="2331720"/>
            <a:ext cx="128016" cy="27432"/>
          </a:xfrm>
          <a:prstGeom prst="rect">
            <a:avLst/>
          </a:prstGeom>
          <a:solidFill>
            <a:srgbClr val="B8862B"/>
          </a:solidFill>
          <a:ln/>
        </p:spPr>
      </p:sp>
      <p:sp>
        <p:nvSpPr>
          <p:cNvPr id="38" name="Text 35"/>
          <p:cNvSpPr/>
          <p:nvPr/>
        </p:nvSpPr>
        <p:spPr>
          <a:xfrm>
            <a:off x="7635240" y="2057400"/>
            <a:ext cx="3931920" cy="438912"/>
          </a:xfrm>
          <a:prstGeom prst="rect">
            <a:avLst/>
          </a:prstGeom>
          <a:noFill/>
          <a:ln/>
        </p:spPr>
        <p:txBody>
          <a:bodyPr wrap="square" lIns="0" tIns="0" rIns="0" bIns="0" rtlCol="0" anchor="ctr"/>
          <a:lstStyle/>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Cognitoログイン画面_構築手順書.html</a:t>
            </a:r>
            <a:endParaRPr lang="en-US" sz="1250" dirty="0"/>
          </a:p>
        </p:txBody>
      </p:sp>
      <p:sp>
        <p:nvSpPr>
          <p:cNvPr id="39" name="Shape 36"/>
          <p:cNvSpPr/>
          <p:nvPr/>
        </p:nvSpPr>
        <p:spPr>
          <a:xfrm>
            <a:off x="7223760" y="2660904"/>
            <a:ext cx="292608" cy="365760"/>
          </a:xfrm>
          <a:prstGeom prst="rect">
            <a:avLst/>
          </a:prstGeom>
          <a:solidFill>
            <a:srgbClr val="FFFFFF"/>
          </a:solidFill>
          <a:ln w="15875">
            <a:solidFill>
              <a:srgbClr val="B8862B"/>
            </a:solidFill>
            <a:prstDash val="solid"/>
          </a:ln>
        </p:spPr>
      </p:sp>
      <p:sp>
        <p:nvSpPr>
          <p:cNvPr id="40" name="Shape 37"/>
          <p:cNvSpPr/>
          <p:nvPr/>
        </p:nvSpPr>
        <p:spPr>
          <a:xfrm>
            <a:off x="7278624" y="2752344"/>
            <a:ext cx="182880" cy="27432"/>
          </a:xfrm>
          <a:prstGeom prst="rect">
            <a:avLst/>
          </a:prstGeom>
          <a:solidFill>
            <a:srgbClr val="B8862B"/>
          </a:solidFill>
          <a:ln/>
        </p:spPr>
      </p:sp>
      <p:sp>
        <p:nvSpPr>
          <p:cNvPr id="41" name="Shape 38"/>
          <p:cNvSpPr/>
          <p:nvPr/>
        </p:nvSpPr>
        <p:spPr>
          <a:xfrm>
            <a:off x="7278624" y="2825496"/>
            <a:ext cx="182880" cy="27432"/>
          </a:xfrm>
          <a:prstGeom prst="rect">
            <a:avLst/>
          </a:prstGeom>
          <a:solidFill>
            <a:srgbClr val="B8862B"/>
          </a:solidFill>
          <a:ln/>
        </p:spPr>
      </p:sp>
      <p:sp>
        <p:nvSpPr>
          <p:cNvPr id="42" name="Shape 39"/>
          <p:cNvSpPr/>
          <p:nvPr/>
        </p:nvSpPr>
        <p:spPr>
          <a:xfrm>
            <a:off x="7278624" y="2898648"/>
            <a:ext cx="128016" cy="27432"/>
          </a:xfrm>
          <a:prstGeom prst="rect">
            <a:avLst/>
          </a:prstGeom>
          <a:solidFill>
            <a:srgbClr val="B8862B"/>
          </a:solidFill>
          <a:ln/>
        </p:spPr>
      </p:sp>
      <p:sp>
        <p:nvSpPr>
          <p:cNvPr id="43" name="Text 40"/>
          <p:cNvSpPr/>
          <p:nvPr/>
        </p:nvSpPr>
        <p:spPr>
          <a:xfrm>
            <a:off x="7635240" y="2624328"/>
            <a:ext cx="3931920" cy="438912"/>
          </a:xfrm>
          <a:prstGeom prst="rect">
            <a:avLst/>
          </a:prstGeom>
          <a:noFill/>
          <a:ln/>
        </p:spPr>
        <p:txBody>
          <a:bodyPr wrap="square" lIns="0" tIns="0" rIns="0" bIns="0" rtlCol="0" anchor="ctr"/>
          <a:lstStyle/>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NZ-84_CICDの解説.html</a:t>
            </a:r>
            <a:endParaRPr lang="en-US" sz="1250" dirty="0"/>
          </a:p>
        </p:txBody>
      </p:sp>
      <p:sp>
        <p:nvSpPr>
          <p:cNvPr id="44" name="Shape 41"/>
          <p:cNvSpPr/>
          <p:nvPr/>
        </p:nvSpPr>
        <p:spPr>
          <a:xfrm>
            <a:off x="7223760" y="3227832"/>
            <a:ext cx="292608" cy="365760"/>
          </a:xfrm>
          <a:prstGeom prst="rect">
            <a:avLst/>
          </a:prstGeom>
          <a:solidFill>
            <a:srgbClr val="FFFFFF"/>
          </a:solidFill>
          <a:ln w="15875">
            <a:solidFill>
              <a:srgbClr val="B8862B"/>
            </a:solidFill>
            <a:prstDash val="solid"/>
          </a:ln>
        </p:spPr>
      </p:sp>
      <p:sp>
        <p:nvSpPr>
          <p:cNvPr id="45" name="Shape 42"/>
          <p:cNvSpPr/>
          <p:nvPr/>
        </p:nvSpPr>
        <p:spPr>
          <a:xfrm>
            <a:off x="7278624" y="3319272"/>
            <a:ext cx="182880" cy="27432"/>
          </a:xfrm>
          <a:prstGeom prst="rect">
            <a:avLst/>
          </a:prstGeom>
          <a:solidFill>
            <a:srgbClr val="B8862B"/>
          </a:solidFill>
          <a:ln/>
        </p:spPr>
      </p:sp>
      <p:sp>
        <p:nvSpPr>
          <p:cNvPr id="46" name="Shape 43"/>
          <p:cNvSpPr/>
          <p:nvPr/>
        </p:nvSpPr>
        <p:spPr>
          <a:xfrm>
            <a:off x="7278624" y="3392424"/>
            <a:ext cx="182880" cy="27432"/>
          </a:xfrm>
          <a:prstGeom prst="rect">
            <a:avLst/>
          </a:prstGeom>
          <a:solidFill>
            <a:srgbClr val="B8862B"/>
          </a:solidFill>
          <a:ln/>
        </p:spPr>
      </p:sp>
      <p:sp>
        <p:nvSpPr>
          <p:cNvPr id="47" name="Shape 44"/>
          <p:cNvSpPr/>
          <p:nvPr/>
        </p:nvSpPr>
        <p:spPr>
          <a:xfrm>
            <a:off x="7278624" y="3465576"/>
            <a:ext cx="128016" cy="27432"/>
          </a:xfrm>
          <a:prstGeom prst="rect">
            <a:avLst/>
          </a:prstGeom>
          <a:solidFill>
            <a:srgbClr val="B8862B"/>
          </a:solidFill>
          <a:ln/>
        </p:spPr>
      </p:sp>
      <p:sp>
        <p:nvSpPr>
          <p:cNvPr id="48" name="Text 45"/>
          <p:cNvSpPr/>
          <p:nvPr/>
        </p:nvSpPr>
        <p:spPr>
          <a:xfrm>
            <a:off x="7635240" y="3191256"/>
            <a:ext cx="3931920" cy="438912"/>
          </a:xfrm>
          <a:prstGeom prst="rect">
            <a:avLst/>
          </a:prstGeom>
          <a:noFill/>
          <a:ln/>
        </p:spPr>
        <p:txBody>
          <a:bodyPr wrap="square" lIns="0" tIns="0" rIns="0" bIns="0" rtlCol="0" anchor="ctr"/>
          <a:lstStyle/>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設計書.md ／ 仕様書.md</a:t>
            </a:r>
            <a:endParaRPr lang="en-US" sz="1250" dirty="0"/>
          </a:p>
        </p:txBody>
      </p:sp>
      <p:sp>
        <p:nvSpPr>
          <p:cNvPr id="49" name="Shape 46"/>
          <p:cNvSpPr/>
          <p:nvPr/>
        </p:nvSpPr>
        <p:spPr>
          <a:xfrm>
            <a:off x="6949440" y="4069080"/>
            <a:ext cx="4690872" cy="2103120"/>
          </a:xfrm>
          <a:prstGeom prst="roundRect">
            <a:avLst>
              <a:gd name="adj" fmla="val 3478"/>
            </a:avLst>
          </a:prstGeom>
          <a:solidFill>
            <a:srgbClr val="E4EFE8"/>
          </a:solidFill>
          <a:ln w="15875">
            <a:solidFill>
              <a:srgbClr val="3F7A5C"/>
            </a:solidFill>
            <a:prstDash val="solid"/>
          </a:ln>
          <a:effectLst>
            <a:outerShdw sx="100000" sy="100000" kx="0" ky="0" algn="bl" rotWithShape="0" blurRad="101600" dist="38100" dir="2700000">
              <a:srgbClr val="5C4430">
                <a:alpha val="30000"/>
              </a:srgbClr>
            </a:outerShdw>
          </a:effectLst>
        </p:spPr>
      </p:sp>
      <p:sp>
        <p:nvSpPr>
          <p:cNvPr id="50" name="Text 47"/>
          <p:cNvSpPr/>
          <p:nvPr/>
        </p:nvSpPr>
        <p:spPr>
          <a:xfrm>
            <a:off x="7178040" y="4206240"/>
            <a:ext cx="3657600" cy="320040"/>
          </a:xfrm>
          <a:prstGeom prst="rect">
            <a:avLst/>
          </a:prstGeom>
          <a:noFill/>
          <a:ln/>
        </p:spPr>
        <p:txBody>
          <a:bodyPr wrap="square" lIns="0" tIns="0" rIns="0" bIns="0" rtlCol="0" anchor="t"/>
          <a:lstStyle/>
          <a:p>
            <a:pPr indent="0" marL="0">
              <a:buNone/>
            </a:pPr>
            <a:r>
              <a:rPr lang="en-US" sz="1400" b="1" dirty="0">
                <a:solidFill>
                  <a:srgbClr val="3F7A5C"/>
                </a:solidFill>
                <a:latin typeface="BIZ UDPゴシック" pitchFamily="34" charset="0"/>
                <a:ea typeface="BIZ UDPゴシック" pitchFamily="34" charset="-122"/>
                <a:cs typeface="BIZ UDPゴシック" pitchFamily="34" charset="-120"/>
              </a:rPr>
              <a:t>効果</a:t>
            </a:r>
            <a:endParaRPr lang="en-US" sz="1400" dirty="0"/>
          </a:p>
        </p:txBody>
      </p:sp>
      <p:sp>
        <p:nvSpPr>
          <p:cNvPr id="51" name="Text 48"/>
          <p:cNvSpPr/>
          <p:nvPr/>
        </p:nvSpPr>
        <p:spPr>
          <a:xfrm>
            <a:off x="7178040" y="4617720"/>
            <a:ext cx="4297680" cy="146304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350" dirty="0">
                <a:solidFill>
                  <a:srgbClr val="3A2E20"/>
                </a:solidFill>
                <a:latin typeface="BIZ UDPゴシック" pitchFamily="34" charset="0"/>
                <a:ea typeface="BIZ UDPゴシック" pitchFamily="34" charset="-122"/>
                <a:cs typeface="BIZ UDPゴシック" pitchFamily="34" charset="-120"/>
              </a:rPr>
              <a:t>初めてのAWSでも手が止まらない</a:t>
            </a:r>
            <a:endParaRPr lang="en-US" sz="1350" dirty="0"/>
          </a:p>
          <a:p>
            <a:pPr marL="177800" indent="-177800">
              <a:lnSpc>
                <a:spcPct val="105000"/>
              </a:lnSpc>
              <a:spcAft>
                <a:spcPts val="800"/>
              </a:spcAft>
              <a:buSzPct val="100000"/>
              <a:buChar char="•"/>
            </a:pPr>
            <a:r>
              <a:rPr lang="en-US" sz="1350" dirty="0">
                <a:solidFill>
                  <a:srgbClr val="3A2E20"/>
                </a:solidFill>
                <a:latin typeface="BIZ UDPゴシック" pitchFamily="34" charset="0"/>
                <a:ea typeface="BIZ UDPゴシック" pitchFamily="34" charset="-122"/>
                <a:cs typeface="BIZ UDPゴシック" pitchFamily="34" charset="-120"/>
              </a:rPr>
              <a:t>誰がやっても同じ手順で再現できる</a:t>
            </a:r>
            <a:endParaRPr lang="en-US" sz="1350" dirty="0"/>
          </a:p>
          <a:p>
            <a:pPr marL="177800" indent="-177800">
              <a:lnSpc>
                <a:spcPct val="105000"/>
              </a:lnSpc>
              <a:spcAft>
                <a:spcPts val="800"/>
              </a:spcAft>
              <a:buSzPct val="100000"/>
              <a:buChar char="•"/>
            </a:pPr>
            <a:r>
              <a:rPr lang="en-US" sz="1350" dirty="0">
                <a:solidFill>
                  <a:srgbClr val="3A2E20"/>
                </a:solidFill>
                <a:latin typeface="BIZ UDPゴシック" pitchFamily="34" charset="0"/>
                <a:ea typeface="BIZ UDPゴシック" pitchFamily="34" charset="-122"/>
                <a:cs typeface="BIZ UDPゴシック" pitchFamily="34" charset="-120"/>
              </a:rPr>
              <a:t>手順書がそのままチームの資料になる</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01 TECHNIQUE ②</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AIに前提条件を渡す ― 指示文を md 形式で管理</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01 アーキテクチャ＆技術的工夫</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8</a:t>
            </a:r>
            <a:endParaRPr lang="en-US" sz="900" dirty="0"/>
          </a:p>
        </p:txBody>
      </p:sp>
      <p:sp>
        <p:nvSpPr>
          <p:cNvPr id="11" name="Shape 8"/>
          <p:cNvSpPr/>
          <p:nvPr/>
        </p:nvSpPr>
        <p:spPr>
          <a:xfrm>
            <a:off x="548640" y="1463040"/>
            <a:ext cx="5760720" cy="4709160"/>
          </a:xfrm>
          <a:prstGeom prst="roundRect">
            <a:avLst>
              <a:gd name="adj" fmla="val 155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2" name="Shape 9"/>
          <p:cNvSpPr/>
          <p:nvPr/>
        </p:nvSpPr>
        <p:spPr>
          <a:xfrm>
            <a:off x="548640" y="1463040"/>
            <a:ext cx="5760720" cy="457200"/>
          </a:xfrm>
          <a:prstGeom prst="rect">
            <a:avLst/>
          </a:prstGeom>
          <a:solidFill>
            <a:srgbClr val="45356B"/>
          </a:solidFill>
          <a:ln/>
        </p:spPr>
      </p:sp>
      <p:sp>
        <p:nvSpPr>
          <p:cNvPr id="13" name="Text 10"/>
          <p:cNvSpPr/>
          <p:nvPr/>
        </p:nvSpPr>
        <p:spPr>
          <a:xfrm>
            <a:off x="731520" y="1463040"/>
            <a:ext cx="5486400" cy="457200"/>
          </a:xfrm>
          <a:prstGeom prst="rect">
            <a:avLst/>
          </a:prstGeom>
          <a:noFill/>
          <a:ln/>
        </p:spPr>
        <p:txBody>
          <a:bodyPr wrap="square" lIns="0" tIns="0" rIns="0" bIns="0" rtlCol="0" anchor="ctr"/>
          <a:lstStyle/>
          <a:p>
            <a:pP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.kiro/steering/　（AIが毎回読む前提条件）</a:t>
            </a:r>
            <a:endParaRPr lang="en-US" sz="1300" dirty="0"/>
          </a:p>
        </p:txBody>
      </p:sp>
      <p:sp>
        <p:nvSpPr>
          <p:cNvPr id="14" name="Shape 11"/>
          <p:cNvSpPr/>
          <p:nvPr/>
        </p:nvSpPr>
        <p:spPr>
          <a:xfrm>
            <a:off x="640080" y="2011680"/>
            <a:ext cx="5577840" cy="420624"/>
          </a:xfrm>
          <a:prstGeom prst="rect">
            <a:avLst/>
          </a:prstGeom>
          <a:solidFill>
            <a:srgbClr val="F6EBCF"/>
          </a:solidFill>
          <a:ln/>
        </p:spPr>
      </p:sp>
      <p:sp>
        <p:nvSpPr>
          <p:cNvPr id="15" name="Text 12"/>
          <p:cNvSpPr/>
          <p:nvPr/>
        </p:nvSpPr>
        <p:spPr>
          <a:xfrm>
            <a:off x="777240" y="2029968"/>
            <a:ext cx="2788920" cy="384048"/>
          </a:xfrm>
          <a:prstGeom prst="rect">
            <a:avLst/>
          </a:prstGeom>
          <a:noFill/>
          <a:ln/>
        </p:spPr>
        <p:txBody>
          <a:bodyPr wrap="square" lIns="0" tIns="0" rIns="0" bIns="0" rtlCol="0" anchor="ctr"/>
          <a:lstStyle/>
          <a:p>
            <a:pPr indent="0" marL="0">
              <a:buNone/>
            </a:pPr>
            <a:r>
              <a:rPr lang="en-US" sz="1100" b="1" dirty="0">
                <a:solidFill>
                  <a:srgbClr val="45356B"/>
                </a:solidFill>
                <a:latin typeface="BIZ UDPゴシック" pitchFamily="34" charset="0"/>
                <a:ea typeface="BIZ UDPゴシック" pitchFamily="34" charset="-122"/>
                <a:cs typeface="BIZ UDPゴシック" pitchFamily="34" charset="-120"/>
              </a:rPr>
              <a:t>ミチシル_前提条件.md</a:t>
            </a:r>
            <a:endParaRPr lang="en-US" sz="1100" dirty="0"/>
          </a:p>
        </p:txBody>
      </p:sp>
      <p:sp>
        <p:nvSpPr>
          <p:cNvPr id="16" name="Text 13"/>
          <p:cNvSpPr/>
          <p:nvPr/>
        </p:nvSpPr>
        <p:spPr>
          <a:xfrm>
            <a:off x="3611880" y="2029968"/>
            <a:ext cx="2606040" cy="384048"/>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システム構成・ユーザーストーリー</a:t>
            </a:r>
            <a:endParaRPr lang="en-US" sz="1150" dirty="0"/>
          </a:p>
        </p:txBody>
      </p:sp>
      <p:sp>
        <p:nvSpPr>
          <p:cNvPr id="17" name="Text 14"/>
          <p:cNvSpPr/>
          <p:nvPr/>
        </p:nvSpPr>
        <p:spPr>
          <a:xfrm>
            <a:off x="777240" y="2487168"/>
            <a:ext cx="2788920" cy="384048"/>
          </a:xfrm>
          <a:prstGeom prst="rect">
            <a:avLst/>
          </a:prstGeom>
          <a:noFill/>
          <a:ln/>
        </p:spPr>
        <p:txBody>
          <a:bodyPr wrap="square" lIns="0" tIns="0" rIns="0" bIns="0" rtlCol="0" anchor="ctr"/>
          <a:lstStyle/>
          <a:p>
            <a:pPr indent="0" marL="0">
              <a:buNone/>
            </a:pPr>
            <a:r>
              <a:rPr lang="en-US" sz="1100" b="1" dirty="0">
                <a:solidFill>
                  <a:srgbClr val="45356B"/>
                </a:solidFill>
                <a:latin typeface="Consolas" pitchFamily="34" charset="0"/>
                <a:ea typeface="Consolas" pitchFamily="34" charset="-122"/>
                <a:cs typeface="Consolas" pitchFamily="34" charset="-120"/>
              </a:rPr>
              <a:t>naming-conventions.md</a:t>
            </a:r>
            <a:endParaRPr lang="en-US" sz="1100" dirty="0"/>
          </a:p>
        </p:txBody>
      </p:sp>
      <p:sp>
        <p:nvSpPr>
          <p:cNvPr id="18" name="Text 15"/>
          <p:cNvSpPr/>
          <p:nvPr/>
        </p:nvSpPr>
        <p:spPr>
          <a:xfrm>
            <a:off x="3611880" y="2487168"/>
            <a:ext cx="2606040" cy="384048"/>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命名規則</a:t>
            </a:r>
            <a:endParaRPr lang="en-US" sz="1150" dirty="0"/>
          </a:p>
        </p:txBody>
      </p:sp>
      <p:sp>
        <p:nvSpPr>
          <p:cNvPr id="19" name="Shape 16"/>
          <p:cNvSpPr/>
          <p:nvPr/>
        </p:nvSpPr>
        <p:spPr>
          <a:xfrm>
            <a:off x="640080" y="2926080"/>
            <a:ext cx="5577840" cy="420624"/>
          </a:xfrm>
          <a:prstGeom prst="rect">
            <a:avLst/>
          </a:prstGeom>
          <a:solidFill>
            <a:srgbClr val="F6EBCF"/>
          </a:solidFill>
          <a:ln/>
        </p:spPr>
      </p:sp>
      <p:sp>
        <p:nvSpPr>
          <p:cNvPr id="20" name="Text 17"/>
          <p:cNvSpPr/>
          <p:nvPr/>
        </p:nvSpPr>
        <p:spPr>
          <a:xfrm>
            <a:off x="777240" y="2944368"/>
            <a:ext cx="2788920" cy="384048"/>
          </a:xfrm>
          <a:prstGeom prst="rect">
            <a:avLst/>
          </a:prstGeom>
          <a:noFill/>
          <a:ln/>
        </p:spPr>
        <p:txBody>
          <a:bodyPr wrap="square" lIns="0" tIns="0" rIns="0" bIns="0" rtlCol="0" anchor="ctr"/>
          <a:lstStyle/>
          <a:p>
            <a:pPr indent="0" marL="0">
              <a:buNone/>
            </a:pPr>
            <a:r>
              <a:rPr lang="en-US" sz="1100" b="1" dirty="0">
                <a:solidFill>
                  <a:srgbClr val="45356B"/>
                </a:solidFill>
                <a:latin typeface="Consolas" pitchFamily="34" charset="0"/>
                <a:ea typeface="Consolas" pitchFamily="34" charset="-122"/>
                <a:cs typeface="Consolas" pitchFamily="34" charset="-120"/>
              </a:rPr>
              <a:t>naming-glossary.md</a:t>
            </a:r>
            <a:endParaRPr lang="en-US" sz="1100" dirty="0"/>
          </a:p>
        </p:txBody>
      </p:sp>
      <p:sp>
        <p:nvSpPr>
          <p:cNvPr id="21" name="Text 18"/>
          <p:cNvSpPr/>
          <p:nvPr/>
        </p:nvSpPr>
        <p:spPr>
          <a:xfrm>
            <a:off x="3611880" y="2944368"/>
            <a:ext cx="2606040" cy="384048"/>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用語辞書（spot / waypoint など）</a:t>
            </a:r>
            <a:endParaRPr lang="en-US" sz="1150" dirty="0"/>
          </a:p>
        </p:txBody>
      </p:sp>
      <p:sp>
        <p:nvSpPr>
          <p:cNvPr id="22" name="Text 19"/>
          <p:cNvSpPr/>
          <p:nvPr/>
        </p:nvSpPr>
        <p:spPr>
          <a:xfrm>
            <a:off x="777240" y="3401568"/>
            <a:ext cx="2788920" cy="384048"/>
          </a:xfrm>
          <a:prstGeom prst="rect">
            <a:avLst/>
          </a:prstGeom>
          <a:noFill/>
          <a:ln/>
        </p:spPr>
        <p:txBody>
          <a:bodyPr wrap="square" lIns="0" tIns="0" rIns="0" bIns="0" rtlCol="0" anchor="ctr"/>
          <a:lstStyle/>
          <a:p>
            <a:pPr indent="0" marL="0">
              <a:buNone/>
            </a:pPr>
            <a:r>
              <a:rPr lang="en-US" sz="1100" b="1" dirty="0">
                <a:solidFill>
                  <a:srgbClr val="45356B"/>
                </a:solidFill>
                <a:latin typeface="BIZ UDPゴシック" pitchFamily="34" charset="0"/>
                <a:ea typeface="BIZ UDPゴシック" pitchFamily="34" charset="-122"/>
                <a:cs typeface="BIZ UDPゴシック" pitchFamily="34" charset="-120"/>
              </a:rPr>
              <a:t>back-*.md（3ファイル）</a:t>
            </a:r>
            <a:endParaRPr lang="en-US" sz="1100" dirty="0"/>
          </a:p>
        </p:txBody>
      </p:sp>
      <p:sp>
        <p:nvSpPr>
          <p:cNvPr id="23" name="Text 20"/>
          <p:cNvSpPr/>
          <p:nvPr/>
        </p:nvSpPr>
        <p:spPr>
          <a:xfrm>
            <a:off x="3611880" y="3401568"/>
            <a:ext cx="2606040" cy="384048"/>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バックエンドの層・Lambda・DB</a:t>
            </a:r>
            <a:endParaRPr lang="en-US" sz="1150" dirty="0"/>
          </a:p>
        </p:txBody>
      </p:sp>
      <p:sp>
        <p:nvSpPr>
          <p:cNvPr id="24" name="Shape 21"/>
          <p:cNvSpPr/>
          <p:nvPr/>
        </p:nvSpPr>
        <p:spPr>
          <a:xfrm>
            <a:off x="640080" y="3840480"/>
            <a:ext cx="5577840" cy="420624"/>
          </a:xfrm>
          <a:prstGeom prst="rect">
            <a:avLst/>
          </a:prstGeom>
          <a:solidFill>
            <a:srgbClr val="F6EBCF"/>
          </a:solidFill>
          <a:ln/>
        </p:spPr>
      </p:sp>
      <p:sp>
        <p:nvSpPr>
          <p:cNvPr id="25" name="Text 22"/>
          <p:cNvSpPr/>
          <p:nvPr/>
        </p:nvSpPr>
        <p:spPr>
          <a:xfrm>
            <a:off x="777240" y="3858768"/>
            <a:ext cx="2788920" cy="384048"/>
          </a:xfrm>
          <a:prstGeom prst="rect">
            <a:avLst/>
          </a:prstGeom>
          <a:noFill/>
          <a:ln/>
        </p:spPr>
        <p:txBody>
          <a:bodyPr wrap="square" lIns="0" tIns="0" rIns="0" bIns="0" rtlCol="0" anchor="ctr"/>
          <a:lstStyle/>
          <a:p>
            <a:pPr indent="0" marL="0">
              <a:buNone/>
            </a:pPr>
            <a:r>
              <a:rPr lang="en-US" sz="1100" b="1" dirty="0">
                <a:solidFill>
                  <a:srgbClr val="45356B"/>
                </a:solidFill>
                <a:latin typeface="Consolas" pitchFamily="34" charset="0"/>
                <a:ea typeface="Consolas" pitchFamily="34" charset="-122"/>
                <a:cs typeface="Consolas" pitchFamily="34" charset="-120"/>
              </a:rPr>
              <a:t>component-design.md</a:t>
            </a:r>
            <a:endParaRPr lang="en-US" sz="1100" dirty="0"/>
          </a:p>
        </p:txBody>
      </p:sp>
      <p:sp>
        <p:nvSpPr>
          <p:cNvPr id="26" name="Text 23"/>
          <p:cNvSpPr/>
          <p:nvPr/>
        </p:nvSpPr>
        <p:spPr>
          <a:xfrm>
            <a:off x="3611880" y="3858768"/>
            <a:ext cx="2606040" cy="384048"/>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コンポーネント設計</a:t>
            </a:r>
            <a:endParaRPr lang="en-US" sz="1150" dirty="0"/>
          </a:p>
        </p:txBody>
      </p:sp>
      <p:sp>
        <p:nvSpPr>
          <p:cNvPr id="27" name="Text 24"/>
          <p:cNvSpPr/>
          <p:nvPr/>
        </p:nvSpPr>
        <p:spPr>
          <a:xfrm>
            <a:off x="777240" y="4315968"/>
            <a:ext cx="2788920" cy="384048"/>
          </a:xfrm>
          <a:prstGeom prst="rect">
            <a:avLst/>
          </a:prstGeom>
          <a:noFill/>
          <a:ln/>
        </p:spPr>
        <p:txBody>
          <a:bodyPr wrap="square" lIns="0" tIns="0" rIns="0" bIns="0" rtlCol="0" anchor="ctr"/>
          <a:lstStyle/>
          <a:p>
            <a:pPr indent="0" marL="0">
              <a:buNone/>
            </a:pPr>
            <a:r>
              <a:rPr lang="en-US" sz="1100" b="1" dirty="0">
                <a:solidFill>
                  <a:srgbClr val="45356B"/>
                </a:solidFill>
                <a:latin typeface="Consolas" pitchFamily="34" charset="0"/>
                <a:ea typeface="Consolas" pitchFamily="34" charset="-122"/>
                <a:cs typeface="Consolas" pitchFamily="34" charset="-120"/>
              </a:rPr>
              <a:t>directory-structure.md</a:t>
            </a:r>
            <a:endParaRPr lang="en-US" sz="1100" dirty="0"/>
          </a:p>
        </p:txBody>
      </p:sp>
      <p:sp>
        <p:nvSpPr>
          <p:cNvPr id="28" name="Text 25"/>
          <p:cNvSpPr/>
          <p:nvPr/>
        </p:nvSpPr>
        <p:spPr>
          <a:xfrm>
            <a:off x="3611880" y="4315968"/>
            <a:ext cx="2606040" cy="384048"/>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フォルダ構成</a:t>
            </a:r>
            <a:endParaRPr lang="en-US" sz="1150" dirty="0"/>
          </a:p>
        </p:txBody>
      </p:sp>
      <p:sp>
        <p:nvSpPr>
          <p:cNvPr id="29" name="Shape 26"/>
          <p:cNvSpPr/>
          <p:nvPr/>
        </p:nvSpPr>
        <p:spPr>
          <a:xfrm>
            <a:off x="640080" y="4754880"/>
            <a:ext cx="5577840" cy="420624"/>
          </a:xfrm>
          <a:prstGeom prst="rect">
            <a:avLst/>
          </a:prstGeom>
          <a:solidFill>
            <a:srgbClr val="F6EBCF"/>
          </a:solidFill>
          <a:ln/>
        </p:spPr>
      </p:sp>
      <p:sp>
        <p:nvSpPr>
          <p:cNvPr id="30" name="Text 27"/>
          <p:cNvSpPr/>
          <p:nvPr/>
        </p:nvSpPr>
        <p:spPr>
          <a:xfrm>
            <a:off x="777240" y="4773168"/>
            <a:ext cx="2788920" cy="384048"/>
          </a:xfrm>
          <a:prstGeom prst="rect">
            <a:avLst/>
          </a:prstGeom>
          <a:noFill/>
          <a:ln/>
        </p:spPr>
        <p:txBody>
          <a:bodyPr wrap="square" lIns="0" tIns="0" rIns="0" bIns="0" rtlCol="0" anchor="ctr"/>
          <a:lstStyle/>
          <a:p>
            <a:pPr indent="0" marL="0">
              <a:buNone/>
            </a:pPr>
            <a:r>
              <a:rPr lang="en-US" sz="1100" b="1" dirty="0">
                <a:solidFill>
                  <a:srgbClr val="45356B"/>
                </a:solidFill>
                <a:latin typeface="Consolas" pitchFamily="34" charset="0"/>
                <a:ea typeface="Consolas" pitchFamily="34" charset="-122"/>
                <a:cs typeface="Consolas" pitchFamily="34" charset="-120"/>
              </a:rPr>
              <a:t>iac-rules.md</a:t>
            </a:r>
            <a:endParaRPr lang="en-US" sz="1100" dirty="0"/>
          </a:p>
        </p:txBody>
      </p:sp>
      <p:sp>
        <p:nvSpPr>
          <p:cNvPr id="31" name="Text 28"/>
          <p:cNvSpPr/>
          <p:nvPr/>
        </p:nvSpPr>
        <p:spPr>
          <a:xfrm>
            <a:off x="3611880" y="4773168"/>
            <a:ext cx="2606040" cy="384048"/>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インフラ（CDK）の規約</a:t>
            </a:r>
            <a:endParaRPr lang="en-US" sz="1150" dirty="0"/>
          </a:p>
        </p:txBody>
      </p:sp>
      <p:sp>
        <p:nvSpPr>
          <p:cNvPr id="32" name="Text 29"/>
          <p:cNvSpPr/>
          <p:nvPr/>
        </p:nvSpPr>
        <p:spPr>
          <a:xfrm>
            <a:off x="777240" y="5230368"/>
            <a:ext cx="2788920" cy="384048"/>
          </a:xfrm>
          <a:prstGeom prst="rect">
            <a:avLst/>
          </a:prstGeom>
          <a:noFill/>
          <a:ln/>
        </p:spPr>
        <p:txBody>
          <a:bodyPr wrap="square" lIns="0" tIns="0" rIns="0" bIns="0" rtlCol="0" anchor="ctr"/>
          <a:lstStyle/>
          <a:p>
            <a:pPr indent="0" marL="0">
              <a:buNone/>
            </a:pPr>
            <a:r>
              <a:rPr lang="en-US" sz="1100" b="1" dirty="0">
                <a:solidFill>
                  <a:srgbClr val="45356B"/>
                </a:solidFill>
                <a:latin typeface="Consolas" pitchFamily="34" charset="0"/>
                <a:ea typeface="Consolas" pitchFamily="34" charset="-122"/>
                <a:cs typeface="Consolas" pitchFamily="34" charset="-120"/>
              </a:rPr>
              <a:t>git-workflow.md</a:t>
            </a:r>
            <a:endParaRPr lang="en-US" sz="1100" dirty="0"/>
          </a:p>
        </p:txBody>
      </p:sp>
      <p:sp>
        <p:nvSpPr>
          <p:cNvPr id="33" name="Text 30"/>
          <p:cNvSpPr/>
          <p:nvPr/>
        </p:nvSpPr>
        <p:spPr>
          <a:xfrm>
            <a:off x="3611880" y="5230368"/>
            <a:ext cx="2606040" cy="384048"/>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ブランチ・コミット・PR</a:t>
            </a:r>
            <a:endParaRPr lang="en-US" sz="1150" dirty="0"/>
          </a:p>
        </p:txBody>
      </p:sp>
      <p:sp>
        <p:nvSpPr>
          <p:cNvPr id="34" name="Shape 31"/>
          <p:cNvSpPr/>
          <p:nvPr/>
        </p:nvSpPr>
        <p:spPr>
          <a:xfrm>
            <a:off x="640080" y="5669280"/>
            <a:ext cx="5577840" cy="420624"/>
          </a:xfrm>
          <a:prstGeom prst="rect">
            <a:avLst/>
          </a:prstGeom>
          <a:solidFill>
            <a:srgbClr val="F6EBCF"/>
          </a:solidFill>
          <a:ln/>
        </p:spPr>
      </p:sp>
      <p:sp>
        <p:nvSpPr>
          <p:cNvPr id="35" name="Text 32"/>
          <p:cNvSpPr/>
          <p:nvPr/>
        </p:nvSpPr>
        <p:spPr>
          <a:xfrm>
            <a:off x="777240" y="5687568"/>
            <a:ext cx="2788920" cy="384048"/>
          </a:xfrm>
          <a:prstGeom prst="rect">
            <a:avLst/>
          </a:prstGeom>
          <a:noFill/>
          <a:ln/>
        </p:spPr>
        <p:txBody>
          <a:bodyPr wrap="square" lIns="0" tIns="0" rIns="0" bIns="0" rtlCol="0" anchor="ctr"/>
          <a:lstStyle/>
          <a:p>
            <a:pPr indent="0" marL="0">
              <a:buNone/>
            </a:pPr>
            <a:r>
              <a:rPr lang="en-US" sz="1100" b="1" dirty="0">
                <a:solidFill>
                  <a:srgbClr val="45356B"/>
                </a:solidFill>
                <a:latin typeface="Consolas" pitchFamily="34" charset="0"/>
                <a:ea typeface="Consolas" pitchFamily="34" charset="-122"/>
                <a:cs typeface="Consolas" pitchFamily="34" charset="-120"/>
              </a:rPr>
              <a:t>prompt-templates.md</a:t>
            </a:r>
            <a:endParaRPr lang="en-US" sz="1100" dirty="0"/>
          </a:p>
        </p:txBody>
      </p:sp>
      <p:sp>
        <p:nvSpPr>
          <p:cNvPr id="36" name="Text 33"/>
          <p:cNvSpPr/>
          <p:nvPr/>
        </p:nvSpPr>
        <p:spPr>
          <a:xfrm>
            <a:off x="3611880" y="5687568"/>
            <a:ext cx="2606040" cy="384048"/>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AIへの指示文テンプレート</a:t>
            </a:r>
            <a:endParaRPr lang="en-US" sz="1150" dirty="0"/>
          </a:p>
        </p:txBody>
      </p:sp>
      <p:sp>
        <p:nvSpPr>
          <p:cNvPr id="37" name="Shape 34"/>
          <p:cNvSpPr/>
          <p:nvPr/>
        </p:nvSpPr>
        <p:spPr>
          <a:xfrm>
            <a:off x="6537960" y="1463040"/>
            <a:ext cx="5102352" cy="2514600"/>
          </a:xfrm>
          <a:prstGeom prst="roundRect">
            <a:avLst>
              <a:gd name="adj" fmla="val 2909"/>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8" name="Text 35"/>
          <p:cNvSpPr/>
          <p:nvPr/>
        </p:nvSpPr>
        <p:spPr>
          <a:xfrm>
            <a:off x="6766560" y="1600200"/>
            <a:ext cx="4572000" cy="347472"/>
          </a:xfrm>
          <a:prstGeom prst="rect">
            <a:avLst/>
          </a:prstGeom>
          <a:noFill/>
          <a:ln/>
        </p:spPr>
        <p:txBody>
          <a:bodyPr wrap="square" lIns="0" tIns="0" rIns="0" bIns="0" rtlCol="0" anchor="t"/>
          <a:lstStyle/>
          <a:p>
            <a:pPr indent="0" marL="0">
              <a:buNone/>
            </a:pPr>
            <a:r>
              <a:rPr lang="en-US" sz="1500" b="1" dirty="0">
                <a:solidFill>
                  <a:srgbClr val="45356B"/>
                </a:solidFill>
                <a:latin typeface="BIZ UDPゴシック" pitchFamily="34" charset="0"/>
                <a:ea typeface="BIZ UDPゴシック" pitchFamily="34" charset="-122"/>
                <a:cs typeface="BIZ UDPゴシック" pitchFamily="34" charset="-120"/>
              </a:rPr>
              <a:t>なぜ md 形式にしたのか</a:t>
            </a:r>
            <a:endParaRPr lang="en-US" sz="1500" dirty="0"/>
          </a:p>
        </p:txBody>
      </p:sp>
      <p:sp>
        <p:nvSpPr>
          <p:cNvPr id="39" name="Shape 36"/>
          <p:cNvSpPr/>
          <p:nvPr/>
        </p:nvSpPr>
        <p:spPr>
          <a:xfrm>
            <a:off x="6766560" y="2103120"/>
            <a:ext cx="384048" cy="384048"/>
          </a:xfrm>
          <a:prstGeom prst="ellipse">
            <a:avLst/>
          </a:prstGeom>
          <a:solidFill>
            <a:srgbClr val="B8862B"/>
          </a:solidFill>
          <a:ln/>
        </p:spPr>
      </p:sp>
      <p:sp>
        <p:nvSpPr>
          <p:cNvPr id="40" name="Text 37"/>
          <p:cNvSpPr/>
          <p:nvPr/>
        </p:nvSpPr>
        <p:spPr>
          <a:xfrm>
            <a:off x="6766560" y="2103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1</a:t>
            </a:r>
            <a:endParaRPr lang="en-US" sz="1300" dirty="0"/>
          </a:p>
        </p:txBody>
      </p:sp>
      <p:sp>
        <p:nvSpPr>
          <p:cNvPr id="41" name="Text 38"/>
          <p:cNvSpPr/>
          <p:nvPr/>
        </p:nvSpPr>
        <p:spPr>
          <a:xfrm>
            <a:off x="7296912" y="2057400"/>
            <a:ext cx="4206240" cy="274320"/>
          </a:xfrm>
          <a:prstGeom prst="rect">
            <a:avLst/>
          </a:prstGeom>
          <a:noFill/>
          <a:ln/>
        </p:spPr>
        <p:txBody>
          <a:bodyPr wrap="square" lIns="0" tIns="0" rIns="0" bIns="0" rtlCol="0" anchor="t"/>
          <a:lstStyle/>
          <a:p>
            <a:pPr indent="0" marL="0">
              <a:buNone/>
            </a:pPr>
            <a:r>
              <a:rPr lang="en-US" sz="1300" b="1" dirty="0">
                <a:solidFill>
                  <a:srgbClr val="3A2E20"/>
                </a:solidFill>
                <a:latin typeface="BIZ UDPゴシック" pitchFamily="34" charset="0"/>
                <a:ea typeface="BIZ UDPゴシック" pitchFamily="34" charset="-122"/>
                <a:cs typeface="BIZ UDPゴシック" pitchFamily="34" charset="-120"/>
              </a:rPr>
              <a:t>人もAIも読みやすい</a:t>
            </a:r>
            <a:endParaRPr lang="en-US" sz="1300" dirty="0"/>
          </a:p>
        </p:txBody>
      </p:sp>
      <p:sp>
        <p:nvSpPr>
          <p:cNvPr id="42" name="Text 39"/>
          <p:cNvSpPr/>
          <p:nvPr/>
        </p:nvSpPr>
        <p:spPr>
          <a:xfrm>
            <a:off x="7296912" y="2331720"/>
            <a:ext cx="4206240" cy="274320"/>
          </a:xfrm>
          <a:prstGeom prst="rect">
            <a:avLst/>
          </a:prstGeom>
          <a:noFill/>
          <a:ln/>
        </p:spPr>
        <p:txBody>
          <a:bodyPr wrap="square" lIns="0" tIns="0" rIns="0" bIns="0" rtlCol="0" anchor="t"/>
          <a:lstStyle/>
          <a:p>
            <a:pPr indent="0" marL="0">
              <a:buNone/>
            </a:pPr>
            <a:r>
              <a:rPr lang="en-US" sz="1100" dirty="0">
                <a:solidFill>
                  <a:srgbClr val="6B5B46"/>
                </a:solidFill>
                <a:latin typeface="BIZ UDPゴシック" pitchFamily="34" charset="0"/>
                <a:ea typeface="BIZ UDPゴシック" pitchFamily="34" charset="-122"/>
                <a:cs typeface="BIZ UDPゴシック" pitchFamily="34" charset="-120"/>
              </a:rPr>
              <a:t>見出しと表で構造化。曖昧な文章にならない</a:t>
            </a:r>
            <a:endParaRPr lang="en-US" sz="1100" dirty="0"/>
          </a:p>
        </p:txBody>
      </p:sp>
      <p:sp>
        <p:nvSpPr>
          <p:cNvPr id="43" name="Shape 40"/>
          <p:cNvSpPr/>
          <p:nvPr/>
        </p:nvSpPr>
        <p:spPr>
          <a:xfrm>
            <a:off x="6766560" y="2724912"/>
            <a:ext cx="384048" cy="384048"/>
          </a:xfrm>
          <a:prstGeom prst="ellipse">
            <a:avLst/>
          </a:prstGeom>
          <a:solidFill>
            <a:srgbClr val="B8862B"/>
          </a:solidFill>
          <a:ln/>
        </p:spPr>
      </p:sp>
      <p:sp>
        <p:nvSpPr>
          <p:cNvPr id="44" name="Text 41"/>
          <p:cNvSpPr/>
          <p:nvPr/>
        </p:nvSpPr>
        <p:spPr>
          <a:xfrm>
            <a:off x="6766560" y="2724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2</a:t>
            </a:r>
            <a:endParaRPr lang="en-US" sz="1300" dirty="0"/>
          </a:p>
        </p:txBody>
      </p:sp>
      <p:sp>
        <p:nvSpPr>
          <p:cNvPr id="45" name="Text 42"/>
          <p:cNvSpPr/>
          <p:nvPr/>
        </p:nvSpPr>
        <p:spPr>
          <a:xfrm>
            <a:off x="7296912" y="2679192"/>
            <a:ext cx="4206240" cy="274320"/>
          </a:xfrm>
          <a:prstGeom prst="rect">
            <a:avLst/>
          </a:prstGeom>
          <a:noFill/>
          <a:ln/>
        </p:spPr>
        <p:txBody>
          <a:bodyPr wrap="square" lIns="0" tIns="0" rIns="0" bIns="0" rtlCol="0" anchor="t"/>
          <a:lstStyle/>
          <a:p>
            <a:pPr indent="0" marL="0">
              <a:buNone/>
            </a:pPr>
            <a:r>
              <a:rPr lang="en-US" sz="1300" b="1" dirty="0">
                <a:solidFill>
                  <a:srgbClr val="3A2E20"/>
                </a:solidFill>
                <a:latin typeface="BIZ UDPゴシック" pitchFamily="34" charset="0"/>
                <a:ea typeface="BIZ UDPゴシック" pitchFamily="34" charset="-122"/>
                <a:cs typeface="BIZ UDPゴシック" pitchFamily="34" charset="-120"/>
              </a:rPr>
              <a:t>Git で変更履歴を管理</a:t>
            </a:r>
            <a:endParaRPr lang="en-US" sz="1300" dirty="0"/>
          </a:p>
        </p:txBody>
      </p:sp>
      <p:sp>
        <p:nvSpPr>
          <p:cNvPr id="46" name="Text 43"/>
          <p:cNvSpPr/>
          <p:nvPr/>
        </p:nvSpPr>
        <p:spPr>
          <a:xfrm>
            <a:off x="7296912" y="2953512"/>
            <a:ext cx="4206240" cy="274320"/>
          </a:xfrm>
          <a:prstGeom prst="rect">
            <a:avLst/>
          </a:prstGeom>
          <a:noFill/>
          <a:ln/>
        </p:spPr>
        <p:txBody>
          <a:bodyPr wrap="square" lIns="0" tIns="0" rIns="0" bIns="0" rtlCol="0" anchor="t"/>
          <a:lstStyle/>
          <a:p>
            <a:pPr indent="0" marL="0">
              <a:buNone/>
            </a:pPr>
            <a:r>
              <a:rPr lang="en-US" sz="1100" dirty="0">
                <a:solidFill>
                  <a:srgbClr val="6B5B46"/>
                </a:solidFill>
                <a:latin typeface="BIZ UDPゴシック" pitchFamily="34" charset="0"/>
                <a:ea typeface="BIZ UDPゴシック" pitchFamily="34" charset="-122"/>
                <a:cs typeface="BIZ UDPゴシック" pitchFamily="34" charset="-120"/>
              </a:rPr>
              <a:t>PRでレビューしてから反映できる</a:t>
            </a:r>
            <a:endParaRPr lang="en-US" sz="1100" dirty="0"/>
          </a:p>
        </p:txBody>
      </p:sp>
      <p:sp>
        <p:nvSpPr>
          <p:cNvPr id="47" name="Shape 44"/>
          <p:cNvSpPr/>
          <p:nvPr/>
        </p:nvSpPr>
        <p:spPr>
          <a:xfrm>
            <a:off x="6766560" y="3346704"/>
            <a:ext cx="384048" cy="384048"/>
          </a:xfrm>
          <a:prstGeom prst="ellipse">
            <a:avLst/>
          </a:prstGeom>
          <a:solidFill>
            <a:srgbClr val="B8862B"/>
          </a:solidFill>
          <a:ln/>
        </p:spPr>
      </p:sp>
      <p:sp>
        <p:nvSpPr>
          <p:cNvPr id="48" name="Text 45"/>
          <p:cNvSpPr/>
          <p:nvPr/>
        </p:nvSpPr>
        <p:spPr>
          <a:xfrm>
            <a:off x="6766560" y="33467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3</a:t>
            </a:r>
            <a:endParaRPr lang="en-US" sz="1300" dirty="0"/>
          </a:p>
        </p:txBody>
      </p:sp>
      <p:sp>
        <p:nvSpPr>
          <p:cNvPr id="49" name="Text 46"/>
          <p:cNvSpPr/>
          <p:nvPr/>
        </p:nvSpPr>
        <p:spPr>
          <a:xfrm>
            <a:off x="7296912" y="3300984"/>
            <a:ext cx="4206240" cy="274320"/>
          </a:xfrm>
          <a:prstGeom prst="rect">
            <a:avLst/>
          </a:prstGeom>
          <a:noFill/>
          <a:ln/>
        </p:spPr>
        <p:txBody>
          <a:bodyPr wrap="square" lIns="0" tIns="0" rIns="0" bIns="0" rtlCol="0" anchor="t"/>
          <a:lstStyle/>
          <a:p>
            <a:pPr indent="0" marL="0">
              <a:buNone/>
            </a:pPr>
            <a:r>
              <a:rPr lang="en-US" sz="1300" b="1" dirty="0">
                <a:solidFill>
                  <a:srgbClr val="3A2E20"/>
                </a:solidFill>
                <a:latin typeface="BIZ UDPゴシック" pitchFamily="34" charset="0"/>
                <a:ea typeface="BIZ UDPゴシック" pitchFamily="34" charset="-122"/>
                <a:cs typeface="BIZ UDPゴシック" pitchFamily="34" charset="-120"/>
              </a:rPr>
              <a:t>毎回自動で読み込まれる</a:t>
            </a:r>
            <a:endParaRPr lang="en-US" sz="1300" dirty="0"/>
          </a:p>
        </p:txBody>
      </p:sp>
      <p:sp>
        <p:nvSpPr>
          <p:cNvPr id="50" name="Text 47"/>
          <p:cNvSpPr/>
          <p:nvPr/>
        </p:nvSpPr>
        <p:spPr>
          <a:xfrm>
            <a:off x="7296912" y="3575304"/>
            <a:ext cx="4206240" cy="274320"/>
          </a:xfrm>
          <a:prstGeom prst="rect">
            <a:avLst/>
          </a:prstGeom>
          <a:noFill/>
          <a:ln/>
        </p:spPr>
        <p:txBody>
          <a:bodyPr wrap="square" lIns="0" tIns="0" rIns="0" bIns="0" rtlCol="0" anchor="t"/>
          <a:lstStyle/>
          <a:p>
            <a:pPr indent="0" marL="0">
              <a:buNone/>
            </a:pPr>
            <a:r>
              <a:rPr lang="en-US" sz="1100" dirty="0">
                <a:solidFill>
                  <a:srgbClr val="6B5B46"/>
                </a:solidFill>
                <a:latin typeface="BIZ UDPゴシック" pitchFamily="34" charset="0"/>
                <a:ea typeface="BIZ UDPゴシック" pitchFamily="34" charset="-122"/>
                <a:cs typeface="BIZ UDPゴシック" pitchFamily="34" charset="-120"/>
              </a:rPr>
              <a:t>指示のたびに貼り付ける必要がない</a:t>
            </a:r>
            <a:endParaRPr lang="en-US" sz="1100" dirty="0"/>
          </a:p>
        </p:txBody>
      </p:sp>
      <p:sp>
        <p:nvSpPr>
          <p:cNvPr id="51" name="Shape 48"/>
          <p:cNvSpPr/>
          <p:nvPr/>
        </p:nvSpPr>
        <p:spPr>
          <a:xfrm>
            <a:off x="6537960" y="4160520"/>
            <a:ext cx="5102352" cy="2011680"/>
          </a:xfrm>
          <a:prstGeom prst="roundRect">
            <a:avLst>
              <a:gd name="adj" fmla="val 3636"/>
            </a:avLst>
          </a:prstGeom>
          <a:solidFill>
            <a:srgbClr val="ECE7F5"/>
          </a:solidFill>
          <a:ln w="15875">
            <a:solidFill>
              <a:srgbClr val="45356B"/>
            </a:solidFill>
            <a:prstDash val="solid"/>
          </a:ln>
          <a:effectLst>
            <a:outerShdw sx="100000" sy="100000" kx="0" ky="0" algn="bl" rotWithShape="0" blurRad="101600" dist="38100" dir="2700000">
              <a:srgbClr val="5C4430">
                <a:alpha val="30000"/>
              </a:srgbClr>
            </a:outerShdw>
          </a:effectLst>
        </p:spPr>
      </p:sp>
      <p:sp>
        <p:nvSpPr>
          <p:cNvPr id="52" name="Text 49"/>
          <p:cNvSpPr/>
          <p:nvPr/>
        </p:nvSpPr>
        <p:spPr>
          <a:xfrm>
            <a:off x="6766560" y="4279392"/>
            <a:ext cx="4754880" cy="320040"/>
          </a:xfrm>
          <a:prstGeom prst="rect">
            <a:avLst/>
          </a:prstGeom>
          <a:noFill/>
          <a:ln/>
        </p:spPr>
        <p:txBody>
          <a:bodyPr wrap="square" lIns="0" tIns="0" rIns="0" bIns="0" rtlCol="0" anchor="t"/>
          <a:lstStyle/>
          <a:p>
            <a:pPr indent="0" marL="0">
              <a:buNone/>
            </a:pPr>
            <a:r>
              <a:rPr lang="en-US" sz="1350" b="1" dirty="0">
                <a:solidFill>
                  <a:srgbClr val="45356B"/>
                </a:solidFill>
                <a:latin typeface="BIZ UDPゴシック" pitchFamily="34" charset="0"/>
                <a:ea typeface="BIZ UDPゴシック" pitchFamily="34" charset="-122"/>
                <a:cs typeface="BIZ UDPゴシック" pitchFamily="34" charset="-120"/>
              </a:rPr>
              <a:t>効果の例：用語のブレによる不具合を防ぐ</a:t>
            </a:r>
            <a:endParaRPr lang="en-US" sz="1350" dirty="0"/>
          </a:p>
        </p:txBody>
      </p:sp>
      <p:sp>
        <p:nvSpPr>
          <p:cNvPr id="53" name="Text 50"/>
          <p:cNvSpPr/>
          <p:nvPr/>
        </p:nvSpPr>
        <p:spPr>
          <a:xfrm>
            <a:off x="6766560" y="4645152"/>
            <a:ext cx="4754880" cy="685800"/>
          </a:xfrm>
          <a:prstGeom prst="rect">
            <a:avLst/>
          </a:prstGeom>
          <a:noFill/>
          <a:ln/>
        </p:spPr>
        <p:txBody>
          <a:bodyPr wrap="square" lIns="0" tIns="0" rIns="0" bIns="0" rtlCol="0" anchor="t"/>
          <a:lstStyle/>
          <a:p>
            <a:pPr indent="0" marL="0">
              <a:buNone/>
            </a:pPr>
            <a:r>
              <a:rPr lang="en-US" sz="1200" b="1" dirty="0">
                <a:solidFill>
                  <a:srgbClr val="45356B"/>
                </a:solidFill>
                <a:latin typeface="Consolas" pitchFamily="34" charset="0"/>
                <a:ea typeface="Consolas" pitchFamily="34" charset="-122"/>
                <a:cs typeface="Consolas" pitchFamily="34" charset="-120"/>
              </a:rPr>
              <a:t>spot</a:t>
            </a:r>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＝立ち寄る場所　</a:t>
            </a:r>
            <a:pPr indent="0" marL="0">
              <a:buNone/>
            </a:pPr>
            <a:r>
              <a:rPr lang="en-US" sz="1200" b="1" dirty="0">
                <a:solidFill>
                  <a:srgbClr val="45356B"/>
                </a:solidFill>
                <a:latin typeface="Consolas" pitchFamily="34" charset="0"/>
                <a:ea typeface="Consolas" pitchFamily="34" charset="-122"/>
                <a:cs typeface="Consolas" pitchFamily="34" charset="-120"/>
              </a:rPr>
              <a:t>waypoint</a:t>
            </a:r>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＝経路の点</a:t>
            </a:r>
            <a:endParaRPr lang="en-US" sz="1200" dirty="0"/>
          </a:p>
          <a:p>
            <a:pPr indent="0" marL="0">
              <a:buNone/>
            </a:pPr>
            <a:r>
              <a:rPr lang="en-US" sz="1100" dirty="0">
                <a:solidFill>
                  <a:srgbClr val="6B5B46"/>
                </a:solidFill>
                <a:latin typeface="BIZ UDPゴシック" pitchFamily="34" charset="0"/>
                <a:ea typeface="BIZ UDPゴシック" pitchFamily="34" charset="-122"/>
                <a:cs typeface="BIZ UDPゴシック" pitchFamily="34" charset="-120"/>
              </a:rPr>
              <a:t>混同すると「巡ったスポット数」に道の曲がり角まで数えてしまう</a:t>
            </a:r>
            <a:endParaRPr lang="en-US" sz="1200" dirty="0"/>
          </a:p>
        </p:txBody>
      </p:sp>
      <p:sp>
        <p:nvSpPr>
          <p:cNvPr id="54" name="Shape 51"/>
          <p:cNvSpPr/>
          <p:nvPr/>
        </p:nvSpPr>
        <p:spPr>
          <a:xfrm>
            <a:off x="6766560" y="5413248"/>
            <a:ext cx="2240280" cy="594360"/>
          </a:xfrm>
          <a:prstGeom prst="roundRect">
            <a:avLst>
              <a:gd name="adj" fmla="val 12308"/>
            </a:avLst>
          </a:prstGeom>
          <a:solidFill>
            <a:srgbClr val="FFFFFF"/>
          </a:solidFill>
          <a:ln w="15875">
            <a:solidFill>
              <a:srgbClr val="3F7A5C"/>
            </a:solidFill>
            <a:prstDash val="solid"/>
          </a:ln>
        </p:spPr>
      </p:sp>
      <p:sp>
        <p:nvSpPr>
          <p:cNvPr id="55" name="Text 52"/>
          <p:cNvSpPr/>
          <p:nvPr/>
        </p:nvSpPr>
        <p:spPr>
          <a:xfrm>
            <a:off x="6766560" y="5413248"/>
            <a:ext cx="2240280" cy="594360"/>
          </a:xfrm>
          <a:prstGeom prst="rect">
            <a:avLst/>
          </a:prstGeom>
          <a:noFill/>
          <a:ln/>
        </p:spPr>
        <p:txBody>
          <a:bodyPr wrap="square" lIns="0" tIns="0" rIns="0" bIns="0" rtlCol="0" anchor="ctr"/>
          <a:lstStyle/>
          <a:p>
            <a:pPr algn="ctr" indent="0" marL="0">
              <a:buNone/>
            </a:pPr>
            <a:r>
              <a:rPr lang="en-US" sz="1300" b="1" dirty="0">
                <a:solidFill>
                  <a:srgbClr val="3F7A5C"/>
                </a:solidFill>
                <a:latin typeface="BIZ UDPゴシック" pitchFamily="34" charset="0"/>
                <a:ea typeface="BIZ UDPゴシック" pitchFamily="34" charset="-122"/>
                <a:cs typeface="BIZ UDPゴシック" pitchFamily="34" charset="-120"/>
              </a:rPr>
              <a:t>正しい表示　4 か所</a:t>
            </a:r>
            <a:endParaRPr lang="en-US" sz="1300" dirty="0"/>
          </a:p>
        </p:txBody>
      </p:sp>
      <p:sp>
        <p:nvSpPr>
          <p:cNvPr id="56" name="Shape 53"/>
          <p:cNvSpPr/>
          <p:nvPr/>
        </p:nvSpPr>
        <p:spPr>
          <a:xfrm>
            <a:off x="9189720" y="5413248"/>
            <a:ext cx="2240280" cy="594360"/>
          </a:xfrm>
          <a:prstGeom prst="roundRect">
            <a:avLst>
              <a:gd name="adj" fmla="val 12308"/>
            </a:avLst>
          </a:prstGeom>
          <a:solidFill>
            <a:srgbClr val="FFFFFF"/>
          </a:solidFill>
          <a:ln w="15875">
            <a:solidFill>
              <a:srgbClr val="B3372B"/>
            </a:solidFill>
            <a:prstDash val="solid"/>
          </a:ln>
        </p:spPr>
      </p:sp>
      <p:sp>
        <p:nvSpPr>
          <p:cNvPr id="57" name="Text 54"/>
          <p:cNvSpPr/>
          <p:nvPr/>
        </p:nvSpPr>
        <p:spPr>
          <a:xfrm>
            <a:off x="9189720" y="5413248"/>
            <a:ext cx="2240280" cy="594360"/>
          </a:xfrm>
          <a:prstGeom prst="rect">
            <a:avLst/>
          </a:prstGeom>
          <a:noFill/>
          <a:ln/>
        </p:spPr>
        <p:txBody>
          <a:bodyPr wrap="square" lIns="0" tIns="0" rIns="0" bIns="0" rtlCol="0" anchor="ctr"/>
          <a:lstStyle/>
          <a:p>
            <a:pPr algn="ctr" indent="0" marL="0">
              <a:buNone/>
            </a:pPr>
            <a:r>
              <a:rPr lang="en-US" sz="1300" b="1" dirty="0">
                <a:solidFill>
                  <a:srgbClr val="B3372B"/>
                </a:solidFill>
                <a:latin typeface="BIZ UDPゴシック" pitchFamily="34" charset="0"/>
                <a:ea typeface="BIZ UDPゴシック" pitchFamily="34" charset="-122"/>
                <a:cs typeface="BIZ UDPゴシック" pitchFamily="34" charset="-120"/>
              </a:rPr>
              <a:t>混同すると　37 か所</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01 TECHNIQUE ③</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解説書を自動で生成させる仕組み</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01 アーキテクチャ＆技術的工夫</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9</a:t>
            </a:r>
            <a:endParaRPr lang="en-US" sz="900" dirty="0"/>
          </a:p>
        </p:txBody>
      </p:sp>
      <p:sp>
        <p:nvSpPr>
          <p:cNvPr id="11" name="Shape 8"/>
          <p:cNvSpPr/>
          <p:nvPr/>
        </p:nvSpPr>
        <p:spPr>
          <a:xfrm>
            <a:off x="548640" y="1463040"/>
            <a:ext cx="2331720" cy="1051560"/>
          </a:xfrm>
          <a:prstGeom prst="homePlate">
            <a:avLst/>
          </a:prstGeom>
          <a:solidFill>
            <a:srgbClr val="45356B"/>
          </a:solidFill>
          <a:ln/>
        </p:spPr>
      </p:sp>
      <p:sp>
        <p:nvSpPr>
          <p:cNvPr id="12" name="Text 9"/>
          <p:cNvSpPr/>
          <p:nvPr/>
        </p:nvSpPr>
        <p:spPr>
          <a:xfrm>
            <a:off x="685800" y="1463040"/>
            <a:ext cx="1691640" cy="1051560"/>
          </a:xfrm>
          <a:prstGeom prst="rect">
            <a:avLst/>
          </a:prstGeom>
          <a:noFill/>
          <a:ln/>
        </p:spPr>
        <p:txBody>
          <a:bodyPr wrap="square" lIns="0" tIns="0" rIns="0" bIns="0" rtlCol="0" anchor="ctr"/>
          <a:lstStyle/>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develop に</a:t>
            </a:r>
            <a:endParaRPr lang="en-US" sz="1250" dirty="0"/>
          </a:p>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マージ</a:t>
            </a:r>
            <a:endParaRPr lang="en-US" sz="1250" dirty="0"/>
          </a:p>
        </p:txBody>
      </p:sp>
      <p:sp>
        <p:nvSpPr>
          <p:cNvPr id="13" name="Shape 10"/>
          <p:cNvSpPr/>
          <p:nvPr/>
        </p:nvSpPr>
        <p:spPr>
          <a:xfrm>
            <a:off x="2788920" y="1463040"/>
            <a:ext cx="2331720" cy="1051560"/>
          </a:xfrm>
          <a:prstGeom prst="chevron">
            <a:avLst/>
          </a:prstGeom>
          <a:solidFill>
            <a:srgbClr val="5F4C91"/>
          </a:solidFill>
          <a:ln/>
        </p:spPr>
      </p:sp>
      <p:sp>
        <p:nvSpPr>
          <p:cNvPr id="14" name="Text 11"/>
          <p:cNvSpPr/>
          <p:nvPr/>
        </p:nvSpPr>
        <p:spPr>
          <a:xfrm>
            <a:off x="3200400" y="1463040"/>
            <a:ext cx="1691640" cy="1051560"/>
          </a:xfrm>
          <a:prstGeom prst="rect">
            <a:avLst/>
          </a:prstGeom>
          <a:noFill/>
          <a:ln/>
        </p:spPr>
        <p:txBody>
          <a:bodyPr wrap="square" lIns="0" tIns="0" rIns="0" bIns="0" rtlCol="0" anchor="ctr"/>
          <a:lstStyle/>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「解説書を作って」</a:t>
            </a:r>
            <a:endParaRPr lang="en-US" sz="1250" dirty="0"/>
          </a:p>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と依頼</a:t>
            </a:r>
            <a:endParaRPr lang="en-US" sz="1250" dirty="0"/>
          </a:p>
        </p:txBody>
      </p:sp>
      <p:sp>
        <p:nvSpPr>
          <p:cNvPr id="15" name="Shape 12"/>
          <p:cNvSpPr/>
          <p:nvPr/>
        </p:nvSpPr>
        <p:spPr>
          <a:xfrm>
            <a:off x="5029200" y="1463040"/>
            <a:ext cx="2331720" cy="1051560"/>
          </a:xfrm>
          <a:prstGeom prst="chevron">
            <a:avLst/>
          </a:prstGeom>
          <a:solidFill>
            <a:srgbClr val="45356B"/>
          </a:solidFill>
          <a:ln/>
        </p:spPr>
      </p:sp>
      <p:sp>
        <p:nvSpPr>
          <p:cNvPr id="16" name="Text 13"/>
          <p:cNvSpPr/>
          <p:nvPr/>
        </p:nvSpPr>
        <p:spPr>
          <a:xfrm>
            <a:off x="5440680" y="1463040"/>
            <a:ext cx="1691640" cy="1051560"/>
          </a:xfrm>
          <a:prstGeom prst="rect">
            <a:avLst/>
          </a:prstGeom>
          <a:noFill/>
          <a:ln/>
        </p:spPr>
        <p:txBody>
          <a:bodyPr wrap="square" lIns="0" tIns="0" rIns="0" bIns="0" rtlCol="0" anchor="ctr"/>
          <a:lstStyle/>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マージ履歴を取得し</a:t>
            </a:r>
            <a:endParaRPr lang="en-US" sz="1250" dirty="0"/>
          </a:p>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機能ごとに整理</a:t>
            </a:r>
            <a:endParaRPr lang="en-US" sz="1250" dirty="0"/>
          </a:p>
        </p:txBody>
      </p:sp>
      <p:sp>
        <p:nvSpPr>
          <p:cNvPr id="17" name="Shape 14"/>
          <p:cNvSpPr/>
          <p:nvPr/>
        </p:nvSpPr>
        <p:spPr>
          <a:xfrm>
            <a:off x="7269480" y="1463040"/>
            <a:ext cx="2331720" cy="1051560"/>
          </a:xfrm>
          <a:prstGeom prst="chevron">
            <a:avLst/>
          </a:prstGeom>
          <a:solidFill>
            <a:srgbClr val="5F4C91"/>
          </a:solidFill>
          <a:ln/>
        </p:spPr>
      </p:sp>
      <p:sp>
        <p:nvSpPr>
          <p:cNvPr id="18" name="Text 15"/>
          <p:cNvSpPr/>
          <p:nvPr/>
        </p:nvSpPr>
        <p:spPr>
          <a:xfrm>
            <a:off x="7680960" y="1463040"/>
            <a:ext cx="1691640" cy="1051560"/>
          </a:xfrm>
          <a:prstGeom prst="rect">
            <a:avLst/>
          </a:prstGeom>
          <a:noFill/>
          <a:ln/>
        </p:spPr>
        <p:txBody>
          <a:bodyPr wrap="square" lIns="0" tIns="0" rIns="0" bIns="0" rtlCol="0" anchor="ctr"/>
          <a:lstStyle/>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初心者向けの</a:t>
            </a:r>
            <a:endParaRPr lang="en-US" sz="1250" dirty="0"/>
          </a:p>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HTMLを生成</a:t>
            </a:r>
            <a:endParaRPr lang="en-US" sz="1250" dirty="0"/>
          </a:p>
        </p:txBody>
      </p:sp>
      <p:sp>
        <p:nvSpPr>
          <p:cNvPr id="19" name="Shape 16"/>
          <p:cNvSpPr/>
          <p:nvPr/>
        </p:nvSpPr>
        <p:spPr>
          <a:xfrm>
            <a:off x="9509760" y="1463040"/>
            <a:ext cx="2331720" cy="1051560"/>
          </a:xfrm>
          <a:prstGeom prst="chevron">
            <a:avLst/>
          </a:prstGeom>
          <a:solidFill>
            <a:srgbClr val="45356B"/>
          </a:solidFill>
          <a:ln/>
        </p:spPr>
      </p:sp>
      <p:sp>
        <p:nvSpPr>
          <p:cNvPr id="20" name="Text 17"/>
          <p:cNvSpPr/>
          <p:nvPr/>
        </p:nvSpPr>
        <p:spPr>
          <a:xfrm>
            <a:off x="9921240" y="1463040"/>
            <a:ext cx="1691640" cy="1051560"/>
          </a:xfrm>
          <a:prstGeom prst="rect">
            <a:avLst/>
          </a:prstGeom>
          <a:noFill/>
          <a:ln/>
        </p:spPr>
        <p:txBody>
          <a:bodyPr wrap="square" lIns="0" tIns="0" rIns="0" bIns="0" rtlCol="0" anchor="ctr"/>
          <a:lstStyle/>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目次（index.html）</a:t>
            </a:r>
            <a:endParaRPr lang="en-US" sz="1250" dirty="0"/>
          </a:p>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を更新</a:t>
            </a:r>
            <a:endParaRPr lang="en-US" sz="1250" dirty="0"/>
          </a:p>
        </p:txBody>
      </p:sp>
      <p:sp>
        <p:nvSpPr>
          <p:cNvPr id="21" name="Shape 18"/>
          <p:cNvSpPr/>
          <p:nvPr/>
        </p:nvSpPr>
        <p:spPr>
          <a:xfrm>
            <a:off x="548640" y="2834640"/>
            <a:ext cx="7086600" cy="3337560"/>
          </a:xfrm>
          <a:prstGeom prst="roundRect">
            <a:avLst>
              <a:gd name="adj" fmla="val 2192"/>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2" name="Text 19"/>
          <p:cNvSpPr/>
          <p:nvPr/>
        </p:nvSpPr>
        <p:spPr>
          <a:xfrm>
            <a:off x="777240" y="2971800"/>
            <a:ext cx="5486400" cy="347472"/>
          </a:xfrm>
          <a:prstGeom prst="rect">
            <a:avLst/>
          </a:prstGeom>
          <a:noFill/>
          <a:ln/>
        </p:spPr>
        <p:txBody>
          <a:bodyPr wrap="square" lIns="0" tIns="0" rIns="0" bIns="0" rtlCol="0" anchor="t"/>
          <a:lstStyle/>
          <a:p>
            <a:pPr indent="0" marL="0">
              <a:buNone/>
            </a:pPr>
            <a:r>
              <a:rPr lang="en-US" sz="1500" b="1" dirty="0">
                <a:solidFill>
                  <a:srgbClr val="45356B"/>
                </a:solidFill>
                <a:latin typeface="BIZ UDPゴシック" pitchFamily="34" charset="0"/>
                <a:ea typeface="BIZ UDPゴシック" pitchFamily="34" charset="-122"/>
                <a:cs typeface="BIZ UDPゴシック" pitchFamily="34" charset="-120"/>
              </a:rPr>
              <a:t>解説書に必ず入れる 8 項目</a:t>
            </a:r>
            <a:endParaRPr lang="en-US" sz="1500" dirty="0"/>
          </a:p>
        </p:txBody>
      </p:sp>
      <p:sp>
        <p:nvSpPr>
          <p:cNvPr id="23" name="Shape 20"/>
          <p:cNvSpPr/>
          <p:nvPr/>
        </p:nvSpPr>
        <p:spPr>
          <a:xfrm>
            <a:off x="777240" y="3456432"/>
            <a:ext cx="3200400" cy="512064"/>
          </a:xfrm>
          <a:prstGeom prst="roundRect">
            <a:avLst>
              <a:gd name="adj" fmla="val 10714"/>
            </a:avLst>
          </a:prstGeom>
          <a:solidFill>
            <a:srgbClr val="FFFFFF"/>
          </a:solidFill>
          <a:ln w="15875">
            <a:solidFill>
              <a:srgbClr val="DCC48A"/>
            </a:solidFill>
            <a:prstDash val="solid"/>
          </a:ln>
        </p:spPr>
      </p:sp>
      <p:sp>
        <p:nvSpPr>
          <p:cNvPr id="24" name="Shape 21"/>
          <p:cNvSpPr/>
          <p:nvPr/>
        </p:nvSpPr>
        <p:spPr>
          <a:xfrm>
            <a:off x="868680" y="3547872"/>
            <a:ext cx="329184" cy="329184"/>
          </a:xfrm>
          <a:prstGeom prst="ellipse">
            <a:avLst/>
          </a:prstGeom>
          <a:solidFill>
            <a:srgbClr val="B8862B"/>
          </a:solidFill>
          <a:ln/>
        </p:spPr>
      </p:sp>
      <p:sp>
        <p:nvSpPr>
          <p:cNvPr id="25" name="Text 22"/>
          <p:cNvSpPr/>
          <p:nvPr/>
        </p:nvSpPr>
        <p:spPr>
          <a:xfrm>
            <a:off x="868680" y="35478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1</a:t>
            </a:r>
            <a:endParaRPr lang="en-US" sz="1100" dirty="0"/>
          </a:p>
        </p:txBody>
      </p:sp>
      <p:sp>
        <p:nvSpPr>
          <p:cNvPr id="26" name="Text 23"/>
          <p:cNvSpPr/>
          <p:nvPr/>
        </p:nvSpPr>
        <p:spPr>
          <a:xfrm>
            <a:off x="1289304" y="3456432"/>
            <a:ext cx="2651760" cy="512064"/>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基本情報（期間・ブランチ・マージ）</a:t>
            </a:r>
            <a:endParaRPr lang="en-US" sz="1150" dirty="0"/>
          </a:p>
        </p:txBody>
      </p:sp>
      <p:sp>
        <p:nvSpPr>
          <p:cNvPr id="27" name="Shape 24"/>
          <p:cNvSpPr/>
          <p:nvPr/>
        </p:nvSpPr>
        <p:spPr>
          <a:xfrm>
            <a:off x="4160520" y="3456432"/>
            <a:ext cx="3200400" cy="512064"/>
          </a:xfrm>
          <a:prstGeom prst="roundRect">
            <a:avLst>
              <a:gd name="adj" fmla="val 10714"/>
            </a:avLst>
          </a:prstGeom>
          <a:solidFill>
            <a:srgbClr val="FFFFFF"/>
          </a:solidFill>
          <a:ln w="15875">
            <a:solidFill>
              <a:srgbClr val="DCC48A"/>
            </a:solidFill>
            <a:prstDash val="solid"/>
          </a:ln>
        </p:spPr>
      </p:sp>
      <p:sp>
        <p:nvSpPr>
          <p:cNvPr id="28" name="Shape 25"/>
          <p:cNvSpPr/>
          <p:nvPr/>
        </p:nvSpPr>
        <p:spPr>
          <a:xfrm>
            <a:off x="4251960" y="3547872"/>
            <a:ext cx="329184" cy="329184"/>
          </a:xfrm>
          <a:prstGeom prst="ellipse">
            <a:avLst/>
          </a:prstGeom>
          <a:solidFill>
            <a:srgbClr val="B8862B"/>
          </a:solidFill>
          <a:ln/>
        </p:spPr>
      </p:sp>
      <p:sp>
        <p:nvSpPr>
          <p:cNvPr id="29" name="Text 26"/>
          <p:cNvSpPr/>
          <p:nvPr/>
        </p:nvSpPr>
        <p:spPr>
          <a:xfrm>
            <a:off x="4251960" y="35478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2</a:t>
            </a:r>
            <a:endParaRPr lang="en-US" sz="1100" dirty="0"/>
          </a:p>
        </p:txBody>
      </p:sp>
      <p:sp>
        <p:nvSpPr>
          <p:cNvPr id="30" name="Text 27"/>
          <p:cNvSpPr/>
          <p:nvPr/>
        </p:nvSpPr>
        <p:spPr>
          <a:xfrm>
            <a:off x="4672584" y="3456432"/>
            <a:ext cx="2651760" cy="512064"/>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先に知っておきたいこと</a:t>
            </a:r>
            <a:endParaRPr lang="en-US" sz="1150" dirty="0"/>
          </a:p>
        </p:txBody>
      </p:sp>
      <p:sp>
        <p:nvSpPr>
          <p:cNvPr id="31" name="Shape 28"/>
          <p:cNvSpPr/>
          <p:nvPr/>
        </p:nvSpPr>
        <p:spPr>
          <a:xfrm>
            <a:off x="777240" y="4096512"/>
            <a:ext cx="3200400" cy="512064"/>
          </a:xfrm>
          <a:prstGeom prst="roundRect">
            <a:avLst>
              <a:gd name="adj" fmla="val 10714"/>
            </a:avLst>
          </a:prstGeom>
          <a:solidFill>
            <a:srgbClr val="FFFFFF"/>
          </a:solidFill>
          <a:ln w="15875">
            <a:solidFill>
              <a:srgbClr val="DCC48A"/>
            </a:solidFill>
            <a:prstDash val="solid"/>
          </a:ln>
        </p:spPr>
      </p:sp>
      <p:sp>
        <p:nvSpPr>
          <p:cNvPr id="32" name="Shape 29"/>
          <p:cNvSpPr/>
          <p:nvPr/>
        </p:nvSpPr>
        <p:spPr>
          <a:xfrm>
            <a:off x="868680" y="4187952"/>
            <a:ext cx="329184" cy="329184"/>
          </a:xfrm>
          <a:prstGeom prst="ellipse">
            <a:avLst/>
          </a:prstGeom>
          <a:solidFill>
            <a:srgbClr val="B8862B"/>
          </a:solidFill>
          <a:ln/>
        </p:spPr>
      </p:sp>
      <p:sp>
        <p:nvSpPr>
          <p:cNvPr id="33" name="Text 30"/>
          <p:cNvSpPr/>
          <p:nvPr/>
        </p:nvSpPr>
        <p:spPr>
          <a:xfrm>
            <a:off x="868680" y="418795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3</a:t>
            </a:r>
            <a:endParaRPr lang="en-US" sz="1100" dirty="0"/>
          </a:p>
        </p:txBody>
      </p:sp>
      <p:sp>
        <p:nvSpPr>
          <p:cNvPr id="34" name="Text 31"/>
          <p:cNvSpPr/>
          <p:nvPr/>
        </p:nvSpPr>
        <p:spPr>
          <a:xfrm>
            <a:off x="1289304" y="4096512"/>
            <a:ext cx="2651760" cy="512064"/>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機能の目的（関連するUS）</a:t>
            </a:r>
            <a:endParaRPr lang="en-US" sz="1150" dirty="0"/>
          </a:p>
        </p:txBody>
      </p:sp>
      <p:sp>
        <p:nvSpPr>
          <p:cNvPr id="35" name="Shape 32"/>
          <p:cNvSpPr/>
          <p:nvPr/>
        </p:nvSpPr>
        <p:spPr>
          <a:xfrm>
            <a:off x="4160520" y="4096512"/>
            <a:ext cx="3200400" cy="512064"/>
          </a:xfrm>
          <a:prstGeom prst="roundRect">
            <a:avLst>
              <a:gd name="adj" fmla="val 10714"/>
            </a:avLst>
          </a:prstGeom>
          <a:solidFill>
            <a:srgbClr val="FFFFFF"/>
          </a:solidFill>
          <a:ln w="15875">
            <a:solidFill>
              <a:srgbClr val="DCC48A"/>
            </a:solidFill>
            <a:prstDash val="solid"/>
          </a:ln>
        </p:spPr>
      </p:sp>
      <p:sp>
        <p:nvSpPr>
          <p:cNvPr id="36" name="Shape 33"/>
          <p:cNvSpPr/>
          <p:nvPr/>
        </p:nvSpPr>
        <p:spPr>
          <a:xfrm>
            <a:off x="4251960" y="4187952"/>
            <a:ext cx="329184" cy="329184"/>
          </a:xfrm>
          <a:prstGeom prst="ellipse">
            <a:avLst/>
          </a:prstGeom>
          <a:solidFill>
            <a:srgbClr val="B8862B"/>
          </a:solidFill>
          <a:ln/>
        </p:spPr>
      </p:sp>
      <p:sp>
        <p:nvSpPr>
          <p:cNvPr id="37" name="Text 34"/>
          <p:cNvSpPr/>
          <p:nvPr/>
        </p:nvSpPr>
        <p:spPr>
          <a:xfrm>
            <a:off x="4251960" y="418795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4</a:t>
            </a:r>
            <a:endParaRPr lang="en-US" sz="1100" dirty="0"/>
          </a:p>
        </p:txBody>
      </p:sp>
      <p:sp>
        <p:nvSpPr>
          <p:cNvPr id="38" name="Text 35"/>
          <p:cNvSpPr/>
          <p:nvPr/>
        </p:nvSpPr>
        <p:spPr>
          <a:xfrm>
            <a:off x="4672584" y="4096512"/>
            <a:ext cx="2651760" cy="512064"/>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処理の流れ</a:t>
            </a:r>
            <a:endParaRPr lang="en-US" sz="1150" dirty="0"/>
          </a:p>
        </p:txBody>
      </p:sp>
      <p:sp>
        <p:nvSpPr>
          <p:cNvPr id="39" name="Shape 36"/>
          <p:cNvSpPr/>
          <p:nvPr/>
        </p:nvSpPr>
        <p:spPr>
          <a:xfrm>
            <a:off x="777240" y="4736592"/>
            <a:ext cx="3200400" cy="512064"/>
          </a:xfrm>
          <a:prstGeom prst="roundRect">
            <a:avLst>
              <a:gd name="adj" fmla="val 10714"/>
            </a:avLst>
          </a:prstGeom>
          <a:solidFill>
            <a:srgbClr val="FFFFFF"/>
          </a:solidFill>
          <a:ln w="15875">
            <a:solidFill>
              <a:srgbClr val="DCC48A"/>
            </a:solidFill>
            <a:prstDash val="solid"/>
          </a:ln>
        </p:spPr>
      </p:sp>
      <p:sp>
        <p:nvSpPr>
          <p:cNvPr id="40" name="Shape 37"/>
          <p:cNvSpPr/>
          <p:nvPr/>
        </p:nvSpPr>
        <p:spPr>
          <a:xfrm>
            <a:off x="868680" y="4828032"/>
            <a:ext cx="329184" cy="329184"/>
          </a:xfrm>
          <a:prstGeom prst="ellipse">
            <a:avLst/>
          </a:prstGeom>
          <a:solidFill>
            <a:srgbClr val="B8862B"/>
          </a:solidFill>
          <a:ln/>
        </p:spPr>
      </p:sp>
      <p:sp>
        <p:nvSpPr>
          <p:cNvPr id="41" name="Text 38"/>
          <p:cNvSpPr/>
          <p:nvPr/>
        </p:nvSpPr>
        <p:spPr>
          <a:xfrm>
            <a:off x="868680" y="48280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5</a:t>
            </a:r>
            <a:endParaRPr lang="en-US" sz="1100" dirty="0"/>
          </a:p>
        </p:txBody>
      </p:sp>
      <p:sp>
        <p:nvSpPr>
          <p:cNvPr id="42" name="Text 39"/>
          <p:cNvSpPr/>
          <p:nvPr/>
        </p:nvSpPr>
        <p:spPr>
          <a:xfrm>
            <a:off x="1289304" y="4736592"/>
            <a:ext cx="2651760" cy="512064"/>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コードの解説</a:t>
            </a:r>
            <a:endParaRPr lang="en-US" sz="1150" dirty="0"/>
          </a:p>
        </p:txBody>
      </p:sp>
      <p:sp>
        <p:nvSpPr>
          <p:cNvPr id="43" name="Shape 40"/>
          <p:cNvSpPr/>
          <p:nvPr/>
        </p:nvSpPr>
        <p:spPr>
          <a:xfrm>
            <a:off x="4160520" y="4736592"/>
            <a:ext cx="3200400" cy="512064"/>
          </a:xfrm>
          <a:prstGeom prst="roundRect">
            <a:avLst>
              <a:gd name="adj" fmla="val 10714"/>
            </a:avLst>
          </a:prstGeom>
          <a:solidFill>
            <a:srgbClr val="FFFFFF"/>
          </a:solidFill>
          <a:ln w="15875">
            <a:solidFill>
              <a:srgbClr val="DCC48A"/>
            </a:solidFill>
            <a:prstDash val="solid"/>
          </a:ln>
        </p:spPr>
      </p:sp>
      <p:sp>
        <p:nvSpPr>
          <p:cNvPr id="44" name="Shape 41"/>
          <p:cNvSpPr/>
          <p:nvPr/>
        </p:nvSpPr>
        <p:spPr>
          <a:xfrm>
            <a:off x="4251960" y="4828032"/>
            <a:ext cx="329184" cy="329184"/>
          </a:xfrm>
          <a:prstGeom prst="ellipse">
            <a:avLst/>
          </a:prstGeom>
          <a:solidFill>
            <a:srgbClr val="B8862B"/>
          </a:solidFill>
          <a:ln/>
        </p:spPr>
      </p:sp>
      <p:sp>
        <p:nvSpPr>
          <p:cNvPr id="45" name="Text 42"/>
          <p:cNvSpPr/>
          <p:nvPr/>
        </p:nvSpPr>
        <p:spPr>
          <a:xfrm>
            <a:off x="4251960" y="48280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6</a:t>
            </a:r>
            <a:endParaRPr lang="en-US" sz="1100" dirty="0"/>
          </a:p>
        </p:txBody>
      </p:sp>
      <p:sp>
        <p:nvSpPr>
          <p:cNvPr id="46" name="Text 43"/>
          <p:cNvSpPr/>
          <p:nvPr/>
        </p:nvSpPr>
        <p:spPr>
          <a:xfrm>
            <a:off x="4672584" y="4736592"/>
            <a:ext cx="2651760" cy="512064"/>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動作確認方法</a:t>
            </a:r>
            <a:endParaRPr lang="en-US" sz="1150" dirty="0"/>
          </a:p>
        </p:txBody>
      </p:sp>
      <p:sp>
        <p:nvSpPr>
          <p:cNvPr id="47" name="Shape 44"/>
          <p:cNvSpPr/>
          <p:nvPr/>
        </p:nvSpPr>
        <p:spPr>
          <a:xfrm>
            <a:off x="777240" y="5376672"/>
            <a:ext cx="3200400" cy="512064"/>
          </a:xfrm>
          <a:prstGeom prst="roundRect">
            <a:avLst>
              <a:gd name="adj" fmla="val 10714"/>
            </a:avLst>
          </a:prstGeom>
          <a:solidFill>
            <a:srgbClr val="FFFFFF"/>
          </a:solidFill>
          <a:ln w="15875">
            <a:solidFill>
              <a:srgbClr val="DCC48A"/>
            </a:solidFill>
            <a:prstDash val="solid"/>
          </a:ln>
        </p:spPr>
      </p:sp>
      <p:sp>
        <p:nvSpPr>
          <p:cNvPr id="48" name="Shape 45"/>
          <p:cNvSpPr/>
          <p:nvPr/>
        </p:nvSpPr>
        <p:spPr>
          <a:xfrm>
            <a:off x="868680" y="5468112"/>
            <a:ext cx="329184" cy="329184"/>
          </a:xfrm>
          <a:prstGeom prst="ellipse">
            <a:avLst/>
          </a:prstGeom>
          <a:solidFill>
            <a:srgbClr val="B8862B"/>
          </a:solidFill>
          <a:ln/>
        </p:spPr>
      </p:sp>
      <p:sp>
        <p:nvSpPr>
          <p:cNvPr id="49" name="Text 46"/>
          <p:cNvSpPr/>
          <p:nvPr/>
        </p:nvSpPr>
        <p:spPr>
          <a:xfrm>
            <a:off x="868680" y="54681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7</a:t>
            </a:r>
            <a:endParaRPr lang="en-US" sz="1100" dirty="0"/>
          </a:p>
        </p:txBody>
      </p:sp>
      <p:sp>
        <p:nvSpPr>
          <p:cNvPr id="50" name="Text 47"/>
          <p:cNvSpPr/>
          <p:nvPr/>
        </p:nvSpPr>
        <p:spPr>
          <a:xfrm>
            <a:off x="1289304" y="5376672"/>
            <a:ext cx="2651760" cy="512064"/>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関連ファイル一覧</a:t>
            </a:r>
            <a:endParaRPr lang="en-US" sz="1150" dirty="0"/>
          </a:p>
        </p:txBody>
      </p:sp>
      <p:sp>
        <p:nvSpPr>
          <p:cNvPr id="51" name="Shape 48"/>
          <p:cNvSpPr/>
          <p:nvPr/>
        </p:nvSpPr>
        <p:spPr>
          <a:xfrm>
            <a:off x="4160520" y="5376672"/>
            <a:ext cx="3200400" cy="512064"/>
          </a:xfrm>
          <a:prstGeom prst="roundRect">
            <a:avLst>
              <a:gd name="adj" fmla="val 10714"/>
            </a:avLst>
          </a:prstGeom>
          <a:solidFill>
            <a:srgbClr val="FFFFFF"/>
          </a:solidFill>
          <a:ln w="15875">
            <a:solidFill>
              <a:srgbClr val="DCC48A"/>
            </a:solidFill>
            <a:prstDash val="solid"/>
          </a:ln>
        </p:spPr>
      </p:sp>
      <p:sp>
        <p:nvSpPr>
          <p:cNvPr id="52" name="Shape 49"/>
          <p:cNvSpPr/>
          <p:nvPr/>
        </p:nvSpPr>
        <p:spPr>
          <a:xfrm>
            <a:off x="4251960" y="5468112"/>
            <a:ext cx="329184" cy="329184"/>
          </a:xfrm>
          <a:prstGeom prst="ellipse">
            <a:avLst/>
          </a:prstGeom>
          <a:solidFill>
            <a:srgbClr val="B8862B"/>
          </a:solidFill>
          <a:ln/>
        </p:spPr>
      </p:sp>
      <p:sp>
        <p:nvSpPr>
          <p:cNvPr id="53" name="Text 50"/>
          <p:cNvSpPr/>
          <p:nvPr/>
        </p:nvSpPr>
        <p:spPr>
          <a:xfrm>
            <a:off x="4251960" y="54681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8</a:t>
            </a:r>
            <a:endParaRPr lang="en-US" sz="1100" dirty="0"/>
          </a:p>
        </p:txBody>
      </p:sp>
      <p:sp>
        <p:nvSpPr>
          <p:cNvPr id="54" name="Text 51"/>
          <p:cNvSpPr/>
          <p:nvPr/>
        </p:nvSpPr>
        <p:spPr>
          <a:xfrm>
            <a:off x="4672584" y="5376672"/>
            <a:ext cx="2651760" cy="512064"/>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関連ドキュメント</a:t>
            </a:r>
            <a:endParaRPr lang="en-US" sz="1150" dirty="0"/>
          </a:p>
        </p:txBody>
      </p:sp>
      <p:sp>
        <p:nvSpPr>
          <p:cNvPr id="55" name="Shape 52"/>
          <p:cNvSpPr/>
          <p:nvPr/>
        </p:nvSpPr>
        <p:spPr>
          <a:xfrm>
            <a:off x="7863840" y="2834640"/>
            <a:ext cx="3776472" cy="3337560"/>
          </a:xfrm>
          <a:prstGeom prst="roundRect">
            <a:avLst>
              <a:gd name="adj" fmla="val 2192"/>
            </a:avLst>
          </a:prstGeom>
          <a:solidFill>
            <a:srgbClr val="45356B"/>
          </a:solidFill>
          <a:ln/>
          <a:effectLst>
            <a:outerShdw sx="100000" sy="100000" kx="0" ky="0" algn="bl" rotWithShape="0" blurRad="101600" dist="38100" dir="2700000">
              <a:srgbClr val="5C4430">
                <a:alpha val="30000"/>
              </a:srgbClr>
            </a:outerShdw>
          </a:effectLst>
        </p:spPr>
      </p:sp>
      <p:sp>
        <p:nvSpPr>
          <p:cNvPr id="56" name="Text 53"/>
          <p:cNvSpPr/>
          <p:nvPr/>
        </p:nvSpPr>
        <p:spPr>
          <a:xfrm>
            <a:off x="8046720" y="3017520"/>
            <a:ext cx="3474720" cy="320040"/>
          </a:xfrm>
          <a:prstGeom prst="rect">
            <a:avLst/>
          </a:prstGeom>
          <a:noFill/>
          <a:ln/>
        </p:spPr>
        <p:txBody>
          <a:bodyPr wrap="square" lIns="0" tIns="0" rIns="0" bIns="0" rtlCol="0" anchor="t"/>
          <a:lstStyle/>
          <a:p>
            <a:pPr algn="ctr" indent="0" marL="0">
              <a:buNone/>
            </a:pPr>
            <a:r>
              <a:rPr lang="en-US" sz="1300" b="1" dirty="0">
                <a:solidFill>
                  <a:srgbClr val="E8E1F5"/>
                </a:solidFill>
                <a:latin typeface="BIZ UDPゴシック" pitchFamily="34" charset="0"/>
                <a:ea typeface="BIZ UDPゴシック" pitchFamily="34" charset="-122"/>
                <a:cs typeface="BIZ UDPゴシック" pitchFamily="34" charset="-120"/>
              </a:rPr>
              <a:t>これまでに生成した機能解説書</a:t>
            </a:r>
            <a:endParaRPr lang="en-US" sz="1300" dirty="0"/>
          </a:p>
        </p:txBody>
      </p:sp>
      <p:sp>
        <p:nvSpPr>
          <p:cNvPr id="57" name="Text 54"/>
          <p:cNvSpPr/>
          <p:nvPr/>
        </p:nvSpPr>
        <p:spPr>
          <a:xfrm>
            <a:off x="8046720" y="3337560"/>
            <a:ext cx="3474720" cy="1234440"/>
          </a:xfrm>
          <a:prstGeom prst="rect">
            <a:avLst/>
          </a:prstGeom>
          <a:noFill/>
          <a:ln/>
        </p:spPr>
        <p:txBody>
          <a:bodyPr wrap="square" lIns="0" tIns="0" rIns="0" bIns="0" rtlCol="0" anchor="ctr"/>
          <a:lstStyle/>
          <a:p>
            <a:pPr algn="ctr" indent="0" marL="0">
              <a:buNone/>
            </a:pPr>
            <a:r>
              <a:rPr lang="en-US" sz="7200" b="1" dirty="0">
                <a:solidFill>
                  <a:srgbClr val="DCC48A"/>
                </a:solidFill>
                <a:latin typeface="Georgia" pitchFamily="34" charset="0"/>
                <a:ea typeface="Georgia" pitchFamily="34" charset="-122"/>
                <a:cs typeface="Georgia" pitchFamily="34" charset="-120"/>
              </a:rPr>
              <a:t>25</a:t>
            </a:r>
            <a:pPr algn="ctr" indent="0" marL="0">
              <a:buNone/>
            </a:pPr>
            <a:r>
              <a:rPr lang="en-US" sz="2400" b="1" dirty="0">
                <a:solidFill>
                  <a:srgbClr val="FFFFFF"/>
                </a:solidFill>
                <a:latin typeface="BIZ UDPゴシック" pitchFamily="34" charset="0"/>
                <a:ea typeface="BIZ UDPゴシック" pitchFamily="34" charset="-122"/>
                <a:cs typeface="BIZ UDPゴシック" pitchFamily="34" charset="-120"/>
              </a:rPr>
              <a:t> 本</a:t>
            </a:r>
            <a:endParaRPr lang="en-US" sz="1400" dirty="0"/>
          </a:p>
        </p:txBody>
      </p:sp>
      <p:sp>
        <p:nvSpPr>
          <p:cNvPr id="58" name="Shape 55"/>
          <p:cNvSpPr/>
          <p:nvPr/>
        </p:nvSpPr>
        <p:spPr>
          <a:xfrm>
            <a:off x="8321040" y="4709160"/>
            <a:ext cx="2862072" cy="0"/>
          </a:xfrm>
          <a:prstGeom prst="line">
            <a:avLst/>
          </a:prstGeom>
          <a:noFill/>
          <a:ln w="12700">
            <a:solidFill>
              <a:srgbClr val="DCC48A"/>
            </a:solidFill>
            <a:prstDash val="solid"/>
          </a:ln>
        </p:spPr>
      </p:sp>
      <p:sp>
        <p:nvSpPr>
          <p:cNvPr id="59" name="Text 56"/>
          <p:cNvSpPr/>
          <p:nvPr/>
        </p:nvSpPr>
        <p:spPr>
          <a:xfrm>
            <a:off x="8046720" y="4800600"/>
            <a:ext cx="3474720" cy="640080"/>
          </a:xfrm>
          <a:prstGeom prst="rect">
            <a:avLst/>
          </a:prstGeom>
          <a:noFill/>
          <a:ln/>
        </p:spPr>
        <p:txBody>
          <a:bodyPr wrap="square" lIns="0" tIns="0" rIns="0" bIns="0" rtlCol="0" anchor="t"/>
          <a:lstStyle/>
          <a:p>
            <a:pPr algn="ctr" indent="0" marL="0">
              <a:buNone/>
            </a:pPr>
            <a:r>
              <a:rPr lang="en-US" sz="1150" dirty="0">
                <a:solidFill>
                  <a:srgbClr val="FFFFFF"/>
                </a:solidFill>
                <a:latin typeface="BIZ UDPゴシック" pitchFamily="34" charset="0"/>
                <a:ea typeface="BIZ UDPゴシック" pitchFamily="34" charset="-122"/>
                <a:cs typeface="BIZ UDPゴシック" pitchFamily="34" charset="-120"/>
              </a:rPr>
              <a:t>既存の解説書は上書きせず追記</a:t>
            </a:r>
            <a:endParaRPr lang="en-US" sz="1150" dirty="0"/>
          </a:p>
          <a:p>
            <a:pPr algn="ctr" indent="0" marL="0">
              <a:buNone/>
            </a:pPr>
            <a:r>
              <a:rPr lang="en-US" sz="1150" dirty="0">
                <a:solidFill>
                  <a:srgbClr val="FFFFFF"/>
                </a:solidFill>
                <a:latin typeface="BIZ UDPゴシック" pitchFamily="34" charset="0"/>
                <a:ea typeface="BIZ UDPゴシック" pitchFamily="34" charset="-122"/>
                <a:cs typeface="BIZ UDPゴシック" pitchFamily="34" charset="-120"/>
              </a:rPr>
              <a:t>対象外にしたマージも理由つきで報告</a:t>
            </a:r>
            <a:endParaRPr lang="en-US" sz="1150" dirty="0"/>
          </a:p>
        </p:txBody>
      </p:sp>
      <p:sp>
        <p:nvSpPr>
          <p:cNvPr id="60" name="Text 57"/>
          <p:cNvSpPr/>
          <p:nvPr/>
        </p:nvSpPr>
        <p:spPr>
          <a:xfrm>
            <a:off x="8046720" y="5577840"/>
            <a:ext cx="3474720" cy="365760"/>
          </a:xfrm>
          <a:prstGeom prst="rect">
            <a:avLst/>
          </a:prstGeom>
          <a:noFill/>
          <a:ln/>
        </p:spPr>
        <p:txBody>
          <a:bodyPr wrap="square" lIns="0" tIns="0" rIns="0" bIns="0" rtlCol="0" anchor="t"/>
          <a:lstStyle/>
          <a:p>
            <a:pPr algn="ctr" indent="0" marL="0">
              <a:buNone/>
            </a:pPr>
            <a:r>
              <a:rPr lang="en-US" sz="1100" dirty="0">
                <a:solidFill>
                  <a:srgbClr val="DCC48A"/>
                </a:solidFill>
                <a:latin typeface="Consolas" pitchFamily="34" charset="0"/>
                <a:ea typeface="Consolas" pitchFamily="34" charset="-122"/>
                <a:cs typeface="Consolas" pitchFamily="34" charset="-120"/>
              </a:rPr>
              <a:t>.kiro/skills/feature-guide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01 TECHNIQUE ④</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CI/CD 環境の構築（GitHub Actions × AWS CDK）</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01 アーキテクチャ＆技術的工夫</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10</a:t>
            </a:r>
            <a:endParaRPr lang="en-US" sz="900" dirty="0"/>
          </a:p>
        </p:txBody>
      </p:sp>
      <p:sp>
        <p:nvSpPr>
          <p:cNvPr id="11" name="Shape 8"/>
          <p:cNvSpPr/>
          <p:nvPr/>
        </p:nvSpPr>
        <p:spPr>
          <a:xfrm>
            <a:off x="548640" y="1508760"/>
            <a:ext cx="1828800" cy="640080"/>
          </a:xfrm>
          <a:prstGeom prst="roundRect">
            <a:avLst>
              <a:gd name="adj" fmla="val 14286"/>
            </a:avLst>
          </a:prstGeom>
          <a:solidFill>
            <a:srgbClr val="6B5B46"/>
          </a:solidFill>
          <a:ln/>
          <a:effectLst>
            <a:outerShdw sx="100000" sy="100000" kx="0" ky="0" algn="bl" rotWithShape="0" blurRad="101600" dist="38100" dir="2700000">
              <a:srgbClr val="5C4430">
                <a:alpha val="30000"/>
              </a:srgbClr>
            </a:outerShdw>
          </a:effectLst>
        </p:spPr>
      </p:sp>
      <p:sp>
        <p:nvSpPr>
          <p:cNvPr id="12" name="Text 9"/>
          <p:cNvSpPr/>
          <p:nvPr/>
        </p:nvSpPr>
        <p:spPr>
          <a:xfrm>
            <a:off x="548640" y="1508760"/>
            <a:ext cx="182880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onsolas" pitchFamily="34" charset="0"/>
                <a:ea typeface="Consolas" pitchFamily="34" charset="-122"/>
                <a:cs typeface="Consolas" pitchFamily="34" charset="-120"/>
              </a:rPr>
              <a:t>feature/NZ-xx</a:t>
            </a:r>
            <a:endParaRPr lang="en-US" sz="1250" dirty="0"/>
          </a:p>
        </p:txBody>
      </p:sp>
      <p:sp>
        <p:nvSpPr>
          <p:cNvPr id="13" name="Shape 10"/>
          <p:cNvSpPr/>
          <p:nvPr/>
        </p:nvSpPr>
        <p:spPr>
          <a:xfrm>
            <a:off x="2834640" y="1508760"/>
            <a:ext cx="2103120" cy="640080"/>
          </a:xfrm>
          <a:prstGeom prst="roundRect">
            <a:avLst>
              <a:gd name="adj" fmla="val 14286"/>
            </a:avLst>
          </a:prstGeom>
          <a:solidFill>
            <a:srgbClr val="5F4C91"/>
          </a:solidFill>
          <a:ln/>
          <a:effectLst>
            <a:outerShdw sx="100000" sy="100000" kx="0" ky="0" algn="bl" rotWithShape="0" blurRad="101600" dist="38100" dir="2700000">
              <a:srgbClr val="5C4430">
                <a:alpha val="30000"/>
              </a:srgbClr>
            </a:outerShdw>
          </a:effectLst>
        </p:spPr>
      </p:sp>
      <p:sp>
        <p:nvSpPr>
          <p:cNvPr id="14" name="Text 11"/>
          <p:cNvSpPr/>
          <p:nvPr/>
        </p:nvSpPr>
        <p:spPr>
          <a:xfrm>
            <a:off x="2834640" y="1508760"/>
            <a:ext cx="21031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BIZ UDPゴシック" pitchFamily="34" charset="0"/>
                <a:ea typeface="BIZ UDPゴシック" pitchFamily="34" charset="-122"/>
                <a:cs typeface="BIZ UDPゴシック" pitchFamily="34" charset="-120"/>
              </a:rPr>
              <a:t>PR＋レビュー</a:t>
            </a:r>
            <a:endParaRPr lang="en-US" sz="1200" dirty="0"/>
          </a:p>
          <a:p>
            <a:pPr algn="ctr" indent="0" marL="0">
              <a:buNone/>
            </a:pPr>
            <a:r>
              <a:rPr lang="en-US" sz="1200" b="1" dirty="0">
                <a:solidFill>
                  <a:srgbClr val="FFFFFF"/>
                </a:solidFill>
                <a:latin typeface="BIZ UDPゴシック" pitchFamily="34" charset="0"/>
                <a:ea typeface="BIZ UDPゴシック" pitchFamily="34" charset="-122"/>
                <a:cs typeface="BIZ UDPゴシック" pitchFamily="34" charset="-120"/>
              </a:rPr>
              <a:t>＋CIチェック</a:t>
            </a:r>
            <a:endParaRPr lang="en-US" sz="1200" dirty="0"/>
          </a:p>
        </p:txBody>
      </p:sp>
      <p:sp>
        <p:nvSpPr>
          <p:cNvPr id="15" name="Shape 12"/>
          <p:cNvSpPr/>
          <p:nvPr/>
        </p:nvSpPr>
        <p:spPr>
          <a:xfrm>
            <a:off x="5394960" y="1508760"/>
            <a:ext cx="1645920" cy="640080"/>
          </a:xfrm>
          <a:prstGeom prst="roundRect">
            <a:avLst>
              <a:gd name="adj" fmla="val 14286"/>
            </a:avLst>
          </a:prstGeom>
          <a:solidFill>
            <a:srgbClr val="3F7A5C"/>
          </a:solidFill>
          <a:ln/>
          <a:effectLst>
            <a:outerShdw sx="100000" sy="100000" kx="0" ky="0" algn="bl" rotWithShape="0" blurRad="101600" dist="38100" dir="2700000">
              <a:srgbClr val="5C4430">
                <a:alpha val="30000"/>
              </a:srgbClr>
            </a:outerShdw>
          </a:effectLst>
        </p:spPr>
      </p:sp>
      <p:sp>
        <p:nvSpPr>
          <p:cNvPr id="16" name="Text 13"/>
          <p:cNvSpPr/>
          <p:nvPr/>
        </p:nvSpPr>
        <p:spPr>
          <a:xfrm>
            <a:off x="5394960" y="1508760"/>
            <a:ext cx="164592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develop</a:t>
            </a:r>
            <a:endParaRPr lang="en-US" sz="1300" dirty="0"/>
          </a:p>
        </p:txBody>
      </p:sp>
      <p:sp>
        <p:nvSpPr>
          <p:cNvPr id="17" name="Shape 14"/>
          <p:cNvSpPr/>
          <p:nvPr/>
        </p:nvSpPr>
        <p:spPr>
          <a:xfrm>
            <a:off x="5394960" y="2514600"/>
            <a:ext cx="1645920" cy="640080"/>
          </a:xfrm>
          <a:prstGeom prst="roundRect">
            <a:avLst>
              <a:gd name="adj" fmla="val 14286"/>
            </a:avLst>
          </a:prstGeom>
          <a:solidFill>
            <a:srgbClr val="45356B"/>
          </a:solidFill>
          <a:ln/>
          <a:effectLst>
            <a:outerShdw sx="100000" sy="100000" kx="0" ky="0" algn="bl" rotWithShape="0" blurRad="101600" dist="38100" dir="2700000">
              <a:srgbClr val="5C4430">
                <a:alpha val="30000"/>
              </a:srgbClr>
            </a:outerShdw>
          </a:effectLst>
        </p:spPr>
      </p:sp>
      <p:sp>
        <p:nvSpPr>
          <p:cNvPr id="18" name="Text 15"/>
          <p:cNvSpPr/>
          <p:nvPr/>
        </p:nvSpPr>
        <p:spPr>
          <a:xfrm>
            <a:off x="5394960" y="2514600"/>
            <a:ext cx="164592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main</a:t>
            </a:r>
            <a:endParaRPr lang="en-US" sz="1300" dirty="0"/>
          </a:p>
        </p:txBody>
      </p:sp>
      <p:sp>
        <p:nvSpPr>
          <p:cNvPr id="19" name="Shape 16"/>
          <p:cNvSpPr/>
          <p:nvPr/>
        </p:nvSpPr>
        <p:spPr>
          <a:xfrm>
            <a:off x="2377440" y="1828800"/>
            <a:ext cx="457200" cy="914"/>
          </a:xfrm>
          <a:prstGeom prst="line">
            <a:avLst/>
          </a:prstGeom>
          <a:noFill/>
          <a:ln w="22225">
            <a:solidFill>
              <a:srgbClr val="5C4430"/>
            </a:solidFill>
            <a:prstDash val="solid"/>
            <a:tailEnd type="triangle"/>
          </a:ln>
        </p:spPr>
      </p:sp>
      <p:sp>
        <p:nvSpPr>
          <p:cNvPr id="20" name="Shape 17"/>
          <p:cNvSpPr/>
          <p:nvPr/>
        </p:nvSpPr>
        <p:spPr>
          <a:xfrm>
            <a:off x="4937760" y="1828800"/>
            <a:ext cx="457200" cy="914"/>
          </a:xfrm>
          <a:prstGeom prst="line">
            <a:avLst/>
          </a:prstGeom>
          <a:noFill/>
          <a:ln w="22225">
            <a:solidFill>
              <a:srgbClr val="5C4430"/>
            </a:solidFill>
            <a:prstDash val="solid"/>
            <a:tailEnd type="triangle"/>
          </a:ln>
        </p:spPr>
      </p:sp>
      <p:sp>
        <p:nvSpPr>
          <p:cNvPr id="21" name="Shape 18"/>
          <p:cNvSpPr/>
          <p:nvPr/>
        </p:nvSpPr>
        <p:spPr>
          <a:xfrm>
            <a:off x="6217920" y="2148840"/>
            <a:ext cx="914" cy="365760"/>
          </a:xfrm>
          <a:prstGeom prst="line">
            <a:avLst/>
          </a:prstGeom>
          <a:noFill/>
          <a:ln w="22225">
            <a:solidFill>
              <a:srgbClr val="5C4430"/>
            </a:solidFill>
            <a:prstDash val="solid"/>
            <a:tailEnd type="triangle"/>
          </a:ln>
        </p:spPr>
      </p:sp>
      <p:sp>
        <p:nvSpPr>
          <p:cNvPr id="22" name="Text 19"/>
          <p:cNvSpPr/>
          <p:nvPr/>
        </p:nvSpPr>
        <p:spPr>
          <a:xfrm>
            <a:off x="6309360" y="2194560"/>
            <a:ext cx="1463040" cy="274320"/>
          </a:xfrm>
          <a:prstGeom prst="rect">
            <a:avLst/>
          </a:prstGeom>
          <a:noFill/>
          <a:ln/>
        </p:spPr>
        <p:txBody>
          <a:bodyPr wrap="square" lIns="0" tIns="0" rIns="0" bIns="0" rtlCol="0" anchor="t"/>
          <a:lstStyle/>
          <a:p>
            <a:pPr indent="0" marL="0">
              <a:buNone/>
            </a:pPr>
            <a:r>
              <a:rPr lang="en-US" sz="950" dirty="0">
                <a:solidFill>
                  <a:srgbClr val="6B5B46"/>
                </a:solidFill>
                <a:latin typeface="BIZ UDPゴシック" pitchFamily="34" charset="0"/>
                <a:ea typeface="BIZ UDPゴシック" pitchFamily="34" charset="-122"/>
                <a:cs typeface="BIZ UDPゴシック" pitchFamily="34" charset="-120"/>
              </a:rPr>
              <a:t>dev で確認後</a:t>
            </a:r>
            <a:endParaRPr lang="en-US" sz="950" dirty="0"/>
          </a:p>
        </p:txBody>
      </p:sp>
      <p:sp>
        <p:nvSpPr>
          <p:cNvPr id="23" name="Shape 20"/>
          <p:cNvSpPr/>
          <p:nvPr/>
        </p:nvSpPr>
        <p:spPr>
          <a:xfrm>
            <a:off x="7040880" y="1828800"/>
            <a:ext cx="1737360" cy="914"/>
          </a:xfrm>
          <a:prstGeom prst="line">
            <a:avLst/>
          </a:prstGeom>
          <a:noFill/>
          <a:ln w="28575">
            <a:solidFill>
              <a:srgbClr val="3F7A5C"/>
            </a:solidFill>
            <a:prstDash val="solid"/>
            <a:tailEnd type="triangle"/>
          </a:ln>
        </p:spPr>
      </p:sp>
      <p:sp>
        <p:nvSpPr>
          <p:cNvPr id="24" name="Shape 21"/>
          <p:cNvSpPr/>
          <p:nvPr/>
        </p:nvSpPr>
        <p:spPr>
          <a:xfrm>
            <a:off x="7040880" y="2834640"/>
            <a:ext cx="1737360" cy="914"/>
          </a:xfrm>
          <a:prstGeom prst="line">
            <a:avLst/>
          </a:prstGeom>
          <a:noFill/>
          <a:ln w="28575">
            <a:solidFill>
              <a:srgbClr val="45356B"/>
            </a:solidFill>
            <a:prstDash val="solid"/>
            <a:tailEnd type="triangle"/>
          </a:ln>
        </p:spPr>
      </p:sp>
      <p:sp>
        <p:nvSpPr>
          <p:cNvPr id="25" name="Text 22"/>
          <p:cNvSpPr/>
          <p:nvPr/>
        </p:nvSpPr>
        <p:spPr>
          <a:xfrm>
            <a:off x="7086600" y="1536192"/>
            <a:ext cx="1691640" cy="274320"/>
          </a:xfrm>
          <a:prstGeom prst="rect">
            <a:avLst/>
          </a:prstGeom>
          <a:noFill/>
          <a:ln/>
        </p:spPr>
        <p:txBody>
          <a:bodyPr wrap="square" lIns="0" tIns="0" rIns="0" bIns="0" rtlCol="0" anchor="t"/>
          <a:lstStyle/>
          <a:p>
            <a:pPr algn="ctr" indent="0" marL="0">
              <a:buNone/>
            </a:pPr>
            <a:r>
              <a:rPr lang="en-US" sz="950" b="1" dirty="0">
                <a:solidFill>
                  <a:srgbClr val="3F7A5C"/>
                </a:solidFill>
                <a:latin typeface="BIZ UDPゴシック" pitchFamily="34" charset="0"/>
                <a:ea typeface="BIZ UDPゴシック" pitchFamily="34" charset="-122"/>
                <a:cs typeface="BIZ UDPゴシック" pitchFamily="34" charset="-120"/>
              </a:rPr>
              <a:t>push で自動デプロイ</a:t>
            </a:r>
            <a:endParaRPr lang="en-US" sz="950" dirty="0"/>
          </a:p>
        </p:txBody>
      </p:sp>
      <p:sp>
        <p:nvSpPr>
          <p:cNvPr id="26" name="Text 23"/>
          <p:cNvSpPr/>
          <p:nvPr/>
        </p:nvSpPr>
        <p:spPr>
          <a:xfrm>
            <a:off x="7086600" y="2542032"/>
            <a:ext cx="1691640" cy="274320"/>
          </a:xfrm>
          <a:prstGeom prst="rect">
            <a:avLst/>
          </a:prstGeom>
          <a:noFill/>
          <a:ln/>
        </p:spPr>
        <p:txBody>
          <a:bodyPr wrap="square" lIns="0" tIns="0" rIns="0" bIns="0" rtlCol="0" anchor="t"/>
          <a:lstStyle/>
          <a:p>
            <a:pPr algn="ctr" indent="0" marL="0">
              <a:buNone/>
            </a:pPr>
            <a:r>
              <a:rPr lang="en-US" sz="950" b="1" dirty="0">
                <a:solidFill>
                  <a:srgbClr val="45356B"/>
                </a:solidFill>
                <a:latin typeface="BIZ UDPゴシック" pitchFamily="34" charset="0"/>
                <a:ea typeface="BIZ UDPゴシック" pitchFamily="34" charset="-122"/>
                <a:cs typeface="BIZ UDPゴシック" pitchFamily="34" charset="-120"/>
              </a:rPr>
              <a:t>push で自動デプロイ</a:t>
            </a:r>
            <a:endParaRPr lang="en-US" sz="950" dirty="0"/>
          </a:p>
        </p:txBody>
      </p:sp>
      <p:sp>
        <p:nvSpPr>
          <p:cNvPr id="27" name="Shape 24"/>
          <p:cNvSpPr/>
          <p:nvPr/>
        </p:nvSpPr>
        <p:spPr>
          <a:xfrm>
            <a:off x="8778240" y="1508760"/>
            <a:ext cx="2862072" cy="640080"/>
          </a:xfrm>
          <a:prstGeom prst="roundRect">
            <a:avLst>
              <a:gd name="adj" fmla="val 14286"/>
            </a:avLst>
          </a:prstGeom>
          <a:solidFill>
            <a:srgbClr val="E4EFE8"/>
          </a:solidFill>
          <a:ln w="15875">
            <a:solidFill>
              <a:srgbClr val="3F7A5C"/>
            </a:solidFill>
            <a:prstDash val="solid"/>
          </a:ln>
        </p:spPr>
      </p:sp>
      <p:sp>
        <p:nvSpPr>
          <p:cNvPr id="28" name="Text 25"/>
          <p:cNvSpPr/>
          <p:nvPr/>
        </p:nvSpPr>
        <p:spPr>
          <a:xfrm>
            <a:off x="8778240" y="1508760"/>
            <a:ext cx="2862072" cy="640080"/>
          </a:xfrm>
          <a:prstGeom prst="rect">
            <a:avLst/>
          </a:prstGeom>
          <a:noFill/>
          <a:ln/>
        </p:spPr>
        <p:txBody>
          <a:bodyPr wrap="square" lIns="0" tIns="0" rIns="0" bIns="0" rtlCol="0" anchor="ctr"/>
          <a:lstStyle/>
          <a:p>
            <a:pPr algn="ctr" indent="0" marL="0">
              <a:buNone/>
            </a:pPr>
            <a:r>
              <a:rPr lang="en-US" sz="1250" b="1" dirty="0">
                <a:solidFill>
                  <a:srgbClr val="3F7A5C"/>
                </a:solidFill>
                <a:latin typeface="BIZ UDPゴシック" pitchFamily="34" charset="0"/>
                <a:ea typeface="BIZ UDPゴシック" pitchFamily="34" charset="-122"/>
                <a:cs typeface="BIZ UDPゴシック" pitchFamily="34" charset="-120"/>
              </a:rPr>
              <a:t>開発環境（Michishiru-dev）</a:t>
            </a:r>
            <a:endParaRPr lang="en-US" sz="1250" dirty="0"/>
          </a:p>
        </p:txBody>
      </p:sp>
      <p:sp>
        <p:nvSpPr>
          <p:cNvPr id="29" name="Shape 26"/>
          <p:cNvSpPr/>
          <p:nvPr/>
        </p:nvSpPr>
        <p:spPr>
          <a:xfrm>
            <a:off x="8778240" y="2514600"/>
            <a:ext cx="2862072" cy="640080"/>
          </a:xfrm>
          <a:prstGeom prst="roundRect">
            <a:avLst>
              <a:gd name="adj" fmla="val 14286"/>
            </a:avLst>
          </a:prstGeom>
          <a:solidFill>
            <a:srgbClr val="ECE7F5"/>
          </a:solidFill>
          <a:ln w="15875">
            <a:solidFill>
              <a:srgbClr val="45356B"/>
            </a:solidFill>
            <a:prstDash val="solid"/>
          </a:ln>
        </p:spPr>
      </p:sp>
      <p:sp>
        <p:nvSpPr>
          <p:cNvPr id="30" name="Text 27"/>
          <p:cNvSpPr/>
          <p:nvPr/>
        </p:nvSpPr>
        <p:spPr>
          <a:xfrm>
            <a:off x="8778240" y="2514600"/>
            <a:ext cx="2862072" cy="640080"/>
          </a:xfrm>
          <a:prstGeom prst="rect">
            <a:avLst/>
          </a:prstGeom>
          <a:noFill/>
          <a:ln/>
        </p:spPr>
        <p:txBody>
          <a:bodyPr wrap="square" lIns="0" tIns="0" rIns="0" bIns="0" rtlCol="0" anchor="ctr"/>
          <a:lstStyle/>
          <a:p>
            <a:pPr algn="ctr" indent="0" marL="0">
              <a:buNone/>
            </a:pPr>
            <a:r>
              <a:rPr lang="en-US" sz="1250" b="1" dirty="0">
                <a:solidFill>
                  <a:srgbClr val="45356B"/>
                </a:solidFill>
                <a:latin typeface="BIZ UDPゴシック" pitchFamily="34" charset="0"/>
                <a:ea typeface="BIZ UDPゴシック" pitchFamily="34" charset="-122"/>
                <a:cs typeface="BIZ UDPゴシック" pitchFamily="34" charset="-120"/>
              </a:rPr>
              <a:t>本番環境（Michishiru-prod）</a:t>
            </a:r>
            <a:endParaRPr lang="en-US" sz="1250" dirty="0"/>
          </a:p>
        </p:txBody>
      </p:sp>
      <p:sp>
        <p:nvSpPr>
          <p:cNvPr id="31" name="Text 28"/>
          <p:cNvSpPr/>
          <p:nvPr/>
        </p:nvSpPr>
        <p:spPr>
          <a:xfrm>
            <a:off x="548640" y="3429000"/>
            <a:ext cx="7315200" cy="320040"/>
          </a:xfrm>
          <a:prstGeom prst="rect">
            <a:avLst/>
          </a:prstGeom>
          <a:noFill/>
          <a:ln/>
        </p:spPr>
        <p:txBody>
          <a:bodyPr wrap="square" lIns="0" tIns="0" rIns="0" bIns="0" rtlCol="0" anchor="t"/>
          <a:lstStyle/>
          <a:p>
            <a:pPr indent="0" marL="0">
              <a:buNone/>
            </a:pPr>
            <a:r>
              <a:rPr lang="en-US" sz="1400" b="1" dirty="0">
                <a:solidFill>
                  <a:srgbClr val="45356B"/>
                </a:solidFill>
                <a:latin typeface="BIZ UDPゴシック" pitchFamily="34" charset="0"/>
                <a:ea typeface="BIZ UDPゴシック" pitchFamily="34" charset="-122"/>
                <a:cs typeface="BIZ UDPゴシック" pitchFamily="34" charset="-120"/>
              </a:rPr>
              <a:t>deploy.yml の流れ（1回の push で自動実行）</a:t>
            </a:r>
            <a:endParaRPr lang="en-US" sz="1400" dirty="0"/>
          </a:p>
        </p:txBody>
      </p:sp>
      <p:sp>
        <p:nvSpPr>
          <p:cNvPr id="32" name="Shape 29"/>
          <p:cNvSpPr/>
          <p:nvPr/>
        </p:nvSpPr>
        <p:spPr>
          <a:xfrm>
            <a:off x="548640" y="3840480"/>
            <a:ext cx="1737360" cy="1600200"/>
          </a:xfrm>
          <a:prstGeom prst="roundRect">
            <a:avLst>
              <a:gd name="adj" fmla="val 457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3" name="Shape 30"/>
          <p:cNvSpPr/>
          <p:nvPr/>
        </p:nvSpPr>
        <p:spPr>
          <a:xfrm>
            <a:off x="658368" y="3950208"/>
            <a:ext cx="384048" cy="384048"/>
          </a:xfrm>
          <a:prstGeom prst="ellipse">
            <a:avLst/>
          </a:prstGeom>
          <a:solidFill>
            <a:srgbClr val="B8862B"/>
          </a:solidFill>
          <a:ln/>
        </p:spPr>
      </p:sp>
      <p:sp>
        <p:nvSpPr>
          <p:cNvPr id="34" name="Text 31"/>
          <p:cNvSpPr/>
          <p:nvPr/>
        </p:nvSpPr>
        <p:spPr>
          <a:xfrm>
            <a:off x="658368"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1</a:t>
            </a:r>
            <a:endParaRPr lang="en-US" sz="1300" dirty="0"/>
          </a:p>
        </p:txBody>
      </p:sp>
      <p:sp>
        <p:nvSpPr>
          <p:cNvPr id="35" name="Text 32"/>
          <p:cNvSpPr/>
          <p:nvPr/>
        </p:nvSpPr>
        <p:spPr>
          <a:xfrm>
            <a:off x="1097280" y="3913632"/>
            <a:ext cx="1143000" cy="475488"/>
          </a:xfrm>
          <a:prstGeom prst="rect">
            <a:avLst/>
          </a:prstGeom>
          <a:noFill/>
          <a:ln/>
        </p:spPr>
        <p:txBody>
          <a:bodyPr wrap="square" lIns="0" tIns="0" rIns="0" bIns="0" rtlCol="0" anchor="ctr"/>
          <a:lstStyle/>
          <a:p>
            <a:pPr indent="0" marL="0">
              <a:buNone/>
            </a:pPr>
            <a:r>
              <a:rPr lang="en-US" sz="1200" b="1" dirty="0">
                <a:solidFill>
                  <a:srgbClr val="45356B"/>
                </a:solidFill>
                <a:latin typeface="BIZ UDPゴシック" pitchFamily="34" charset="0"/>
                <a:ea typeface="BIZ UDPゴシック" pitchFamily="34" charset="-122"/>
                <a:cs typeface="BIZ UDPゴシック" pitchFamily="34" charset="-120"/>
              </a:rPr>
              <a:t>品質チェック</a:t>
            </a:r>
            <a:endParaRPr lang="en-US" sz="1200" dirty="0"/>
          </a:p>
        </p:txBody>
      </p:sp>
      <p:sp>
        <p:nvSpPr>
          <p:cNvPr id="36" name="Text 33"/>
          <p:cNvSpPr/>
          <p:nvPr/>
        </p:nvSpPr>
        <p:spPr>
          <a:xfrm>
            <a:off x="676656" y="4462272"/>
            <a:ext cx="1517904" cy="932688"/>
          </a:xfrm>
          <a:prstGeom prst="rect">
            <a:avLst/>
          </a:prstGeom>
          <a:noFill/>
          <a:ln/>
        </p:spPr>
        <p:txBody>
          <a:bodyPr wrap="square" lIns="0" tIns="0" rIns="0" bIns="0" rtlCol="0" anchor="t"/>
          <a:lstStyle/>
          <a:p>
            <a:pPr indent="0" marL="0">
              <a:buNone/>
            </a:pPr>
            <a:r>
              <a:rPr lang="en-US" sz="1000" dirty="0">
                <a:solidFill>
                  <a:srgbClr val="3A2E20"/>
                </a:solidFill>
                <a:latin typeface="BIZ UDPゴシック" pitchFamily="34" charset="0"/>
                <a:ea typeface="BIZ UDPゴシック" pitchFamily="34" charset="-122"/>
                <a:cs typeface="BIZ UDPゴシック" pitchFamily="34" charset="-120"/>
              </a:rPr>
              <a:t>frontend：lint・build</a:t>
            </a:r>
            <a:endParaRPr lang="en-US" sz="1000" dirty="0"/>
          </a:p>
          <a:p>
            <a:pPr indent="0" marL="0">
              <a:buNone/>
            </a:pPr>
            <a:r>
              <a:rPr lang="en-US" sz="1000" dirty="0">
                <a:solidFill>
                  <a:srgbClr val="3A2E20"/>
                </a:solidFill>
                <a:latin typeface="BIZ UDPゴシック" pitchFamily="34" charset="0"/>
                <a:ea typeface="BIZ UDPゴシック" pitchFamily="34" charset="-122"/>
                <a:cs typeface="BIZ UDPゴシック" pitchFamily="34" charset="-120"/>
              </a:rPr>
              <a:t>backend：test</a:t>
            </a:r>
            <a:endParaRPr lang="en-US" sz="1000" dirty="0"/>
          </a:p>
          <a:p>
            <a:pPr indent="0" marL="0">
              <a:buNone/>
            </a:pPr>
            <a:r>
              <a:rPr lang="en-US" sz="1000" dirty="0">
                <a:solidFill>
                  <a:srgbClr val="3A2E20"/>
                </a:solidFill>
                <a:latin typeface="BIZ UDPゴシック" pitchFamily="34" charset="0"/>
                <a:ea typeface="BIZ UDPゴシック" pitchFamily="34" charset="-122"/>
                <a:cs typeface="BIZ UDPゴシック" pitchFamily="34" charset="-120"/>
              </a:rPr>
              <a:t>iac：build・test・synth</a:t>
            </a:r>
            <a:endParaRPr lang="en-US" sz="1000" dirty="0"/>
          </a:p>
        </p:txBody>
      </p:sp>
      <p:sp>
        <p:nvSpPr>
          <p:cNvPr id="37" name="Shape 34"/>
          <p:cNvSpPr/>
          <p:nvPr/>
        </p:nvSpPr>
        <p:spPr>
          <a:xfrm rot="5400000">
            <a:off x="2313432" y="4553712"/>
            <a:ext cx="109728" cy="164592"/>
          </a:xfrm>
          <a:prstGeom prst="triangle">
            <a:avLst/>
          </a:prstGeom>
          <a:solidFill>
            <a:srgbClr val="B8862B"/>
          </a:solidFill>
          <a:ln/>
        </p:spPr>
      </p:sp>
      <p:sp>
        <p:nvSpPr>
          <p:cNvPr id="38" name="Shape 35"/>
          <p:cNvSpPr/>
          <p:nvPr/>
        </p:nvSpPr>
        <p:spPr>
          <a:xfrm>
            <a:off x="2418588" y="3840480"/>
            <a:ext cx="1737360" cy="1600200"/>
          </a:xfrm>
          <a:prstGeom prst="roundRect">
            <a:avLst>
              <a:gd name="adj" fmla="val 457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9" name="Shape 36"/>
          <p:cNvSpPr/>
          <p:nvPr/>
        </p:nvSpPr>
        <p:spPr>
          <a:xfrm>
            <a:off x="2528316" y="3950208"/>
            <a:ext cx="384048" cy="384048"/>
          </a:xfrm>
          <a:prstGeom prst="ellipse">
            <a:avLst/>
          </a:prstGeom>
          <a:solidFill>
            <a:srgbClr val="B8862B"/>
          </a:solidFill>
          <a:ln/>
        </p:spPr>
      </p:sp>
      <p:sp>
        <p:nvSpPr>
          <p:cNvPr id="40" name="Text 37"/>
          <p:cNvSpPr/>
          <p:nvPr/>
        </p:nvSpPr>
        <p:spPr>
          <a:xfrm>
            <a:off x="2528316"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2</a:t>
            </a:r>
            <a:endParaRPr lang="en-US" sz="1300" dirty="0"/>
          </a:p>
        </p:txBody>
      </p:sp>
      <p:sp>
        <p:nvSpPr>
          <p:cNvPr id="41" name="Text 38"/>
          <p:cNvSpPr/>
          <p:nvPr/>
        </p:nvSpPr>
        <p:spPr>
          <a:xfrm>
            <a:off x="2967228" y="3913632"/>
            <a:ext cx="1143000" cy="475488"/>
          </a:xfrm>
          <a:prstGeom prst="rect">
            <a:avLst/>
          </a:prstGeom>
          <a:noFill/>
          <a:ln/>
        </p:spPr>
        <p:txBody>
          <a:bodyPr wrap="square" lIns="0" tIns="0" rIns="0" bIns="0" rtlCol="0" anchor="ctr"/>
          <a:lstStyle/>
          <a:p>
            <a:pPr indent="0" marL="0">
              <a:buNone/>
            </a:pPr>
            <a:r>
              <a:rPr lang="en-US" sz="1200" b="1" dirty="0">
                <a:solidFill>
                  <a:srgbClr val="45356B"/>
                </a:solidFill>
                <a:latin typeface="BIZ UDPゴシック" pitchFamily="34" charset="0"/>
                <a:ea typeface="BIZ UDPゴシック" pitchFamily="34" charset="-122"/>
                <a:cs typeface="BIZ UDPゴシック" pitchFamily="34" charset="-120"/>
              </a:rPr>
              <a:t>AWS へ認証</a:t>
            </a:r>
            <a:endParaRPr lang="en-US" sz="1200" dirty="0"/>
          </a:p>
        </p:txBody>
      </p:sp>
      <p:sp>
        <p:nvSpPr>
          <p:cNvPr id="42" name="Text 39"/>
          <p:cNvSpPr/>
          <p:nvPr/>
        </p:nvSpPr>
        <p:spPr>
          <a:xfrm>
            <a:off x="2546604" y="4462272"/>
            <a:ext cx="1517904" cy="932688"/>
          </a:xfrm>
          <a:prstGeom prst="rect">
            <a:avLst/>
          </a:prstGeom>
          <a:noFill/>
          <a:ln/>
        </p:spPr>
        <p:txBody>
          <a:bodyPr wrap="square" lIns="0" tIns="0" rIns="0" bIns="0" rtlCol="0" anchor="t"/>
          <a:lstStyle/>
          <a:p>
            <a:pPr indent="0" marL="0">
              <a:buNone/>
            </a:pPr>
            <a:r>
              <a:rPr lang="en-US" sz="1000" dirty="0">
                <a:solidFill>
                  <a:srgbClr val="3A2E20"/>
                </a:solidFill>
                <a:latin typeface="BIZ UDPゴシック" pitchFamily="34" charset="0"/>
                <a:ea typeface="BIZ UDPゴシック" pitchFamily="34" charset="-122"/>
                <a:cs typeface="BIZ UDPゴシック" pitchFamily="34" charset="-120"/>
              </a:rPr>
              <a:t>OIDC でロールを引き受け（長期キー不要）</a:t>
            </a:r>
            <a:endParaRPr lang="en-US" sz="1000" dirty="0"/>
          </a:p>
        </p:txBody>
      </p:sp>
      <p:sp>
        <p:nvSpPr>
          <p:cNvPr id="43" name="Shape 40"/>
          <p:cNvSpPr/>
          <p:nvPr/>
        </p:nvSpPr>
        <p:spPr>
          <a:xfrm rot="5400000">
            <a:off x="4183380" y="4553712"/>
            <a:ext cx="109728" cy="164592"/>
          </a:xfrm>
          <a:prstGeom prst="triangle">
            <a:avLst/>
          </a:prstGeom>
          <a:solidFill>
            <a:srgbClr val="B8862B"/>
          </a:solidFill>
          <a:ln/>
        </p:spPr>
      </p:sp>
      <p:sp>
        <p:nvSpPr>
          <p:cNvPr id="44" name="Shape 41"/>
          <p:cNvSpPr/>
          <p:nvPr/>
        </p:nvSpPr>
        <p:spPr>
          <a:xfrm>
            <a:off x="4288536" y="3840480"/>
            <a:ext cx="1737360" cy="1600200"/>
          </a:xfrm>
          <a:prstGeom prst="roundRect">
            <a:avLst>
              <a:gd name="adj" fmla="val 457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45" name="Shape 42"/>
          <p:cNvSpPr/>
          <p:nvPr/>
        </p:nvSpPr>
        <p:spPr>
          <a:xfrm>
            <a:off x="4398264" y="3950208"/>
            <a:ext cx="384048" cy="384048"/>
          </a:xfrm>
          <a:prstGeom prst="ellipse">
            <a:avLst/>
          </a:prstGeom>
          <a:solidFill>
            <a:srgbClr val="B8862B"/>
          </a:solidFill>
          <a:ln/>
        </p:spPr>
      </p:sp>
      <p:sp>
        <p:nvSpPr>
          <p:cNvPr id="46" name="Text 43"/>
          <p:cNvSpPr/>
          <p:nvPr/>
        </p:nvSpPr>
        <p:spPr>
          <a:xfrm>
            <a:off x="4398264"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3</a:t>
            </a:r>
            <a:endParaRPr lang="en-US" sz="1300" dirty="0"/>
          </a:p>
        </p:txBody>
      </p:sp>
      <p:sp>
        <p:nvSpPr>
          <p:cNvPr id="47" name="Text 44"/>
          <p:cNvSpPr/>
          <p:nvPr/>
        </p:nvSpPr>
        <p:spPr>
          <a:xfrm>
            <a:off x="4837176" y="3913632"/>
            <a:ext cx="1143000" cy="475488"/>
          </a:xfrm>
          <a:prstGeom prst="rect">
            <a:avLst/>
          </a:prstGeom>
          <a:noFill/>
          <a:ln/>
        </p:spPr>
        <p:txBody>
          <a:bodyPr wrap="square" lIns="0" tIns="0" rIns="0" bIns="0" rtlCol="0" anchor="ctr"/>
          <a:lstStyle/>
          <a:p>
            <a:pPr indent="0" marL="0">
              <a:buNone/>
            </a:pPr>
            <a:r>
              <a:rPr lang="en-US" sz="1200" b="1" dirty="0">
                <a:solidFill>
                  <a:srgbClr val="45356B"/>
                </a:solidFill>
                <a:latin typeface="BIZ UDPゴシック" pitchFamily="34" charset="0"/>
                <a:ea typeface="BIZ UDPゴシック" pitchFamily="34" charset="-122"/>
                <a:cs typeface="BIZ UDPゴシック" pitchFamily="34" charset="-120"/>
              </a:rPr>
              <a:t>インフラを</a:t>
            </a:r>
            <a:endParaRPr lang="en-US" sz="1200" dirty="0"/>
          </a:p>
          <a:p>
            <a:pPr indent="0" marL="0">
              <a:buNone/>
            </a:pPr>
            <a:r>
              <a:rPr lang="en-US" sz="1200" b="1" dirty="0">
                <a:solidFill>
                  <a:srgbClr val="45356B"/>
                </a:solidFill>
                <a:latin typeface="BIZ UDPゴシック" pitchFamily="34" charset="0"/>
                <a:ea typeface="BIZ UDPゴシック" pitchFamily="34" charset="-122"/>
                <a:cs typeface="BIZ UDPゴシック" pitchFamily="34" charset="-120"/>
              </a:rPr>
              <a:t>デプロイ</a:t>
            </a:r>
            <a:endParaRPr lang="en-US" sz="1200" dirty="0"/>
          </a:p>
        </p:txBody>
      </p:sp>
      <p:sp>
        <p:nvSpPr>
          <p:cNvPr id="48" name="Text 45"/>
          <p:cNvSpPr/>
          <p:nvPr/>
        </p:nvSpPr>
        <p:spPr>
          <a:xfrm>
            <a:off x="4416552" y="4462272"/>
            <a:ext cx="1517904" cy="932688"/>
          </a:xfrm>
          <a:prstGeom prst="rect">
            <a:avLst/>
          </a:prstGeom>
          <a:noFill/>
          <a:ln/>
        </p:spPr>
        <p:txBody>
          <a:bodyPr wrap="square" lIns="0" tIns="0" rIns="0" bIns="0" rtlCol="0" anchor="t"/>
          <a:lstStyle/>
          <a:p>
            <a:pPr indent="0" marL="0">
              <a:buNone/>
            </a:pPr>
            <a:r>
              <a:rPr lang="en-US" sz="1000" dirty="0">
                <a:solidFill>
                  <a:srgbClr val="3A2E20"/>
                </a:solidFill>
                <a:latin typeface="BIZ UDPゴシック" pitchFamily="34" charset="0"/>
                <a:ea typeface="BIZ UDPゴシック" pitchFamily="34" charset="-122"/>
                <a:cs typeface="BIZ UDPゴシック" pitchFamily="34" charset="-120"/>
              </a:rPr>
              <a:t>cdk deploy（1回目）</a:t>
            </a:r>
            <a:endParaRPr lang="en-US" sz="1000" dirty="0"/>
          </a:p>
        </p:txBody>
      </p:sp>
      <p:sp>
        <p:nvSpPr>
          <p:cNvPr id="49" name="Shape 46"/>
          <p:cNvSpPr/>
          <p:nvPr/>
        </p:nvSpPr>
        <p:spPr>
          <a:xfrm rot="5400000">
            <a:off x="6053328" y="4553712"/>
            <a:ext cx="109728" cy="164592"/>
          </a:xfrm>
          <a:prstGeom prst="triangle">
            <a:avLst/>
          </a:prstGeom>
          <a:solidFill>
            <a:srgbClr val="B8862B"/>
          </a:solidFill>
          <a:ln/>
        </p:spPr>
      </p:sp>
      <p:sp>
        <p:nvSpPr>
          <p:cNvPr id="50" name="Shape 47"/>
          <p:cNvSpPr/>
          <p:nvPr/>
        </p:nvSpPr>
        <p:spPr>
          <a:xfrm>
            <a:off x="6158484" y="3840480"/>
            <a:ext cx="1737360" cy="1600200"/>
          </a:xfrm>
          <a:prstGeom prst="roundRect">
            <a:avLst>
              <a:gd name="adj" fmla="val 457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51" name="Shape 48"/>
          <p:cNvSpPr/>
          <p:nvPr/>
        </p:nvSpPr>
        <p:spPr>
          <a:xfrm>
            <a:off x="6268212" y="3950208"/>
            <a:ext cx="384048" cy="384048"/>
          </a:xfrm>
          <a:prstGeom prst="ellipse">
            <a:avLst/>
          </a:prstGeom>
          <a:solidFill>
            <a:srgbClr val="B8862B"/>
          </a:solidFill>
          <a:ln/>
        </p:spPr>
      </p:sp>
      <p:sp>
        <p:nvSpPr>
          <p:cNvPr id="52" name="Text 49"/>
          <p:cNvSpPr/>
          <p:nvPr/>
        </p:nvSpPr>
        <p:spPr>
          <a:xfrm>
            <a:off x="6268212"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4</a:t>
            </a:r>
            <a:endParaRPr lang="en-US" sz="1300" dirty="0"/>
          </a:p>
        </p:txBody>
      </p:sp>
      <p:sp>
        <p:nvSpPr>
          <p:cNvPr id="53" name="Text 50"/>
          <p:cNvSpPr/>
          <p:nvPr/>
        </p:nvSpPr>
        <p:spPr>
          <a:xfrm>
            <a:off x="6707124" y="3913632"/>
            <a:ext cx="1143000" cy="475488"/>
          </a:xfrm>
          <a:prstGeom prst="rect">
            <a:avLst/>
          </a:prstGeom>
          <a:noFill/>
          <a:ln/>
        </p:spPr>
        <p:txBody>
          <a:bodyPr wrap="square" lIns="0" tIns="0" rIns="0" bIns="0" rtlCol="0" anchor="ctr"/>
          <a:lstStyle/>
          <a:p>
            <a:pPr indent="0" marL="0">
              <a:buNone/>
            </a:pPr>
            <a:r>
              <a:rPr lang="en-US" sz="1200" b="1" dirty="0">
                <a:solidFill>
                  <a:srgbClr val="45356B"/>
                </a:solidFill>
                <a:latin typeface="BIZ UDPゴシック" pitchFamily="34" charset="0"/>
                <a:ea typeface="BIZ UDPゴシック" pitchFamily="34" charset="-122"/>
                <a:cs typeface="BIZ UDPゴシック" pitchFamily="34" charset="-120"/>
              </a:rPr>
              <a:t>接続情報を取得</a:t>
            </a:r>
            <a:endParaRPr lang="en-US" sz="1200" dirty="0"/>
          </a:p>
        </p:txBody>
      </p:sp>
      <p:sp>
        <p:nvSpPr>
          <p:cNvPr id="54" name="Text 51"/>
          <p:cNvSpPr/>
          <p:nvPr/>
        </p:nvSpPr>
        <p:spPr>
          <a:xfrm>
            <a:off x="6286500" y="4462272"/>
            <a:ext cx="1517904" cy="932688"/>
          </a:xfrm>
          <a:prstGeom prst="rect">
            <a:avLst/>
          </a:prstGeom>
          <a:noFill/>
          <a:ln/>
        </p:spPr>
        <p:txBody>
          <a:bodyPr wrap="square" lIns="0" tIns="0" rIns="0" bIns="0" rtlCol="0" anchor="t"/>
          <a:lstStyle/>
          <a:p>
            <a:pPr indent="0" marL="0">
              <a:buNone/>
            </a:pPr>
            <a:r>
              <a:rPr lang="en-US" sz="1000" dirty="0">
                <a:solidFill>
                  <a:srgbClr val="3A2E20"/>
                </a:solidFill>
                <a:latin typeface="BIZ UDPゴシック" pitchFamily="34" charset="0"/>
                <a:ea typeface="BIZ UDPゴシック" pitchFamily="34" charset="-122"/>
                <a:cs typeface="BIZ UDPゴシック" pitchFamily="34" charset="-120"/>
              </a:rPr>
              <a:t>Cognito の ID をスタックの出力から取り出す</a:t>
            </a:r>
            <a:endParaRPr lang="en-US" sz="1000" dirty="0"/>
          </a:p>
        </p:txBody>
      </p:sp>
      <p:sp>
        <p:nvSpPr>
          <p:cNvPr id="55" name="Shape 52"/>
          <p:cNvSpPr/>
          <p:nvPr/>
        </p:nvSpPr>
        <p:spPr>
          <a:xfrm rot="5400000">
            <a:off x="7923276" y="4553712"/>
            <a:ext cx="109728" cy="164592"/>
          </a:xfrm>
          <a:prstGeom prst="triangle">
            <a:avLst/>
          </a:prstGeom>
          <a:solidFill>
            <a:srgbClr val="B8862B"/>
          </a:solidFill>
          <a:ln/>
        </p:spPr>
      </p:sp>
      <p:sp>
        <p:nvSpPr>
          <p:cNvPr id="56" name="Shape 53"/>
          <p:cNvSpPr/>
          <p:nvPr/>
        </p:nvSpPr>
        <p:spPr>
          <a:xfrm>
            <a:off x="8028432" y="3840480"/>
            <a:ext cx="1737360" cy="1600200"/>
          </a:xfrm>
          <a:prstGeom prst="roundRect">
            <a:avLst>
              <a:gd name="adj" fmla="val 457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57" name="Shape 54"/>
          <p:cNvSpPr/>
          <p:nvPr/>
        </p:nvSpPr>
        <p:spPr>
          <a:xfrm>
            <a:off x="8138160" y="3950208"/>
            <a:ext cx="384048" cy="384048"/>
          </a:xfrm>
          <a:prstGeom prst="ellipse">
            <a:avLst/>
          </a:prstGeom>
          <a:solidFill>
            <a:srgbClr val="B8862B"/>
          </a:solidFill>
          <a:ln/>
        </p:spPr>
      </p:sp>
      <p:sp>
        <p:nvSpPr>
          <p:cNvPr id="58" name="Text 55"/>
          <p:cNvSpPr/>
          <p:nvPr/>
        </p:nvSpPr>
        <p:spPr>
          <a:xfrm>
            <a:off x="8138160"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5</a:t>
            </a:r>
            <a:endParaRPr lang="en-US" sz="1300" dirty="0"/>
          </a:p>
        </p:txBody>
      </p:sp>
      <p:sp>
        <p:nvSpPr>
          <p:cNvPr id="59" name="Text 56"/>
          <p:cNvSpPr/>
          <p:nvPr/>
        </p:nvSpPr>
        <p:spPr>
          <a:xfrm>
            <a:off x="8577072" y="3913632"/>
            <a:ext cx="1143000" cy="475488"/>
          </a:xfrm>
          <a:prstGeom prst="rect">
            <a:avLst/>
          </a:prstGeom>
          <a:noFill/>
          <a:ln/>
        </p:spPr>
        <p:txBody>
          <a:bodyPr wrap="square" lIns="0" tIns="0" rIns="0" bIns="0" rtlCol="0" anchor="ctr"/>
          <a:lstStyle/>
          <a:p>
            <a:pPr indent="0" marL="0">
              <a:buNone/>
            </a:pPr>
            <a:r>
              <a:rPr lang="en-US" sz="1200" b="1" dirty="0">
                <a:solidFill>
                  <a:srgbClr val="45356B"/>
                </a:solidFill>
                <a:latin typeface="BIZ UDPゴシック" pitchFamily="34" charset="0"/>
                <a:ea typeface="BIZ UDPゴシック" pitchFamily="34" charset="-122"/>
                <a:cs typeface="BIZ UDPゴシック" pitchFamily="34" charset="-120"/>
              </a:rPr>
              <a:t>画面をビルド</a:t>
            </a:r>
            <a:endParaRPr lang="en-US" sz="1200" dirty="0"/>
          </a:p>
        </p:txBody>
      </p:sp>
      <p:sp>
        <p:nvSpPr>
          <p:cNvPr id="60" name="Text 57"/>
          <p:cNvSpPr/>
          <p:nvPr/>
        </p:nvSpPr>
        <p:spPr>
          <a:xfrm>
            <a:off x="8156448" y="4462272"/>
            <a:ext cx="1517904" cy="932688"/>
          </a:xfrm>
          <a:prstGeom prst="rect">
            <a:avLst/>
          </a:prstGeom>
          <a:noFill/>
          <a:ln/>
        </p:spPr>
        <p:txBody>
          <a:bodyPr wrap="square" lIns="0" tIns="0" rIns="0" bIns="0" rtlCol="0" anchor="t"/>
          <a:lstStyle/>
          <a:p>
            <a:pPr indent="0" marL="0">
              <a:buNone/>
            </a:pPr>
            <a:r>
              <a:rPr lang="en-US" sz="1000" dirty="0">
                <a:solidFill>
                  <a:srgbClr val="3A2E20"/>
                </a:solidFill>
                <a:latin typeface="BIZ UDPゴシック" pitchFamily="34" charset="0"/>
                <a:ea typeface="BIZ UDPゴシック" pitchFamily="34" charset="-122"/>
                <a:cs typeface="BIZ UDPゴシック" pitchFamily="34" charset="-120"/>
              </a:rPr>
              <a:t>取得した ID を埋め込んで Vite でビルド</a:t>
            </a:r>
            <a:endParaRPr lang="en-US" sz="1000" dirty="0"/>
          </a:p>
        </p:txBody>
      </p:sp>
      <p:sp>
        <p:nvSpPr>
          <p:cNvPr id="61" name="Shape 58"/>
          <p:cNvSpPr/>
          <p:nvPr/>
        </p:nvSpPr>
        <p:spPr>
          <a:xfrm rot="5400000">
            <a:off x="9793224" y="4553712"/>
            <a:ext cx="109728" cy="164592"/>
          </a:xfrm>
          <a:prstGeom prst="triangle">
            <a:avLst/>
          </a:prstGeom>
          <a:solidFill>
            <a:srgbClr val="B8862B"/>
          </a:solidFill>
          <a:ln/>
        </p:spPr>
      </p:sp>
      <p:sp>
        <p:nvSpPr>
          <p:cNvPr id="62" name="Shape 59"/>
          <p:cNvSpPr/>
          <p:nvPr/>
        </p:nvSpPr>
        <p:spPr>
          <a:xfrm>
            <a:off x="9898380" y="3840480"/>
            <a:ext cx="1737360" cy="1600200"/>
          </a:xfrm>
          <a:prstGeom prst="roundRect">
            <a:avLst>
              <a:gd name="adj" fmla="val 457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63" name="Shape 60"/>
          <p:cNvSpPr/>
          <p:nvPr/>
        </p:nvSpPr>
        <p:spPr>
          <a:xfrm>
            <a:off x="10008108" y="3950208"/>
            <a:ext cx="384048" cy="384048"/>
          </a:xfrm>
          <a:prstGeom prst="ellipse">
            <a:avLst/>
          </a:prstGeom>
          <a:solidFill>
            <a:srgbClr val="B8862B"/>
          </a:solidFill>
          <a:ln/>
        </p:spPr>
      </p:sp>
      <p:sp>
        <p:nvSpPr>
          <p:cNvPr id="64" name="Text 61"/>
          <p:cNvSpPr/>
          <p:nvPr/>
        </p:nvSpPr>
        <p:spPr>
          <a:xfrm>
            <a:off x="10008108"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ゴシック" pitchFamily="34" charset="0"/>
                <a:ea typeface="BIZ UDPゴシック" pitchFamily="34" charset="-122"/>
                <a:cs typeface="BIZ UDPゴシック" pitchFamily="34" charset="-120"/>
              </a:rPr>
              <a:t>6</a:t>
            </a:r>
            <a:endParaRPr lang="en-US" sz="1300" dirty="0"/>
          </a:p>
        </p:txBody>
      </p:sp>
      <p:sp>
        <p:nvSpPr>
          <p:cNvPr id="65" name="Text 62"/>
          <p:cNvSpPr/>
          <p:nvPr/>
        </p:nvSpPr>
        <p:spPr>
          <a:xfrm>
            <a:off x="10447020" y="3913632"/>
            <a:ext cx="1143000" cy="475488"/>
          </a:xfrm>
          <a:prstGeom prst="rect">
            <a:avLst/>
          </a:prstGeom>
          <a:noFill/>
          <a:ln/>
        </p:spPr>
        <p:txBody>
          <a:bodyPr wrap="square" lIns="0" tIns="0" rIns="0" bIns="0" rtlCol="0" anchor="ctr"/>
          <a:lstStyle/>
          <a:p>
            <a:pPr indent="0" marL="0">
              <a:buNone/>
            </a:pPr>
            <a:r>
              <a:rPr lang="en-US" sz="1200" b="1" dirty="0">
                <a:solidFill>
                  <a:srgbClr val="45356B"/>
                </a:solidFill>
                <a:latin typeface="BIZ UDPゴシック" pitchFamily="34" charset="0"/>
                <a:ea typeface="BIZ UDPゴシック" pitchFamily="34" charset="-122"/>
                <a:cs typeface="BIZ UDPゴシック" pitchFamily="34" charset="-120"/>
              </a:rPr>
              <a:t>画面を配信</a:t>
            </a:r>
            <a:endParaRPr lang="en-US" sz="1200" dirty="0"/>
          </a:p>
        </p:txBody>
      </p:sp>
      <p:sp>
        <p:nvSpPr>
          <p:cNvPr id="66" name="Text 63"/>
          <p:cNvSpPr/>
          <p:nvPr/>
        </p:nvSpPr>
        <p:spPr>
          <a:xfrm>
            <a:off x="10026396" y="4462272"/>
            <a:ext cx="1517904" cy="932688"/>
          </a:xfrm>
          <a:prstGeom prst="rect">
            <a:avLst/>
          </a:prstGeom>
          <a:noFill/>
          <a:ln/>
        </p:spPr>
        <p:txBody>
          <a:bodyPr wrap="square" lIns="0" tIns="0" rIns="0" bIns="0" rtlCol="0" anchor="t"/>
          <a:lstStyle/>
          <a:p>
            <a:pPr indent="0" marL="0">
              <a:buNone/>
            </a:pPr>
            <a:r>
              <a:rPr lang="en-US" sz="1000" dirty="0">
                <a:solidFill>
                  <a:srgbClr val="3A2E20"/>
                </a:solidFill>
                <a:latin typeface="BIZ UDPゴシック" pitchFamily="34" charset="0"/>
                <a:ea typeface="BIZ UDPゴシック" pitchFamily="34" charset="-122"/>
                <a:cs typeface="BIZ UDPゴシック" pitchFamily="34" charset="-120"/>
              </a:rPr>
              <a:t>cdk deploy（2回目）で S3 同期・キャッシュ更新</a:t>
            </a:r>
            <a:endParaRPr lang="en-US" sz="1000" dirty="0"/>
          </a:p>
        </p:txBody>
      </p:sp>
      <p:sp>
        <p:nvSpPr>
          <p:cNvPr id="67" name="Shape 64"/>
          <p:cNvSpPr/>
          <p:nvPr/>
        </p:nvSpPr>
        <p:spPr>
          <a:xfrm>
            <a:off x="548640" y="5596128"/>
            <a:ext cx="3566160" cy="603504"/>
          </a:xfrm>
          <a:prstGeom prst="roundRect">
            <a:avLst>
              <a:gd name="adj" fmla="val 50000"/>
            </a:avLst>
          </a:prstGeom>
          <a:solidFill>
            <a:srgbClr val="F6EBCF"/>
          </a:solidFill>
          <a:ln w="15875">
            <a:solidFill>
              <a:srgbClr val="B8862B"/>
            </a:solidFill>
            <a:prstDash val="solid"/>
          </a:ln>
        </p:spPr>
      </p:sp>
      <p:sp>
        <p:nvSpPr>
          <p:cNvPr id="68" name="Text 65"/>
          <p:cNvSpPr/>
          <p:nvPr/>
        </p:nvSpPr>
        <p:spPr>
          <a:xfrm>
            <a:off x="731520" y="5596128"/>
            <a:ext cx="3200400" cy="603504"/>
          </a:xfrm>
          <a:prstGeom prst="rect">
            <a:avLst/>
          </a:prstGeom>
          <a:noFill/>
          <a:ln/>
        </p:spPr>
        <p:txBody>
          <a:bodyPr wrap="square" lIns="0" tIns="0" rIns="0" bIns="0" rtlCol="0" anchor="ctr"/>
          <a:lstStyle/>
          <a:p>
            <a:pPr algn="ctr" indent="0" marL="0">
              <a:buNone/>
            </a:pPr>
            <a:r>
              <a:rPr lang="en-US" sz="1250" b="1" dirty="0">
                <a:solidFill>
                  <a:srgbClr val="5C4430"/>
                </a:solidFill>
                <a:latin typeface="BIZ UDPゴシック" pitchFamily="34" charset="0"/>
                <a:ea typeface="BIZ UDPゴシック" pitchFamily="34" charset="-122"/>
                <a:cs typeface="BIZ UDPゴシック" pitchFamily="34" charset="-120"/>
              </a:rPr>
              <a:t>マージ＝デプロイ</a:t>
            </a:r>
            <a:pPr algn="ctr" indent="0" marL="0">
              <a:buNone/>
            </a:pPr>
            <a:r>
              <a:rPr lang="en-US" sz="1050" dirty="0">
                <a:solidFill>
                  <a:srgbClr val="6B5B46"/>
                </a:solidFill>
                <a:latin typeface="BIZ UDPゴシック" pitchFamily="34" charset="0"/>
                <a:ea typeface="BIZ UDPゴシック" pitchFamily="34" charset="-122"/>
                <a:cs typeface="BIZ UDPゴシック" pitchFamily="34" charset="-120"/>
              </a:rPr>
              <a:t>　手作業のデプロイをなくした</a:t>
            </a:r>
            <a:endParaRPr lang="en-US" sz="1250" dirty="0"/>
          </a:p>
        </p:txBody>
      </p:sp>
      <p:sp>
        <p:nvSpPr>
          <p:cNvPr id="69" name="Shape 66"/>
          <p:cNvSpPr/>
          <p:nvPr/>
        </p:nvSpPr>
        <p:spPr>
          <a:xfrm>
            <a:off x="4306824" y="5596128"/>
            <a:ext cx="3566160" cy="603504"/>
          </a:xfrm>
          <a:prstGeom prst="roundRect">
            <a:avLst>
              <a:gd name="adj" fmla="val 50000"/>
            </a:avLst>
          </a:prstGeom>
          <a:solidFill>
            <a:srgbClr val="F6EBCF"/>
          </a:solidFill>
          <a:ln w="15875">
            <a:solidFill>
              <a:srgbClr val="B8862B"/>
            </a:solidFill>
            <a:prstDash val="solid"/>
          </a:ln>
        </p:spPr>
      </p:sp>
      <p:sp>
        <p:nvSpPr>
          <p:cNvPr id="70" name="Text 67"/>
          <p:cNvSpPr/>
          <p:nvPr/>
        </p:nvSpPr>
        <p:spPr>
          <a:xfrm>
            <a:off x="4489704" y="5596128"/>
            <a:ext cx="3200400" cy="603504"/>
          </a:xfrm>
          <a:prstGeom prst="rect">
            <a:avLst/>
          </a:prstGeom>
          <a:noFill/>
          <a:ln/>
        </p:spPr>
        <p:txBody>
          <a:bodyPr wrap="square" lIns="0" tIns="0" rIns="0" bIns="0" rtlCol="0" anchor="ctr"/>
          <a:lstStyle/>
          <a:p>
            <a:pPr algn="ctr" indent="0" marL="0">
              <a:buNone/>
            </a:pPr>
            <a:r>
              <a:rPr lang="en-US" sz="1250" b="1" dirty="0">
                <a:solidFill>
                  <a:srgbClr val="5C4430"/>
                </a:solidFill>
                <a:latin typeface="BIZ UDPゴシック" pitchFamily="34" charset="0"/>
                <a:ea typeface="BIZ UDPゴシック" pitchFamily="34" charset="-122"/>
                <a:cs typeface="BIZ UDPゴシック" pitchFamily="34" charset="-120"/>
              </a:rPr>
              <a:t>鍵を持たない</a:t>
            </a:r>
            <a:pPr algn="ctr" indent="0" marL="0">
              <a:buNone/>
            </a:pPr>
            <a:r>
              <a:rPr lang="en-US" sz="1050" dirty="0">
                <a:solidFill>
                  <a:srgbClr val="6B5B46"/>
                </a:solidFill>
                <a:latin typeface="BIZ UDPゴシック" pitchFamily="34" charset="0"/>
                <a:ea typeface="BIZ UDPゴシック" pitchFamily="34" charset="-122"/>
                <a:cs typeface="BIZ UDPゴシック" pitchFamily="34" charset="-120"/>
              </a:rPr>
              <a:t>　OIDC で一時的に認証</a:t>
            </a:r>
            <a:endParaRPr lang="en-US" sz="1250" dirty="0"/>
          </a:p>
        </p:txBody>
      </p:sp>
      <p:sp>
        <p:nvSpPr>
          <p:cNvPr id="71" name="Shape 68"/>
          <p:cNvSpPr/>
          <p:nvPr/>
        </p:nvSpPr>
        <p:spPr>
          <a:xfrm>
            <a:off x="8065008" y="5596128"/>
            <a:ext cx="3566160" cy="603504"/>
          </a:xfrm>
          <a:prstGeom prst="roundRect">
            <a:avLst>
              <a:gd name="adj" fmla="val 50000"/>
            </a:avLst>
          </a:prstGeom>
          <a:solidFill>
            <a:srgbClr val="F6EBCF"/>
          </a:solidFill>
          <a:ln w="15875">
            <a:solidFill>
              <a:srgbClr val="B8862B"/>
            </a:solidFill>
            <a:prstDash val="solid"/>
          </a:ln>
        </p:spPr>
      </p:sp>
      <p:sp>
        <p:nvSpPr>
          <p:cNvPr id="72" name="Text 69"/>
          <p:cNvSpPr/>
          <p:nvPr/>
        </p:nvSpPr>
        <p:spPr>
          <a:xfrm>
            <a:off x="8247888" y="5596128"/>
            <a:ext cx="3200400" cy="603504"/>
          </a:xfrm>
          <a:prstGeom prst="rect">
            <a:avLst/>
          </a:prstGeom>
          <a:noFill/>
          <a:ln/>
        </p:spPr>
        <p:txBody>
          <a:bodyPr wrap="square" lIns="0" tIns="0" rIns="0" bIns="0" rtlCol="0" anchor="ctr"/>
          <a:lstStyle/>
          <a:p>
            <a:pPr algn="ctr" indent="0" marL="0">
              <a:buNone/>
            </a:pPr>
            <a:r>
              <a:rPr lang="en-US" sz="1250" b="1" dirty="0">
                <a:solidFill>
                  <a:srgbClr val="5C4430"/>
                </a:solidFill>
                <a:latin typeface="BIZ UDPゴシック" pitchFamily="34" charset="0"/>
                <a:ea typeface="BIZ UDPゴシック" pitchFamily="34" charset="-122"/>
                <a:cs typeface="BIZ UDPゴシック" pitchFamily="34" charset="-120"/>
              </a:rPr>
              <a:t>人が値を登録しない</a:t>
            </a:r>
            <a:pPr algn="ctr" indent="0" marL="0">
              <a:buNone/>
            </a:pPr>
            <a:r>
              <a:rPr lang="en-US" sz="1050" dirty="0">
                <a:solidFill>
                  <a:srgbClr val="6B5B46"/>
                </a:solidFill>
                <a:latin typeface="BIZ UDPゴシック" pitchFamily="34" charset="0"/>
                <a:ea typeface="BIZ UDPゴシック" pitchFamily="34" charset="-122"/>
                <a:cs typeface="BIZ UDPゴシック" pitchFamily="34" charset="-120"/>
              </a:rPr>
              <a:t>　ID は自動で受け渡し</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01 POINT ①</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アプリのこだわり①　ルート生成処理</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01 アーキテクチャ＆技術的工夫</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11</a:t>
            </a:r>
            <a:endParaRPr lang="en-US" sz="900" dirty="0"/>
          </a:p>
        </p:txBody>
      </p:sp>
      <p:sp>
        <p:nvSpPr>
          <p:cNvPr id="11" name="Shape 8"/>
          <p:cNvSpPr/>
          <p:nvPr/>
        </p:nvSpPr>
        <p:spPr>
          <a:xfrm>
            <a:off x="548640" y="1463040"/>
            <a:ext cx="2066544" cy="1737360"/>
          </a:xfrm>
          <a:prstGeom prst="roundRect">
            <a:avLst>
              <a:gd name="adj" fmla="val 421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2" name="Shape 9"/>
          <p:cNvSpPr/>
          <p:nvPr/>
        </p:nvSpPr>
        <p:spPr>
          <a:xfrm>
            <a:off x="685800" y="1581912"/>
            <a:ext cx="438912" cy="438912"/>
          </a:xfrm>
          <a:prstGeom prst="ellipse">
            <a:avLst/>
          </a:prstGeom>
          <a:solidFill>
            <a:srgbClr val="45356B"/>
          </a:solidFill>
          <a:ln/>
        </p:spPr>
      </p:sp>
      <p:sp>
        <p:nvSpPr>
          <p:cNvPr id="13" name="Text 10"/>
          <p:cNvSpPr/>
          <p:nvPr/>
        </p:nvSpPr>
        <p:spPr>
          <a:xfrm>
            <a:off x="685800" y="15819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4" name="Text 11"/>
          <p:cNvSpPr/>
          <p:nvPr/>
        </p:nvSpPr>
        <p:spPr>
          <a:xfrm>
            <a:off x="1207008" y="1581912"/>
            <a:ext cx="1371600" cy="438912"/>
          </a:xfrm>
          <a:prstGeom prst="rect">
            <a:avLst/>
          </a:prstGeom>
          <a:noFill/>
          <a:ln/>
        </p:spPr>
        <p:txBody>
          <a:bodyPr wrap="square" lIns="0" tIns="0" rIns="0" bIns="0" rtlCol="0" anchor="ctr"/>
          <a:lstStyle/>
          <a:p>
            <a:pPr indent="0" marL="0">
              <a:buNone/>
            </a:pPr>
            <a:r>
              <a:rPr lang="en-US" sz="1400" b="1" dirty="0">
                <a:solidFill>
                  <a:srgbClr val="45356B"/>
                </a:solidFill>
                <a:latin typeface="BIZ UDPゴシック" pitchFamily="34" charset="0"/>
                <a:ea typeface="BIZ UDPゴシック" pitchFamily="34" charset="-122"/>
                <a:cs typeface="BIZ UDPゴシック" pitchFamily="34" charset="-120"/>
              </a:rPr>
              <a:t>条件を受け取る</a:t>
            </a:r>
            <a:endParaRPr lang="en-US" sz="1400" dirty="0"/>
          </a:p>
        </p:txBody>
      </p:sp>
      <p:sp>
        <p:nvSpPr>
          <p:cNvPr id="15" name="Text 12"/>
          <p:cNvSpPr/>
          <p:nvPr/>
        </p:nvSpPr>
        <p:spPr>
          <a:xfrm>
            <a:off x="685800" y="2103120"/>
            <a:ext cx="1828800" cy="594360"/>
          </a:xfrm>
          <a:prstGeom prst="rect">
            <a:avLst/>
          </a:prstGeom>
          <a:noFill/>
          <a:ln/>
        </p:spPr>
        <p:txBody>
          <a:bodyPr wrap="square" lIns="0" tIns="0" rIns="0" bIns="0" rtlCol="0" anchor="t"/>
          <a:lstStyle/>
          <a:p>
            <a:pPr indent="0" marL="0">
              <a:buNone/>
            </a:pPr>
            <a:r>
              <a:rPr lang="en-US" sz="1100" dirty="0">
                <a:solidFill>
                  <a:srgbClr val="3A2E20"/>
                </a:solidFill>
                <a:latin typeface="BIZ UDPゴシック" pitchFamily="34" charset="0"/>
                <a:ea typeface="BIZ UDPゴシック" pitchFamily="34" charset="-122"/>
                <a:cs typeface="BIZ UDPゴシック" pitchFamily="34" charset="-120"/>
              </a:rPr>
              <a:t>目的・ジャンル・距離</a:t>
            </a:r>
            <a:endParaRPr lang="en-US" sz="1100" dirty="0"/>
          </a:p>
          <a:p>
            <a:pPr indent="0" marL="0">
              <a:buNone/>
            </a:pPr>
            <a:r>
              <a:rPr lang="en-US" sz="1100" dirty="0">
                <a:solidFill>
                  <a:srgbClr val="3A2E20"/>
                </a:solidFill>
                <a:latin typeface="BIZ UDPゴシック" pitchFamily="34" charset="0"/>
                <a:ea typeface="BIZ UDPゴシック" pitchFamily="34" charset="-122"/>
                <a:cs typeface="BIZ UDPゴシック" pitchFamily="34" charset="-120"/>
              </a:rPr>
              <a:t>（おまかせも可）</a:t>
            </a:r>
            <a:endParaRPr lang="en-US" sz="1100" dirty="0"/>
          </a:p>
        </p:txBody>
      </p:sp>
      <p:sp>
        <p:nvSpPr>
          <p:cNvPr id="16" name="Shape 13"/>
          <p:cNvSpPr/>
          <p:nvPr/>
        </p:nvSpPr>
        <p:spPr>
          <a:xfrm>
            <a:off x="685800" y="2743200"/>
            <a:ext cx="1792224" cy="310896"/>
          </a:xfrm>
          <a:prstGeom prst="roundRect">
            <a:avLst>
              <a:gd name="adj" fmla="val 50000"/>
            </a:avLst>
          </a:prstGeom>
          <a:solidFill>
            <a:srgbClr val="E7157B"/>
          </a:solidFill>
          <a:ln/>
        </p:spPr>
      </p:sp>
      <p:sp>
        <p:nvSpPr>
          <p:cNvPr id="17" name="Text 14"/>
          <p:cNvSpPr/>
          <p:nvPr/>
        </p:nvSpPr>
        <p:spPr>
          <a:xfrm>
            <a:off x="685800" y="2743200"/>
            <a:ext cx="179222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API GW → Lambda</a:t>
            </a:r>
            <a:endParaRPr lang="en-US" sz="950" dirty="0"/>
          </a:p>
        </p:txBody>
      </p:sp>
      <p:sp>
        <p:nvSpPr>
          <p:cNvPr id="18" name="Shape 15"/>
          <p:cNvSpPr/>
          <p:nvPr/>
        </p:nvSpPr>
        <p:spPr>
          <a:xfrm rot="5400000">
            <a:off x="2642616" y="2240280"/>
            <a:ext cx="128016" cy="182880"/>
          </a:xfrm>
          <a:prstGeom prst="triangle">
            <a:avLst/>
          </a:prstGeom>
          <a:solidFill>
            <a:srgbClr val="B8862B"/>
          </a:solidFill>
          <a:ln/>
        </p:spPr>
      </p:sp>
      <p:sp>
        <p:nvSpPr>
          <p:cNvPr id="19" name="Shape 16"/>
          <p:cNvSpPr/>
          <p:nvPr/>
        </p:nvSpPr>
        <p:spPr>
          <a:xfrm>
            <a:off x="2798064" y="1463040"/>
            <a:ext cx="2066544" cy="1737360"/>
          </a:xfrm>
          <a:prstGeom prst="roundRect">
            <a:avLst>
              <a:gd name="adj" fmla="val 421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0" name="Shape 17"/>
          <p:cNvSpPr/>
          <p:nvPr/>
        </p:nvSpPr>
        <p:spPr>
          <a:xfrm>
            <a:off x="2935224" y="1581912"/>
            <a:ext cx="438912" cy="438912"/>
          </a:xfrm>
          <a:prstGeom prst="ellipse">
            <a:avLst/>
          </a:prstGeom>
          <a:solidFill>
            <a:srgbClr val="45356B"/>
          </a:solidFill>
          <a:ln/>
        </p:spPr>
      </p:sp>
      <p:sp>
        <p:nvSpPr>
          <p:cNvPr id="21" name="Text 18"/>
          <p:cNvSpPr/>
          <p:nvPr/>
        </p:nvSpPr>
        <p:spPr>
          <a:xfrm>
            <a:off x="2935224" y="15819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22" name="Text 19"/>
          <p:cNvSpPr/>
          <p:nvPr/>
        </p:nvSpPr>
        <p:spPr>
          <a:xfrm>
            <a:off x="3456432" y="1581912"/>
            <a:ext cx="1371600" cy="438912"/>
          </a:xfrm>
          <a:prstGeom prst="rect">
            <a:avLst/>
          </a:prstGeom>
          <a:noFill/>
          <a:ln/>
        </p:spPr>
        <p:txBody>
          <a:bodyPr wrap="square" lIns="0" tIns="0" rIns="0" bIns="0" rtlCol="0" anchor="ctr"/>
          <a:lstStyle/>
          <a:p>
            <a:pPr indent="0" marL="0">
              <a:buNone/>
            </a:pPr>
            <a:r>
              <a:rPr lang="en-US" sz="1400" b="1" dirty="0">
                <a:solidFill>
                  <a:srgbClr val="45356B"/>
                </a:solidFill>
                <a:latin typeface="BIZ UDPゴシック" pitchFamily="34" charset="0"/>
                <a:ea typeface="BIZ UDPゴシック" pitchFamily="34" charset="-122"/>
                <a:cs typeface="BIZ UDPゴシック" pitchFamily="34" charset="-120"/>
              </a:rPr>
              <a:t>カテゴリに変換</a:t>
            </a:r>
            <a:endParaRPr lang="en-US" sz="1400" dirty="0"/>
          </a:p>
        </p:txBody>
      </p:sp>
      <p:sp>
        <p:nvSpPr>
          <p:cNvPr id="23" name="Text 20"/>
          <p:cNvSpPr/>
          <p:nvPr/>
        </p:nvSpPr>
        <p:spPr>
          <a:xfrm>
            <a:off x="2935224" y="2103120"/>
            <a:ext cx="1828800" cy="594360"/>
          </a:xfrm>
          <a:prstGeom prst="rect">
            <a:avLst/>
          </a:prstGeom>
          <a:noFill/>
          <a:ln/>
        </p:spPr>
        <p:txBody>
          <a:bodyPr wrap="square" lIns="0" tIns="0" rIns="0" bIns="0" rtlCol="0" anchor="t"/>
          <a:lstStyle/>
          <a:p>
            <a:pPr indent="0" marL="0">
              <a:buNone/>
            </a:pPr>
            <a:r>
              <a:rPr lang="en-US" sz="1100" dirty="0">
                <a:solidFill>
                  <a:srgbClr val="3A2E20"/>
                </a:solidFill>
                <a:latin typeface="BIZ UDPゴシック" pitchFamily="34" charset="0"/>
                <a:ea typeface="BIZ UDPゴシック" pitchFamily="34" charset="-122"/>
                <a:cs typeface="BIZ UDPゴシック" pitchFamily="34" charset="-120"/>
              </a:rPr>
              <a:t>ジャンル → スポットの</a:t>
            </a:r>
            <a:endParaRPr lang="en-US" sz="1100" dirty="0"/>
          </a:p>
          <a:p>
            <a:pPr indent="0" marL="0">
              <a:buNone/>
            </a:pPr>
            <a:r>
              <a:rPr lang="en-US" sz="1100" dirty="0">
                <a:solidFill>
                  <a:srgbClr val="3A2E20"/>
                </a:solidFill>
                <a:latin typeface="BIZ UDPゴシック" pitchFamily="34" charset="0"/>
                <a:ea typeface="BIZ UDPゴシック" pitchFamily="34" charset="-122"/>
                <a:cs typeface="BIZ UDPゴシック" pitchFamily="34" charset="-120"/>
              </a:rPr>
              <a:t>カテゴリをマスタから引く</a:t>
            </a:r>
            <a:endParaRPr lang="en-US" sz="1100" dirty="0"/>
          </a:p>
        </p:txBody>
      </p:sp>
      <p:sp>
        <p:nvSpPr>
          <p:cNvPr id="24" name="Shape 21"/>
          <p:cNvSpPr/>
          <p:nvPr/>
        </p:nvSpPr>
        <p:spPr>
          <a:xfrm>
            <a:off x="2935224" y="2743200"/>
            <a:ext cx="1792224" cy="310896"/>
          </a:xfrm>
          <a:prstGeom prst="roundRect">
            <a:avLst>
              <a:gd name="adj" fmla="val 50000"/>
            </a:avLst>
          </a:prstGeom>
          <a:solidFill>
            <a:srgbClr val="C925D1"/>
          </a:solidFill>
          <a:ln/>
        </p:spPr>
      </p:sp>
      <p:sp>
        <p:nvSpPr>
          <p:cNvPr id="25" name="Text 22"/>
          <p:cNvSpPr/>
          <p:nvPr/>
        </p:nvSpPr>
        <p:spPr>
          <a:xfrm>
            <a:off x="2935224" y="2743200"/>
            <a:ext cx="179222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DynamoDB</a:t>
            </a:r>
            <a:endParaRPr lang="en-US" sz="950" dirty="0"/>
          </a:p>
        </p:txBody>
      </p:sp>
      <p:sp>
        <p:nvSpPr>
          <p:cNvPr id="26" name="Shape 23"/>
          <p:cNvSpPr/>
          <p:nvPr/>
        </p:nvSpPr>
        <p:spPr>
          <a:xfrm rot="5400000">
            <a:off x="4892040" y="2240280"/>
            <a:ext cx="128016" cy="182880"/>
          </a:xfrm>
          <a:prstGeom prst="triangle">
            <a:avLst/>
          </a:prstGeom>
          <a:solidFill>
            <a:srgbClr val="B8862B"/>
          </a:solidFill>
          <a:ln/>
        </p:spPr>
      </p:sp>
      <p:sp>
        <p:nvSpPr>
          <p:cNvPr id="27" name="Shape 24"/>
          <p:cNvSpPr/>
          <p:nvPr/>
        </p:nvSpPr>
        <p:spPr>
          <a:xfrm>
            <a:off x="5047488" y="1463040"/>
            <a:ext cx="2066544" cy="1737360"/>
          </a:xfrm>
          <a:prstGeom prst="roundRect">
            <a:avLst>
              <a:gd name="adj" fmla="val 421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8" name="Shape 25"/>
          <p:cNvSpPr/>
          <p:nvPr/>
        </p:nvSpPr>
        <p:spPr>
          <a:xfrm>
            <a:off x="5184648" y="1581912"/>
            <a:ext cx="438912" cy="438912"/>
          </a:xfrm>
          <a:prstGeom prst="ellipse">
            <a:avLst/>
          </a:prstGeom>
          <a:solidFill>
            <a:srgbClr val="45356B"/>
          </a:solidFill>
          <a:ln/>
        </p:spPr>
      </p:sp>
      <p:sp>
        <p:nvSpPr>
          <p:cNvPr id="29" name="Text 26"/>
          <p:cNvSpPr/>
          <p:nvPr/>
        </p:nvSpPr>
        <p:spPr>
          <a:xfrm>
            <a:off x="5184648" y="15819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30" name="Text 27"/>
          <p:cNvSpPr/>
          <p:nvPr/>
        </p:nvSpPr>
        <p:spPr>
          <a:xfrm>
            <a:off x="5705856" y="1581912"/>
            <a:ext cx="1371600" cy="438912"/>
          </a:xfrm>
          <a:prstGeom prst="rect">
            <a:avLst/>
          </a:prstGeom>
          <a:noFill/>
          <a:ln/>
        </p:spPr>
        <p:txBody>
          <a:bodyPr wrap="square" lIns="0" tIns="0" rIns="0" bIns="0" rtlCol="0" anchor="ctr"/>
          <a:lstStyle/>
          <a:p>
            <a:pPr indent="0" marL="0">
              <a:buNone/>
            </a:pPr>
            <a:r>
              <a:rPr lang="en-US" sz="1400" b="1" dirty="0">
                <a:solidFill>
                  <a:srgbClr val="45356B"/>
                </a:solidFill>
                <a:latin typeface="BIZ UDPゴシック" pitchFamily="34" charset="0"/>
                <a:ea typeface="BIZ UDPゴシック" pitchFamily="34" charset="-122"/>
                <a:cs typeface="BIZ UDPゴシック" pitchFamily="34" charset="-120"/>
              </a:rPr>
              <a:t>候補を集める</a:t>
            </a:r>
            <a:endParaRPr lang="en-US" sz="1400" dirty="0"/>
          </a:p>
        </p:txBody>
      </p:sp>
      <p:sp>
        <p:nvSpPr>
          <p:cNvPr id="31" name="Text 28"/>
          <p:cNvSpPr/>
          <p:nvPr/>
        </p:nvSpPr>
        <p:spPr>
          <a:xfrm>
            <a:off x="5184648" y="2103120"/>
            <a:ext cx="1828800" cy="594360"/>
          </a:xfrm>
          <a:prstGeom prst="rect">
            <a:avLst/>
          </a:prstGeom>
          <a:noFill/>
          <a:ln/>
        </p:spPr>
        <p:txBody>
          <a:bodyPr wrap="square" lIns="0" tIns="0" rIns="0" bIns="0" rtlCol="0" anchor="t"/>
          <a:lstStyle/>
          <a:p>
            <a:pPr indent="0" marL="0">
              <a:buNone/>
            </a:pPr>
            <a:r>
              <a:rPr lang="en-US" sz="1100" dirty="0">
                <a:solidFill>
                  <a:srgbClr val="3A2E20"/>
                </a:solidFill>
                <a:latin typeface="BIZ UDPゴシック" pitchFamily="34" charset="0"/>
                <a:ea typeface="BIZ UDPゴシック" pitchFamily="34" charset="-122"/>
                <a:cs typeface="BIZ UDPゴシック" pitchFamily="34" charset="-120"/>
              </a:rPr>
              <a:t>周辺のスポットと</a:t>
            </a:r>
            <a:endParaRPr lang="en-US" sz="1100" dirty="0"/>
          </a:p>
          <a:p>
            <a:pPr indent="0" marL="0">
              <a:buNone/>
            </a:pPr>
            <a:r>
              <a:rPr lang="en-US" sz="1100" dirty="0">
                <a:solidFill>
                  <a:srgbClr val="3A2E20"/>
                </a:solidFill>
                <a:latin typeface="BIZ UDPゴシック" pitchFamily="34" charset="0"/>
                <a:ea typeface="BIZ UDPゴシック" pitchFamily="34" charset="-122"/>
                <a:cs typeface="BIZ UDPゴシック" pitchFamily="34" charset="-120"/>
              </a:rPr>
              <a:t>口コミの場所を並行で取得</a:t>
            </a:r>
            <a:endParaRPr lang="en-US" sz="1100" dirty="0"/>
          </a:p>
        </p:txBody>
      </p:sp>
      <p:sp>
        <p:nvSpPr>
          <p:cNvPr id="32" name="Shape 29"/>
          <p:cNvSpPr/>
          <p:nvPr/>
        </p:nvSpPr>
        <p:spPr>
          <a:xfrm>
            <a:off x="5184648" y="2743200"/>
            <a:ext cx="1792224" cy="310896"/>
          </a:xfrm>
          <a:prstGeom prst="roundRect">
            <a:avLst>
              <a:gd name="adj" fmla="val 50000"/>
            </a:avLst>
          </a:prstGeom>
          <a:solidFill>
            <a:srgbClr val="2E73B8"/>
          </a:solidFill>
          <a:ln/>
        </p:spPr>
      </p:sp>
      <p:sp>
        <p:nvSpPr>
          <p:cNvPr id="33" name="Text 30"/>
          <p:cNvSpPr/>
          <p:nvPr/>
        </p:nvSpPr>
        <p:spPr>
          <a:xfrm>
            <a:off x="5184648" y="2743200"/>
            <a:ext cx="179222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Places ＋ DynamoDB</a:t>
            </a:r>
            <a:endParaRPr lang="en-US" sz="950" dirty="0"/>
          </a:p>
        </p:txBody>
      </p:sp>
      <p:sp>
        <p:nvSpPr>
          <p:cNvPr id="34" name="Shape 31"/>
          <p:cNvSpPr/>
          <p:nvPr/>
        </p:nvSpPr>
        <p:spPr>
          <a:xfrm rot="5400000">
            <a:off x="7141464" y="2240280"/>
            <a:ext cx="128016" cy="182880"/>
          </a:xfrm>
          <a:prstGeom prst="triangle">
            <a:avLst/>
          </a:prstGeom>
          <a:solidFill>
            <a:srgbClr val="B8862B"/>
          </a:solidFill>
          <a:ln/>
        </p:spPr>
      </p:sp>
      <p:sp>
        <p:nvSpPr>
          <p:cNvPr id="35" name="Shape 32"/>
          <p:cNvSpPr/>
          <p:nvPr/>
        </p:nvSpPr>
        <p:spPr>
          <a:xfrm>
            <a:off x="7296912" y="1463040"/>
            <a:ext cx="2066544" cy="1737360"/>
          </a:xfrm>
          <a:prstGeom prst="roundRect">
            <a:avLst>
              <a:gd name="adj" fmla="val 421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6" name="Shape 33"/>
          <p:cNvSpPr/>
          <p:nvPr/>
        </p:nvSpPr>
        <p:spPr>
          <a:xfrm>
            <a:off x="7434072" y="1581912"/>
            <a:ext cx="438912" cy="438912"/>
          </a:xfrm>
          <a:prstGeom prst="ellipse">
            <a:avLst/>
          </a:prstGeom>
          <a:solidFill>
            <a:srgbClr val="45356B"/>
          </a:solidFill>
          <a:ln/>
        </p:spPr>
      </p:sp>
      <p:sp>
        <p:nvSpPr>
          <p:cNvPr id="37" name="Text 34"/>
          <p:cNvSpPr/>
          <p:nvPr/>
        </p:nvSpPr>
        <p:spPr>
          <a:xfrm>
            <a:off x="7434072" y="15819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38" name="Text 35"/>
          <p:cNvSpPr/>
          <p:nvPr/>
        </p:nvSpPr>
        <p:spPr>
          <a:xfrm>
            <a:off x="7955280" y="1581912"/>
            <a:ext cx="1371600" cy="438912"/>
          </a:xfrm>
          <a:prstGeom prst="rect">
            <a:avLst/>
          </a:prstGeom>
          <a:noFill/>
          <a:ln/>
        </p:spPr>
        <p:txBody>
          <a:bodyPr wrap="square" lIns="0" tIns="0" rIns="0" bIns="0" rtlCol="0" anchor="ctr"/>
          <a:lstStyle/>
          <a:p>
            <a:pPr indent="0" marL="0">
              <a:buNone/>
            </a:pPr>
            <a:r>
              <a:rPr lang="en-US" sz="1400" b="1" dirty="0">
                <a:solidFill>
                  <a:srgbClr val="45356B"/>
                </a:solidFill>
                <a:latin typeface="BIZ UDPゴシック" pitchFamily="34" charset="0"/>
                <a:ea typeface="BIZ UDPゴシック" pitchFamily="34" charset="-122"/>
                <a:cs typeface="BIZ UDPゴシック" pitchFamily="34" charset="-120"/>
              </a:rPr>
              <a:t>AI が選ぶ</a:t>
            </a:r>
            <a:endParaRPr lang="en-US" sz="1400" dirty="0"/>
          </a:p>
        </p:txBody>
      </p:sp>
      <p:sp>
        <p:nvSpPr>
          <p:cNvPr id="39" name="Text 36"/>
          <p:cNvSpPr/>
          <p:nvPr/>
        </p:nvSpPr>
        <p:spPr>
          <a:xfrm>
            <a:off x="7434072" y="2103120"/>
            <a:ext cx="1828800" cy="594360"/>
          </a:xfrm>
          <a:prstGeom prst="rect">
            <a:avLst/>
          </a:prstGeom>
          <a:noFill/>
          <a:ln/>
        </p:spPr>
        <p:txBody>
          <a:bodyPr wrap="square" lIns="0" tIns="0" rIns="0" bIns="0" rtlCol="0" anchor="t"/>
          <a:lstStyle/>
          <a:p>
            <a:pPr indent="0" marL="0">
              <a:buNone/>
            </a:pPr>
            <a:r>
              <a:rPr lang="en-US" sz="1100" dirty="0">
                <a:solidFill>
                  <a:srgbClr val="3A2E20"/>
                </a:solidFill>
                <a:latin typeface="BIZ UDPゴシック" pitchFamily="34" charset="0"/>
                <a:ea typeface="BIZ UDPゴシック" pitchFamily="34" charset="-122"/>
                <a:cs typeface="BIZ UDPゴシック" pitchFamily="34" charset="-120"/>
              </a:rPr>
              <a:t>巡るスポットと</a:t>
            </a:r>
            <a:endParaRPr lang="en-US" sz="1100" dirty="0"/>
          </a:p>
          <a:p>
            <a:pPr indent="0" marL="0">
              <a:buNone/>
            </a:pPr>
            <a:r>
              <a:rPr lang="en-US" sz="1100" dirty="0">
                <a:solidFill>
                  <a:srgbClr val="3A2E20"/>
                </a:solidFill>
                <a:latin typeface="BIZ UDPゴシック" pitchFamily="34" charset="0"/>
                <a:ea typeface="BIZ UDPゴシック" pitchFamily="34" charset="-122"/>
                <a:cs typeface="BIZ UDPゴシック" pitchFamily="34" charset="-120"/>
              </a:rPr>
              <a:t>タイトル・解説文を生成</a:t>
            </a:r>
            <a:endParaRPr lang="en-US" sz="1100" dirty="0"/>
          </a:p>
        </p:txBody>
      </p:sp>
      <p:sp>
        <p:nvSpPr>
          <p:cNvPr id="40" name="Shape 37"/>
          <p:cNvSpPr/>
          <p:nvPr/>
        </p:nvSpPr>
        <p:spPr>
          <a:xfrm>
            <a:off x="7434072" y="2743200"/>
            <a:ext cx="1792224" cy="310896"/>
          </a:xfrm>
          <a:prstGeom prst="roundRect">
            <a:avLst>
              <a:gd name="adj" fmla="val 50000"/>
            </a:avLst>
          </a:prstGeom>
          <a:solidFill>
            <a:srgbClr val="01A88D"/>
          </a:solidFill>
          <a:ln/>
        </p:spPr>
      </p:sp>
      <p:sp>
        <p:nvSpPr>
          <p:cNvPr id="41" name="Text 38"/>
          <p:cNvSpPr/>
          <p:nvPr/>
        </p:nvSpPr>
        <p:spPr>
          <a:xfrm>
            <a:off x="7434072" y="2743200"/>
            <a:ext cx="179222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Bedrock</a:t>
            </a:r>
            <a:endParaRPr lang="en-US" sz="950" dirty="0"/>
          </a:p>
        </p:txBody>
      </p:sp>
      <p:sp>
        <p:nvSpPr>
          <p:cNvPr id="42" name="Shape 39"/>
          <p:cNvSpPr/>
          <p:nvPr/>
        </p:nvSpPr>
        <p:spPr>
          <a:xfrm rot="5400000">
            <a:off x="9390888" y="2240280"/>
            <a:ext cx="128016" cy="182880"/>
          </a:xfrm>
          <a:prstGeom prst="triangle">
            <a:avLst/>
          </a:prstGeom>
          <a:solidFill>
            <a:srgbClr val="B8862B"/>
          </a:solidFill>
          <a:ln/>
        </p:spPr>
      </p:sp>
      <p:sp>
        <p:nvSpPr>
          <p:cNvPr id="43" name="Shape 40"/>
          <p:cNvSpPr/>
          <p:nvPr/>
        </p:nvSpPr>
        <p:spPr>
          <a:xfrm>
            <a:off x="9546336" y="1463040"/>
            <a:ext cx="2066544" cy="1737360"/>
          </a:xfrm>
          <a:prstGeom prst="roundRect">
            <a:avLst>
              <a:gd name="adj" fmla="val 421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44" name="Shape 41"/>
          <p:cNvSpPr/>
          <p:nvPr/>
        </p:nvSpPr>
        <p:spPr>
          <a:xfrm>
            <a:off x="9683496" y="1581912"/>
            <a:ext cx="438912" cy="438912"/>
          </a:xfrm>
          <a:prstGeom prst="ellipse">
            <a:avLst/>
          </a:prstGeom>
          <a:solidFill>
            <a:srgbClr val="45356B"/>
          </a:solidFill>
          <a:ln/>
        </p:spPr>
      </p:sp>
      <p:sp>
        <p:nvSpPr>
          <p:cNvPr id="45" name="Text 42"/>
          <p:cNvSpPr/>
          <p:nvPr/>
        </p:nvSpPr>
        <p:spPr>
          <a:xfrm>
            <a:off x="9683496" y="15819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46" name="Text 43"/>
          <p:cNvSpPr/>
          <p:nvPr/>
        </p:nvSpPr>
        <p:spPr>
          <a:xfrm>
            <a:off x="10204704" y="1581912"/>
            <a:ext cx="1371600" cy="438912"/>
          </a:xfrm>
          <a:prstGeom prst="rect">
            <a:avLst/>
          </a:prstGeom>
          <a:noFill/>
          <a:ln/>
        </p:spPr>
        <p:txBody>
          <a:bodyPr wrap="square" lIns="0" tIns="0" rIns="0" bIns="0" rtlCol="0" anchor="ctr"/>
          <a:lstStyle/>
          <a:p>
            <a:pPr indent="0" marL="0">
              <a:buNone/>
            </a:pPr>
            <a:r>
              <a:rPr lang="en-US" sz="1400" b="1" dirty="0">
                <a:solidFill>
                  <a:srgbClr val="45356B"/>
                </a:solidFill>
                <a:latin typeface="BIZ UDPゴシック" pitchFamily="34" charset="0"/>
                <a:ea typeface="BIZ UDPゴシック" pitchFamily="34" charset="-122"/>
                <a:cs typeface="BIZ UDPゴシック" pitchFamily="34" charset="-120"/>
              </a:rPr>
              <a:t>経路を計算</a:t>
            </a:r>
            <a:endParaRPr lang="en-US" sz="1400" dirty="0"/>
          </a:p>
        </p:txBody>
      </p:sp>
      <p:sp>
        <p:nvSpPr>
          <p:cNvPr id="47" name="Text 44"/>
          <p:cNvSpPr/>
          <p:nvPr/>
        </p:nvSpPr>
        <p:spPr>
          <a:xfrm>
            <a:off x="9683496" y="2103120"/>
            <a:ext cx="1828800" cy="594360"/>
          </a:xfrm>
          <a:prstGeom prst="rect">
            <a:avLst/>
          </a:prstGeom>
          <a:noFill/>
          <a:ln/>
        </p:spPr>
        <p:txBody>
          <a:bodyPr wrap="square" lIns="0" tIns="0" rIns="0" bIns="0" rtlCol="0" anchor="t"/>
          <a:lstStyle/>
          <a:p>
            <a:pPr indent="0" marL="0">
              <a:buNone/>
            </a:pPr>
            <a:r>
              <a:rPr lang="en-US" sz="1100" dirty="0">
                <a:solidFill>
                  <a:srgbClr val="3A2E20"/>
                </a:solidFill>
                <a:latin typeface="BIZ UDPゴシック" pitchFamily="34" charset="0"/>
                <a:ea typeface="BIZ UDPゴシック" pitchFamily="34" charset="-122"/>
                <a:cs typeface="BIZ UDPゴシック" pitchFamily="34" charset="-120"/>
              </a:rPr>
              <a:t>道なりの徒歩経路と距離</a:t>
            </a:r>
            <a:endParaRPr lang="en-US" sz="1100" dirty="0"/>
          </a:p>
          <a:p>
            <a:pPr indent="0" marL="0">
              <a:buNone/>
            </a:pPr>
            <a:r>
              <a:rPr lang="en-US" sz="1100" dirty="0">
                <a:solidFill>
                  <a:srgbClr val="3A2E20"/>
                </a:solidFill>
                <a:latin typeface="BIZ UDPゴシック" pitchFamily="34" charset="0"/>
                <a:ea typeface="BIZ UDPゴシック" pitchFamily="34" charset="-122"/>
                <a:cs typeface="BIZ UDPゴシック" pitchFamily="34" charset="-120"/>
              </a:rPr>
              <a:t>→ 目標距離に合わせて調整</a:t>
            </a:r>
            <a:endParaRPr lang="en-US" sz="1100" dirty="0"/>
          </a:p>
        </p:txBody>
      </p:sp>
      <p:sp>
        <p:nvSpPr>
          <p:cNvPr id="48" name="Shape 45"/>
          <p:cNvSpPr/>
          <p:nvPr/>
        </p:nvSpPr>
        <p:spPr>
          <a:xfrm>
            <a:off x="9683496" y="2743200"/>
            <a:ext cx="1792224" cy="310896"/>
          </a:xfrm>
          <a:prstGeom prst="roundRect">
            <a:avLst>
              <a:gd name="adj" fmla="val 50000"/>
            </a:avLst>
          </a:prstGeom>
          <a:solidFill>
            <a:srgbClr val="2E73B8"/>
          </a:solidFill>
          <a:ln/>
        </p:spPr>
      </p:sp>
      <p:sp>
        <p:nvSpPr>
          <p:cNvPr id="49" name="Text 46"/>
          <p:cNvSpPr/>
          <p:nvPr/>
        </p:nvSpPr>
        <p:spPr>
          <a:xfrm>
            <a:off x="9683496" y="2743200"/>
            <a:ext cx="179222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Routes</a:t>
            </a:r>
            <a:endParaRPr lang="en-US" sz="950" dirty="0"/>
          </a:p>
        </p:txBody>
      </p:sp>
      <p:sp>
        <p:nvSpPr>
          <p:cNvPr id="50" name="Shape 47"/>
          <p:cNvSpPr/>
          <p:nvPr/>
        </p:nvSpPr>
        <p:spPr>
          <a:xfrm>
            <a:off x="548640" y="3429000"/>
            <a:ext cx="6812280" cy="2743200"/>
          </a:xfrm>
          <a:prstGeom prst="roundRect">
            <a:avLst>
              <a:gd name="adj" fmla="val 2667"/>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51" name="Text 48"/>
          <p:cNvSpPr/>
          <p:nvPr/>
        </p:nvSpPr>
        <p:spPr>
          <a:xfrm>
            <a:off x="777240" y="3547872"/>
            <a:ext cx="5486400" cy="347472"/>
          </a:xfrm>
          <a:prstGeom prst="rect">
            <a:avLst/>
          </a:prstGeom>
          <a:noFill/>
          <a:ln/>
        </p:spPr>
        <p:txBody>
          <a:bodyPr wrap="square" lIns="0" tIns="0" rIns="0" bIns="0" rtlCol="0" anchor="t"/>
          <a:lstStyle/>
          <a:p>
            <a:pPr indent="0" marL="0">
              <a:buNone/>
            </a:pPr>
            <a:r>
              <a:rPr lang="en-US" sz="1500" b="1" dirty="0">
                <a:solidFill>
                  <a:srgbClr val="45356B"/>
                </a:solidFill>
                <a:latin typeface="BIZ UDPゴシック" pitchFamily="34" charset="0"/>
                <a:ea typeface="BIZ UDPゴシック" pitchFamily="34" charset="-122"/>
                <a:cs typeface="BIZ UDPゴシック" pitchFamily="34" charset="-120"/>
              </a:rPr>
              <a:t>目標距離に近づける工夫</a:t>
            </a:r>
            <a:endParaRPr lang="en-US" sz="1500" dirty="0"/>
          </a:p>
        </p:txBody>
      </p:sp>
      <p:sp>
        <p:nvSpPr>
          <p:cNvPr id="52" name="Text 49"/>
          <p:cNvSpPr/>
          <p:nvPr/>
        </p:nvSpPr>
        <p:spPr>
          <a:xfrm>
            <a:off x="777240" y="3977640"/>
            <a:ext cx="6400800" cy="214884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300" b="1" dirty="0">
                <a:solidFill>
                  <a:srgbClr val="B3372B"/>
                </a:solidFill>
                <a:latin typeface="BIZ UDPゴシック" pitchFamily="34" charset="0"/>
                <a:ea typeface="BIZ UDPゴシック" pitchFamily="34" charset="-122"/>
                <a:cs typeface="BIZ UDPゴシック" pitchFamily="34" charset="-120"/>
              </a:rPr>
              <a:t>長すぎる → </a:t>
            </a:r>
            <a:pPr indent="0" marL="0">
              <a:lnSpc>
                <a:spcPct val="105000"/>
              </a:lnSpc>
              <a:spcAft>
                <a:spcPts val="700"/>
              </a:spcAft>
              <a:buNone/>
            </a:pPr>
            <a:r>
              <a:rPr lang="en-US" sz="1300" dirty="0">
                <a:solidFill>
                  <a:srgbClr val="3A2E20"/>
                </a:solidFill>
                <a:latin typeface="BIZ UDPゴシック" pitchFamily="34" charset="0"/>
                <a:ea typeface="BIZ UDPゴシック" pitchFamily="34" charset="-122"/>
                <a:cs typeface="BIZ UDPゴシック" pitchFamily="34" charset="-120"/>
              </a:rPr>
              <a:t>スポットを1つずつ外して経路を再計算</a:t>
            </a:r>
            <a:endParaRPr lang="en-US" sz="1300" dirty="0"/>
          </a:p>
          <a:p>
            <a:pPr marL="177800" indent="-177800">
              <a:lnSpc>
                <a:spcPct val="105000"/>
              </a:lnSpc>
              <a:spcAft>
                <a:spcPts val="700"/>
              </a:spcAft>
              <a:buSzPct val="100000"/>
              <a:buChar char="•"/>
            </a:pPr>
            <a:r>
              <a:rPr lang="en-US" sz="1300" b="1" dirty="0">
                <a:solidFill>
                  <a:srgbClr val="3F7A5C"/>
                </a:solidFill>
                <a:latin typeface="BIZ UDPゴシック" pitchFamily="34" charset="0"/>
                <a:ea typeface="BIZ UDPゴシック" pitchFamily="34" charset="-122"/>
                <a:cs typeface="BIZ UDPゴシック" pitchFamily="34" charset="-120"/>
              </a:rPr>
              <a:t>短すぎる → </a:t>
            </a:r>
            <a:pPr indent="0" marL="0">
              <a:lnSpc>
                <a:spcPct val="105000"/>
              </a:lnSpc>
              <a:spcAft>
                <a:spcPts val="700"/>
              </a:spcAft>
              <a:buNone/>
            </a:pPr>
            <a:r>
              <a:rPr lang="en-US" sz="1300" dirty="0">
                <a:solidFill>
                  <a:srgbClr val="3A2E20"/>
                </a:solidFill>
                <a:latin typeface="BIZ UDPゴシック" pitchFamily="34" charset="0"/>
                <a:ea typeface="BIZ UDPゴシック" pitchFamily="34" charset="-122"/>
                <a:cs typeface="BIZ UDPゴシック" pitchFamily="34" charset="-120"/>
              </a:rPr>
              <a:t>前回の距離をAIに伝え、最大3回作り直し</a:t>
            </a:r>
            <a:endParaRPr lang="en-US" sz="1300" dirty="0"/>
          </a:p>
          <a:p>
            <a:pPr marL="177800" indent="-177800">
              <a:lnSpc>
                <a:spcPct val="105000"/>
              </a:lnSpc>
              <a:spcAft>
                <a:spcPts val="700"/>
              </a:spcAft>
              <a:buSzPct val="100000"/>
              <a:buChar char="•"/>
            </a:pPr>
            <a:r>
              <a:rPr lang="en-US" sz="1300" b="1" dirty="0">
                <a:solidFill>
                  <a:srgbClr val="45356B"/>
                </a:solidFill>
                <a:latin typeface="BIZ UDPゴシック" pitchFamily="34" charset="0"/>
                <a:ea typeface="BIZ UDPゴシック" pitchFamily="34" charset="-122"/>
                <a:cs typeface="BIZ UDPゴシック" pitchFamily="34" charset="-120"/>
              </a:rPr>
              <a:t>行きにくい場所 → </a:t>
            </a:r>
            <a:pPr indent="0" marL="0">
              <a:lnSpc>
                <a:spcPct val="105000"/>
              </a:lnSpc>
              <a:spcAft>
                <a:spcPts val="700"/>
              </a:spcAft>
              <a:buNone/>
            </a:pPr>
            <a:r>
              <a:rPr lang="en-US" sz="1300" dirty="0">
                <a:solidFill>
                  <a:srgbClr val="3A2E20"/>
                </a:solidFill>
                <a:latin typeface="BIZ UDPゴシック" pitchFamily="34" charset="0"/>
                <a:ea typeface="BIZ UDPゴシック" pitchFamily="34" charset="-122"/>
                <a:cs typeface="BIZ UDPゴシック" pitchFamily="34" charset="-120"/>
              </a:rPr>
              <a:t>経路から大きく外れたスポットは除外</a:t>
            </a:r>
            <a:endParaRPr lang="en-US" sz="1300" dirty="0"/>
          </a:p>
          <a:p>
            <a:pPr marL="177800" indent="-177800">
              <a:lnSpc>
                <a:spcPct val="105000"/>
              </a:lnSpc>
              <a:spcAft>
                <a:spcPts val="700"/>
              </a:spcAft>
              <a:buSzPct val="100000"/>
              <a:buChar char="•"/>
            </a:pPr>
            <a:r>
              <a:rPr lang="en-US" sz="1300" b="1" dirty="0">
                <a:solidFill>
                  <a:srgbClr val="B8862B"/>
                </a:solidFill>
                <a:latin typeface="BIZ UDPゴシック" pitchFamily="34" charset="0"/>
                <a:ea typeface="BIZ UDPゴシック" pitchFamily="34" charset="-122"/>
                <a:cs typeface="BIZ UDPゴシック" pitchFamily="34" charset="-120"/>
              </a:rPr>
              <a:t>チェーン店 → </a:t>
            </a:r>
            <a:pPr indent="0" marL="0">
              <a:lnSpc>
                <a:spcPct val="105000"/>
              </a:lnSpc>
              <a:spcAft>
                <a:spcPts val="700"/>
              </a:spcAft>
              <a:buNone/>
            </a:pPr>
            <a:r>
              <a:rPr lang="en-US" sz="1300" dirty="0">
                <a:solidFill>
                  <a:srgbClr val="3A2E20"/>
                </a:solidFill>
                <a:latin typeface="BIZ UDPゴシック" pitchFamily="34" charset="0"/>
                <a:ea typeface="BIZ UDPゴシック" pitchFamily="34" charset="-122"/>
                <a:cs typeface="BIZ UDPゴシック" pitchFamily="34" charset="-120"/>
              </a:rPr>
              <a:t>優先度を下げ、その土地らしい場所を選ぶ</a:t>
            </a:r>
            <a:endParaRPr lang="en-US" sz="1300" dirty="0"/>
          </a:p>
          <a:p>
            <a:pPr marL="177800" indent="-177800">
              <a:lnSpc>
                <a:spcPct val="105000"/>
              </a:lnSpc>
              <a:spcAft>
                <a:spcPts val="700"/>
              </a:spcAft>
              <a:buSzPct val="100000"/>
              <a:buChar char="•"/>
            </a:pPr>
            <a:r>
              <a:rPr lang="en-US" sz="1300" b="1" dirty="0">
                <a:solidFill>
                  <a:srgbClr val="8E44AD"/>
                </a:solidFill>
                <a:latin typeface="BIZ UDPゴシック" pitchFamily="34" charset="0"/>
                <a:ea typeface="BIZ UDPゴシック" pitchFamily="34" charset="-122"/>
                <a:cs typeface="BIZ UDPゴシック" pitchFamily="34" charset="-120"/>
              </a:rPr>
              <a:t>口コミの場所 → </a:t>
            </a:r>
            <a:pPr indent="0" marL="0">
              <a:lnSpc>
                <a:spcPct val="105000"/>
              </a:lnSpc>
              <a:spcAft>
                <a:spcPts val="700"/>
              </a:spcAft>
              <a:buNone/>
            </a:pPr>
            <a:r>
              <a:rPr lang="en-US" sz="1300" dirty="0">
                <a:solidFill>
                  <a:srgbClr val="3A2E20"/>
                </a:solidFill>
                <a:latin typeface="BIZ UDPゴシック" pitchFamily="34" charset="0"/>
                <a:ea typeface="BIZ UDPゴシック" pitchFamily="34" charset="-122"/>
                <a:cs typeface="BIZ UDPゴシック" pitchFamily="34" charset="-120"/>
              </a:rPr>
              <a:t>スポット数の4割までに抑えて混ぜる</a:t>
            </a:r>
            <a:endParaRPr lang="en-US" sz="1300" dirty="0"/>
          </a:p>
        </p:txBody>
      </p:sp>
      <p:sp>
        <p:nvSpPr>
          <p:cNvPr id="53" name="Shape 50"/>
          <p:cNvSpPr/>
          <p:nvPr/>
        </p:nvSpPr>
        <p:spPr>
          <a:xfrm>
            <a:off x="7589520" y="3429000"/>
            <a:ext cx="4050792" cy="2743200"/>
          </a:xfrm>
          <a:prstGeom prst="roundRect">
            <a:avLst>
              <a:gd name="adj" fmla="val 2667"/>
            </a:avLst>
          </a:prstGeom>
          <a:solidFill>
            <a:srgbClr val="45356B"/>
          </a:solidFill>
          <a:ln/>
          <a:effectLst>
            <a:outerShdw sx="100000" sy="100000" kx="0" ky="0" algn="bl" rotWithShape="0" blurRad="101600" dist="38100" dir="2700000">
              <a:srgbClr val="5C4430">
                <a:alpha val="30000"/>
              </a:srgbClr>
            </a:outerShdw>
          </a:effectLst>
        </p:spPr>
      </p:sp>
      <p:sp>
        <p:nvSpPr>
          <p:cNvPr id="54" name="Text 51"/>
          <p:cNvSpPr/>
          <p:nvPr/>
        </p:nvSpPr>
        <p:spPr>
          <a:xfrm>
            <a:off x="7772400" y="3520440"/>
            <a:ext cx="3657600" cy="320040"/>
          </a:xfrm>
          <a:prstGeom prst="rect">
            <a:avLst/>
          </a:prstGeom>
          <a:noFill/>
          <a:ln/>
        </p:spPr>
        <p:txBody>
          <a:bodyPr wrap="square" lIns="0" tIns="0" rIns="0" bIns="0" rtlCol="0" anchor="t"/>
          <a:lstStyle/>
          <a:p>
            <a:pPr indent="0" marL="0">
              <a:buNone/>
            </a:pPr>
            <a:r>
              <a:rPr lang="en-US" sz="1300" b="1" dirty="0">
                <a:solidFill>
                  <a:srgbClr val="E8E1F5"/>
                </a:solidFill>
                <a:latin typeface="BIZ UDPゴシック" pitchFamily="34" charset="0"/>
                <a:ea typeface="BIZ UDPゴシック" pitchFamily="34" charset="-122"/>
                <a:cs typeface="BIZ UDPゴシック" pitchFamily="34" charset="-120"/>
              </a:rPr>
              <a:t>改善の検証結果</a:t>
            </a:r>
            <a:endParaRPr lang="en-US" sz="1300" dirty="0"/>
          </a:p>
        </p:txBody>
      </p:sp>
      <p:sp>
        <p:nvSpPr>
          <p:cNvPr id="55" name="Shape 52"/>
          <p:cNvSpPr/>
          <p:nvPr/>
        </p:nvSpPr>
        <p:spPr>
          <a:xfrm>
            <a:off x="7772400" y="3886200"/>
            <a:ext cx="1810512" cy="914400"/>
          </a:xfrm>
          <a:prstGeom prst="roundRect">
            <a:avLst>
              <a:gd name="adj" fmla="val 8000"/>
            </a:avLst>
          </a:prstGeom>
          <a:solidFill>
            <a:srgbClr val="5F4C91"/>
          </a:solidFill>
          <a:ln/>
        </p:spPr>
      </p:sp>
      <p:sp>
        <p:nvSpPr>
          <p:cNvPr id="56" name="Text 53"/>
          <p:cNvSpPr/>
          <p:nvPr/>
        </p:nvSpPr>
        <p:spPr>
          <a:xfrm>
            <a:off x="7772400" y="3959352"/>
            <a:ext cx="1810512" cy="502920"/>
          </a:xfrm>
          <a:prstGeom prst="rect">
            <a:avLst/>
          </a:prstGeom>
          <a:noFill/>
          <a:ln/>
        </p:spPr>
        <p:txBody>
          <a:bodyPr wrap="square" lIns="0" tIns="0" rIns="0" bIns="0" rtlCol="0" anchor="ctr"/>
          <a:lstStyle/>
          <a:p>
            <a:pPr algn="ctr" indent="0" marL="0">
              <a:buNone/>
            </a:pPr>
            <a:r>
              <a:rPr lang="en-US" sz="2200" b="1" dirty="0">
                <a:solidFill>
                  <a:srgbClr val="DCC48A"/>
                </a:solidFill>
                <a:latin typeface="BIZ UDPゴシック" pitchFamily="34" charset="0"/>
                <a:ea typeface="BIZ UDPゴシック" pitchFamily="34" charset="-122"/>
                <a:cs typeface="BIZ UDPゴシック" pitchFamily="34" charset="-120"/>
              </a:rPr>
              <a:t>4.0秒</a:t>
            </a:r>
            <a:endParaRPr lang="en-US" sz="2200" dirty="0"/>
          </a:p>
        </p:txBody>
      </p:sp>
      <p:sp>
        <p:nvSpPr>
          <p:cNvPr id="57" name="Text 54"/>
          <p:cNvSpPr/>
          <p:nvPr/>
        </p:nvSpPr>
        <p:spPr>
          <a:xfrm>
            <a:off x="7772400" y="4453128"/>
            <a:ext cx="1810512" cy="292608"/>
          </a:xfrm>
          <a:prstGeom prst="rect">
            <a:avLst/>
          </a:prstGeom>
          <a:noFill/>
          <a:ln/>
        </p:spPr>
        <p:txBody>
          <a:bodyPr wrap="square" lIns="0" tIns="0" rIns="0" bIns="0" rtlCol="0" anchor="t"/>
          <a:lstStyle/>
          <a:p>
            <a:pPr algn="ctr" indent="0" marL="0">
              <a:buNone/>
            </a:pPr>
            <a:r>
              <a:rPr lang="en-US" sz="1000" dirty="0">
                <a:solidFill>
                  <a:srgbClr val="FFFFFF"/>
                </a:solidFill>
                <a:latin typeface="BIZ UDPゴシック" pitchFamily="34" charset="0"/>
                <a:ea typeface="BIZ UDPゴシック" pitchFamily="34" charset="-122"/>
                <a:cs typeface="BIZ UDPゴシック" pitchFamily="34" charset="-120"/>
              </a:rPr>
              <a:t>平均の生成時間</a:t>
            </a:r>
            <a:endParaRPr lang="en-US" sz="1000" dirty="0"/>
          </a:p>
        </p:txBody>
      </p:sp>
      <p:sp>
        <p:nvSpPr>
          <p:cNvPr id="58" name="Shape 55"/>
          <p:cNvSpPr/>
          <p:nvPr/>
        </p:nvSpPr>
        <p:spPr>
          <a:xfrm>
            <a:off x="9692640" y="3886200"/>
            <a:ext cx="1810512" cy="914400"/>
          </a:xfrm>
          <a:prstGeom prst="roundRect">
            <a:avLst>
              <a:gd name="adj" fmla="val 8000"/>
            </a:avLst>
          </a:prstGeom>
          <a:solidFill>
            <a:srgbClr val="5F4C91"/>
          </a:solidFill>
          <a:ln/>
        </p:spPr>
      </p:sp>
      <p:sp>
        <p:nvSpPr>
          <p:cNvPr id="59" name="Text 56"/>
          <p:cNvSpPr/>
          <p:nvPr/>
        </p:nvSpPr>
        <p:spPr>
          <a:xfrm>
            <a:off x="9692640" y="3959352"/>
            <a:ext cx="1810512" cy="502920"/>
          </a:xfrm>
          <a:prstGeom prst="rect">
            <a:avLst/>
          </a:prstGeom>
          <a:noFill/>
          <a:ln/>
        </p:spPr>
        <p:txBody>
          <a:bodyPr wrap="square" lIns="0" tIns="0" rIns="0" bIns="0" rtlCol="0" anchor="ctr"/>
          <a:lstStyle/>
          <a:p>
            <a:pPr algn="ctr" indent="0" marL="0">
              <a:buNone/>
            </a:pPr>
            <a:r>
              <a:rPr lang="en-US" sz="2200" b="1" dirty="0">
                <a:solidFill>
                  <a:srgbClr val="DCC48A"/>
                </a:solidFill>
                <a:latin typeface="BIZ UDPゴシック" pitchFamily="34" charset="0"/>
                <a:ea typeface="BIZ UDPゴシック" pitchFamily="34" charset="-122"/>
                <a:cs typeface="BIZ UDPゴシック" pitchFamily="34" charset="-120"/>
              </a:rPr>
              <a:t>120通り</a:t>
            </a:r>
            <a:endParaRPr lang="en-US" sz="2200" dirty="0"/>
          </a:p>
        </p:txBody>
      </p:sp>
      <p:sp>
        <p:nvSpPr>
          <p:cNvPr id="60" name="Text 57"/>
          <p:cNvSpPr/>
          <p:nvPr/>
        </p:nvSpPr>
        <p:spPr>
          <a:xfrm>
            <a:off x="9692640" y="4453128"/>
            <a:ext cx="1810512" cy="292608"/>
          </a:xfrm>
          <a:prstGeom prst="rect">
            <a:avLst/>
          </a:prstGeom>
          <a:noFill/>
          <a:ln/>
        </p:spPr>
        <p:txBody>
          <a:bodyPr wrap="square" lIns="0" tIns="0" rIns="0" bIns="0" rtlCol="0" anchor="t"/>
          <a:lstStyle/>
          <a:p>
            <a:pPr algn="ctr" indent="0" marL="0">
              <a:buNone/>
            </a:pPr>
            <a:r>
              <a:rPr lang="en-US" sz="1000" dirty="0">
                <a:solidFill>
                  <a:srgbClr val="FFFFFF"/>
                </a:solidFill>
                <a:latin typeface="BIZ UDPゴシック" pitchFamily="34" charset="0"/>
                <a:ea typeface="BIZ UDPゴシック" pitchFamily="34" charset="-122"/>
                <a:cs typeface="BIZ UDPゴシック" pitchFamily="34" charset="-120"/>
              </a:rPr>
              <a:t>ジャンル×距離×3回</a:t>
            </a:r>
            <a:endParaRPr lang="en-US" sz="1000" dirty="0"/>
          </a:p>
        </p:txBody>
      </p:sp>
      <p:sp>
        <p:nvSpPr>
          <p:cNvPr id="61" name="Shape 58"/>
          <p:cNvSpPr/>
          <p:nvPr/>
        </p:nvSpPr>
        <p:spPr>
          <a:xfrm>
            <a:off x="7772400" y="4910328"/>
            <a:ext cx="1810512" cy="914400"/>
          </a:xfrm>
          <a:prstGeom prst="roundRect">
            <a:avLst>
              <a:gd name="adj" fmla="val 8000"/>
            </a:avLst>
          </a:prstGeom>
          <a:solidFill>
            <a:srgbClr val="5F4C91"/>
          </a:solidFill>
          <a:ln/>
        </p:spPr>
      </p:sp>
      <p:sp>
        <p:nvSpPr>
          <p:cNvPr id="62" name="Text 59"/>
          <p:cNvSpPr/>
          <p:nvPr/>
        </p:nvSpPr>
        <p:spPr>
          <a:xfrm>
            <a:off x="7772400" y="4983480"/>
            <a:ext cx="1810512" cy="502920"/>
          </a:xfrm>
          <a:prstGeom prst="rect">
            <a:avLst/>
          </a:prstGeom>
          <a:noFill/>
          <a:ln/>
        </p:spPr>
        <p:txBody>
          <a:bodyPr wrap="square" lIns="0" tIns="0" rIns="0" bIns="0" rtlCol="0" anchor="ctr"/>
          <a:lstStyle/>
          <a:p>
            <a:pPr algn="ctr" indent="0" marL="0">
              <a:buNone/>
            </a:pPr>
            <a:r>
              <a:rPr lang="en-US" sz="2200" b="1" dirty="0">
                <a:solidFill>
                  <a:srgbClr val="DCC48A"/>
                </a:solidFill>
                <a:latin typeface="BIZ UDPゴシック" pitchFamily="34" charset="0"/>
                <a:ea typeface="BIZ UDPゴシック" pitchFamily="34" charset="-122"/>
                <a:cs typeface="BIZ UDPゴシック" pitchFamily="34" charset="-120"/>
              </a:rPr>
              <a:t>79→81%</a:t>
            </a:r>
            <a:endParaRPr lang="en-US" sz="2200" dirty="0"/>
          </a:p>
        </p:txBody>
      </p:sp>
      <p:sp>
        <p:nvSpPr>
          <p:cNvPr id="63" name="Text 60"/>
          <p:cNvSpPr/>
          <p:nvPr/>
        </p:nvSpPr>
        <p:spPr>
          <a:xfrm>
            <a:off x="7772400" y="5477256"/>
            <a:ext cx="1810512" cy="292608"/>
          </a:xfrm>
          <a:prstGeom prst="rect">
            <a:avLst/>
          </a:prstGeom>
          <a:noFill/>
          <a:ln/>
        </p:spPr>
        <p:txBody>
          <a:bodyPr wrap="square" lIns="0" tIns="0" rIns="0" bIns="0" rtlCol="0" anchor="t"/>
          <a:lstStyle/>
          <a:p>
            <a:pPr algn="ctr" indent="0" marL="0">
              <a:buNone/>
            </a:pPr>
            <a:r>
              <a:rPr lang="en-US" sz="1000" dirty="0">
                <a:solidFill>
                  <a:srgbClr val="FFFFFF"/>
                </a:solidFill>
                <a:latin typeface="BIZ UDPゴシック" pitchFamily="34" charset="0"/>
                <a:ea typeface="BIZ UDPゴシック" pitchFamily="34" charset="-122"/>
                <a:cs typeface="BIZ UDPゴシック" pitchFamily="34" charset="-120"/>
              </a:rPr>
              <a:t>成功率（平均）</a:t>
            </a:r>
            <a:endParaRPr lang="en-US" sz="1000" dirty="0"/>
          </a:p>
        </p:txBody>
      </p:sp>
      <p:sp>
        <p:nvSpPr>
          <p:cNvPr id="64" name="Shape 61"/>
          <p:cNvSpPr/>
          <p:nvPr/>
        </p:nvSpPr>
        <p:spPr>
          <a:xfrm>
            <a:off x="9692640" y="4910328"/>
            <a:ext cx="1810512" cy="914400"/>
          </a:xfrm>
          <a:prstGeom prst="roundRect">
            <a:avLst>
              <a:gd name="adj" fmla="val 8000"/>
            </a:avLst>
          </a:prstGeom>
          <a:solidFill>
            <a:srgbClr val="5F4C91"/>
          </a:solidFill>
          <a:ln/>
        </p:spPr>
      </p:sp>
      <p:sp>
        <p:nvSpPr>
          <p:cNvPr id="65" name="Text 62"/>
          <p:cNvSpPr/>
          <p:nvPr/>
        </p:nvSpPr>
        <p:spPr>
          <a:xfrm>
            <a:off x="9692640" y="4983480"/>
            <a:ext cx="1810512" cy="502920"/>
          </a:xfrm>
          <a:prstGeom prst="rect">
            <a:avLst/>
          </a:prstGeom>
          <a:noFill/>
          <a:ln/>
        </p:spPr>
        <p:txBody>
          <a:bodyPr wrap="square" lIns="0" tIns="0" rIns="0" bIns="0" rtlCol="0" anchor="ctr"/>
          <a:lstStyle/>
          <a:p>
            <a:pPr algn="ctr" indent="0" marL="0">
              <a:buNone/>
            </a:pPr>
            <a:r>
              <a:rPr lang="en-US" sz="2200" b="1" dirty="0">
                <a:solidFill>
                  <a:srgbClr val="DCC48A"/>
                </a:solidFill>
                <a:latin typeface="BIZ UDPゴシック" pitchFamily="34" charset="0"/>
                <a:ea typeface="BIZ UDPゴシック" pitchFamily="34" charset="-122"/>
                <a:cs typeface="BIZ UDPゴシック" pitchFamily="34" charset="-120"/>
              </a:rPr>
              <a:t>+17pt</a:t>
            </a:r>
            <a:endParaRPr lang="en-US" sz="2200" dirty="0"/>
          </a:p>
        </p:txBody>
      </p:sp>
      <p:sp>
        <p:nvSpPr>
          <p:cNvPr id="66" name="Text 63"/>
          <p:cNvSpPr/>
          <p:nvPr/>
        </p:nvSpPr>
        <p:spPr>
          <a:xfrm>
            <a:off x="9692640" y="5477256"/>
            <a:ext cx="1810512" cy="292608"/>
          </a:xfrm>
          <a:prstGeom prst="rect">
            <a:avLst/>
          </a:prstGeom>
          <a:noFill/>
          <a:ln/>
        </p:spPr>
        <p:txBody>
          <a:bodyPr wrap="square" lIns="0" tIns="0" rIns="0" bIns="0" rtlCol="0" anchor="t"/>
          <a:lstStyle/>
          <a:p>
            <a:pPr algn="ctr" indent="0" marL="0">
              <a:buNone/>
            </a:pPr>
            <a:r>
              <a:rPr lang="en-US" sz="1000" dirty="0">
                <a:solidFill>
                  <a:srgbClr val="FFFFFF"/>
                </a:solidFill>
                <a:latin typeface="BIZ UDPゴシック" pitchFamily="34" charset="0"/>
                <a:ea typeface="BIZ UDPゴシック" pitchFamily="34" charset="-122"/>
                <a:cs typeface="BIZ UDPゴシック" pitchFamily="34" charset="-120"/>
              </a:rPr>
              <a:t>5km の成功率</a:t>
            </a:r>
            <a:endParaRPr lang="en-US" sz="1000" dirty="0"/>
          </a:p>
        </p:txBody>
      </p:sp>
      <p:sp>
        <p:nvSpPr>
          <p:cNvPr id="67" name="Text 64"/>
          <p:cNvSpPr/>
          <p:nvPr/>
        </p:nvSpPr>
        <p:spPr>
          <a:xfrm>
            <a:off x="7772400" y="5916168"/>
            <a:ext cx="3749040" cy="228600"/>
          </a:xfrm>
          <a:prstGeom prst="rect">
            <a:avLst/>
          </a:prstGeom>
          <a:noFill/>
          <a:ln/>
        </p:spPr>
        <p:txBody>
          <a:bodyPr wrap="square" lIns="0" tIns="0" rIns="0" bIns="0" rtlCol="0" anchor="t"/>
          <a:lstStyle/>
          <a:p>
            <a:pPr indent="0" marL="0">
              <a:buNone/>
            </a:pPr>
            <a:r>
              <a:rPr lang="en-US" sz="850" dirty="0">
                <a:solidFill>
                  <a:srgbClr val="D0C8E2"/>
                </a:solidFill>
                <a:latin typeface="BIZ UDPゴシック" pitchFamily="34" charset="0"/>
                <a:ea typeface="BIZ UDPゴシック" pitchFamily="34" charset="-122"/>
                <a:cs typeface="BIZ UDPゴシック" pitchFamily="34" charset="-120"/>
              </a:rPr>
              <a:t>※ ルート生成改善レポート（2026/9/30）より</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01 POINT ②</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アプリのこだわり②　口コミ投稿機能</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01 アーキテクチャ＆技術的工夫</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12</a:t>
            </a:r>
            <a:endParaRPr lang="en-US" sz="900" dirty="0"/>
          </a:p>
        </p:txBody>
      </p:sp>
      <p:sp>
        <p:nvSpPr>
          <p:cNvPr id="11" name="Shape 8"/>
          <p:cNvSpPr/>
          <p:nvPr/>
        </p:nvSpPr>
        <p:spPr>
          <a:xfrm>
            <a:off x="548640" y="1463040"/>
            <a:ext cx="4892040" cy="4709160"/>
          </a:xfrm>
          <a:prstGeom prst="roundRect">
            <a:avLst>
              <a:gd name="adj" fmla="val 155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pic>
        <p:nvPicPr>
          <p:cNvPr id="12" name="Image 0" descr="C:\Users\ltosuser\AppData\Local\Temp\michishiru-ppt\img\map.jpg">    </p:cNvPr>
          <p:cNvPicPr>
            <a:picLocks noChangeAspect="1"/>
          </p:cNvPicPr>
          <p:nvPr/>
        </p:nvPicPr>
        <p:blipFill>
          <a:blip r:embed="rId1"/>
          <a:srcRect l="0" r="0" t="23450" b="23450"/>
          <a:stretch/>
        </p:blipFill>
        <p:spPr>
          <a:xfrm>
            <a:off x="713232" y="1627632"/>
            <a:ext cx="4562856" cy="3611880"/>
          </a:xfrm>
          <a:prstGeom prst="rect">
            <a:avLst/>
          </a:prstGeom>
        </p:spPr>
      </p:pic>
      <p:sp>
        <p:nvSpPr>
          <p:cNvPr id="13" name="Shape 9"/>
          <p:cNvSpPr/>
          <p:nvPr/>
        </p:nvSpPr>
        <p:spPr>
          <a:xfrm>
            <a:off x="713232" y="1627632"/>
            <a:ext cx="4562856" cy="3611880"/>
          </a:xfrm>
          <a:prstGeom prst="rect">
            <a:avLst/>
          </a:prstGeom>
          <a:ln w="12700">
            <a:solidFill>
              <a:srgbClr val="5C4430"/>
            </a:solidFill>
            <a:prstDash val="solid"/>
          </a:ln>
        </p:spPr>
      </p:sp>
      <p:sp>
        <p:nvSpPr>
          <p:cNvPr id="14" name="Shape 10"/>
          <p:cNvSpPr/>
          <p:nvPr/>
        </p:nvSpPr>
        <p:spPr>
          <a:xfrm flipV="1">
            <a:off x="1280160" y="3017520"/>
            <a:ext cx="731520" cy="1645920"/>
          </a:xfrm>
          <a:prstGeom prst="line">
            <a:avLst/>
          </a:prstGeom>
          <a:noFill/>
          <a:ln w="44450">
            <a:solidFill>
              <a:srgbClr val="1A73E8"/>
            </a:solidFill>
            <a:prstDash val="solid"/>
          </a:ln>
        </p:spPr>
      </p:sp>
      <p:sp>
        <p:nvSpPr>
          <p:cNvPr id="15" name="Shape 11"/>
          <p:cNvSpPr/>
          <p:nvPr/>
        </p:nvSpPr>
        <p:spPr>
          <a:xfrm flipV="1">
            <a:off x="2011680" y="2377440"/>
            <a:ext cx="1188720" cy="640080"/>
          </a:xfrm>
          <a:prstGeom prst="line">
            <a:avLst/>
          </a:prstGeom>
          <a:noFill/>
          <a:ln w="44450">
            <a:solidFill>
              <a:srgbClr val="1A73E8"/>
            </a:solidFill>
            <a:prstDash val="solid"/>
          </a:ln>
        </p:spPr>
      </p:sp>
      <p:sp>
        <p:nvSpPr>
          <p:cNvPr id="16" name="Shape 12"/>
          <p:cNvSpPr/>
          <p:nvPr/>
        </p:nvSpPr>
        <p:spPr>
          <a:xfrm>
            <a:off x="3200400" y="2377440"/>
            <a:ext cx="1005840" cy="1188720"/>
          </a:xfrm>
          <a:prstGeom prst="line">
            <a:avLst/>
          </a:prstGeom>
          <a:noFill/>
          <a:ln w="44450">
            <a:solidFill>
              <a:srgbClr val="1A73E8"/>
            </a:solidFill>
            <a:prstDash val="solid"/>
          </a:ln>
        </p:spPr>
      </p:sp>
      <p:sp>
        <p:nvSpPr>
          <p:cNvPr id="17" name="Shape 13"/>
          <p:cNvSpPr/>
          <p:nvPr/>
        </p:nvSpPr>
        <p:spPr>
          <a:xfrm flipH="1">
            <a:off x="2926080" y="3566160"/>
            <a:ext cx="1280160" cy="822960"/>
          </a:xfrm>
          <a:prstGeom prst="line">
            <a:avLst/>
          </a:prstGeom>
          <a:noFill/>
          <a:ln w="44450">
            <a:solidFill>
              <a:srgbClr val="1A73E8"/>
            </a:solidFill>
            <a:prstDash val="solid"/>
          </a:ln>
        </p:spPr>
      </p:sp>
      <p:sp>
        <p:nvSpPr>
          <p:cNvPr id="18" name="Shape 14"/>
          <p:cNvSpPr/>
          <p:nvPr/>
        </p:nvSpPr>
        <p:spPr>
          <a:xfrm flipH="1">
            <a:off x="1280160" y="4389120"/>
            <a:ext cx="1645920" cy="274320"/>
          </a:xfrm>
          <a:prstGeom prst="line">
            <a:avLst/>
          </a:prstGeom>
          <a:noFill/>
          <a:ln w="44450">
            <a:solidFill>
              <a:srgbClr val="1A73E8"/>
            </a:solidFill>
            <a:prstDash val="solid"/>
          </a:ln>
        </p:spPr>
      </p:sp>
      <p:sp>
        <p:nvSpPr>
          <p:cNvPr id="19" name="Shape 15"/>
          <p:cNvSpPr/>
          <p:nvPr/>
        </p:nvSpPr>
        <p:spPr>
          <a:xfrm rot="10800000">
            <a:off x="1920240" y="2935224"/>
            <a:ext cx="237744" cy="201168"/>
          </a:xfrm>
          <a:prstGeom prst="triangle">
            <a:avLst/>
          </a:prstGeom>
          <a:solidFill>
            <a:srgbClr val="8E44AD"/>
          </a:solidFill>
          <a:ln/>
        </p:spPr>
      </p:sp>
      <p:sp>
        <p:nvSpPr>
          <p:cNvPr id="20" name="Shape 16"/>
          <p:cNvSpPr/>
          <p:nvPr/>
        </p:nvSpPr>
        <p:spPr>
          <a:xfrm>
            <a:off x="1828800" y="2606040"/>
            <a:ext cx="420624" cy="420624"/>
          </a:xfrm>
          <a:prstGeom prst="ellipse">
            <a:avLst/>
          </a:prstGeom>
          <a:solidFill>
            <a:srgbClr val="8E44AD"/>
          </a:solidFill>
          <a:ln w="25400">
            <a:solidFill>
              <a:srgbClr val="FFFFFF"/>
            </a:solidFill>
            <a:prstDash val="solid"/>
          </a:ln>
        </p:spPr>
      </p:sp>
      <p:sp>
        <p:nvSpPr>
          <p:cNvPr id="21" name="Text 17"/>
          <p:cNvSpPr/>
          <p:nvPr/>
        </p:nvSpPr>
        <p:spPr>
          <a:xfrm>
            <a:off x="1828800" y="260604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1</a:t>
            </a:r>
            <a:endParaRPr lang="en-US" sz="1100" dirty="0"/>
          </a:p>
        </p:txBody>
      </p:sp>
      <p:sp>
        <p:nvSpPr>
          <p:cNvPr id="22" name="Shape 18"/>
          <p:cNvSpPr/>
          <p:nvPr/>
        </p:nvSpPr>
        <p:spPr>
          <a:xfrm rot="10800000">
            <a:off x="3108960" y="2295144"/>
            <a:ext cx="237744" cy="201168"/>
          </a:xfrm>
          <a:prstGeom prst="triangle">
            <a:avLst/>
          </a:prstGeom>
          <a:solidFill>
            <a:srgbClr val="F39C12"/>
          </a:solidFill>
          <a:ln/>
        </p:spPr>
      </p:sp>
      <p:sp>
        <p:nvSpPr>
          <p:cNvPr id="23" name="Shape 19"/>
          <p:cNvSpPr/>
          <p:nvPr/>
        </p:nvSpPr>
        <p:spPr>
          <a:xfrm>
            <a:off x="3017520" y="1965960"/>
            <a:ext cx="420624" cy="420624"/>
          </a:xfrm>
          <a:prstGeom prst="ellipse">
            <a:avLst/>
          </a:prstGeom>
          <a:solidFill>
            <a:srgbClr val="F39C12"/>
          </a:solidFill>
          <a:ln w="25400">
            <a:solidFill>
              <a:srgbClr val="FFFFFF"/>
            </a:solidFill>
            <a:prstDash val="solid"/>
          </a:ln>
        </p:spPr>
      </p:sp>
      <p:sp>
        <p:nvSpPr>
          <p:cNvPr id="24" name="Text 20"/>
          <p:cNvSpPr/>
          <p:nvPr/>
        </p:nvSpPr>
        <p:spPr>
          <a:xfrm>
            <a:off x="3017520" y="196596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2</a:t>
            </a:r>
            <a:endParaRPr lang="en-US" sz="1100" dirty="0"/>
          </a:p>
        </p:txBody>
      </p:sp>
      <p:sp>
        <p:nvSpPr>
          <p:cNvPr id="25" name="Shape 21"/>
          <p:cNvSpPr/>
          <p:nvPr/>
        </p:nvSpPr>
        <p:spPr>
          <a:xfrm rot="10800000">
            <a:off x="4114800" y="3483864"/>
            <a:ext cx="237744" cy="201168"/>
          </a:xfrm>
          <a:prstGeom prst="triangle">
            <a:avLst/>
          </a:prstGeom>
          <a:solidFill>
            <a:srgbClr val="8E44AD"/>
          </a:solidFill>
          <a:ln/>
        </p:spPr>
      </p:sp>
      <p:sp>
        <p:nvSpPr>
          <p:cNvPr id="26" name="Shape 22"/>
          <p:cNvSpPr/>
          <p:nvPr/>
        </p:nvSpPr>
        <p:spPr>
          <a:xfrm>
            <a:off x="4023360" y="3154680"/>
            <a:ext cx="420624" cy="420624"/>
          </a:xfrm>
          <a:prstGeom prst="ellipse">
            <a:avLst/>
          </a:prstGeom>
          <a:solidFill>
            <a:srgbClr val="8E44AD"/>
          </a:solidFill>
          <a:ln w="25400">
            <a:solidFill>
              <a:srgbClr val="FFFFFF"/>
            </a:solidFill>
            <a:prstDash val="solid"/>
          </a:ln>
        </p:spPr>
      </p:sp>
      <p:sp>
        <p:nvSpPr>
          <p:cNvPr id="27" name="Text 23"/>
          <p:cNvSpPr/>
          <p:nvPr/>
        </p:nvSpPr>
        <p:spPr>
          <a:xfrm>
            <a:off x="4023360" y="315468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3</a:t>
            </a:r>
            <a:endParaRPr lang="en-US" sz="1100" dirty="0"/>
          </a:p>
        </p:txBody>
      </p:sp>
      <p:sp>
        <p:nvSpPr>
          <p:cNvPr id="28" name="Shape 24"/>
          <p:cNvSpPr/>
          <p:nvPr/>
        </p:nvSpPr>
        <p:spPr>
          <a:xfrm rot="10800000">
            <a:off x="1691640" y="3986784"/>
            <a:ext cx="237744" cy="201168"/>
          </a:xfrm>
          <a:prstGeom prst="triangle">
            <a:avLst/>
          </a:prstGeom>
          <a:solidFill>
            <a:srgbClr val="E5483B"/>
          </a:solidFill>
          <a:ln/>
        </p:spPr>
      </p:sp>
      <p:sp>
        <p:nvSpPr>
          <p:cNvPr id="29" name="Shape 25"/>
          <p:cNvSpPr/>
          <p:nvPr/>
        </p:nvSpPr>
        <p:spPr>
          <a:xfrm>
            <a:off x="1600200" y="3657600"/>
            <a:ext cx="420624" cy="420624"/>
          </a:xfrm>
          <a:prstGeom prst="ellipse">
            <a:avLst/>
          </a:prstGeom>
          <a:solidFill>
            <a:srgbClr val="E5483B"/>
          </a:solidFill>
          <a:ln w="25400">
            <a:solidFill>
              <a:srgbClr val="FFFFFF"/>
            </a:solidFill>
            <a:prstDash val="solid"/>
          </a:ln>
        </p:spPr>
      </p:sp>
      <p:sp>
        <p:nvSpPr>
          <p:cNvPr id="30" name="Shape 26"/>
          <p:cNvSpPr/>
          <p:nvPr/>
        </p:nvSpPr>
        <p:spPr>
          <a:xfrm>
            <a:off x="1719072" y="3776472"/>
            <a:ext cx="182880" cy="182880"/>
          </a:xfrm>
          <a:prstGeom prst="ellipse">
            <a:avLst/>
          </a:prstGeom>
          <a:solidFill>
            <a:srgbClr val="FFFFFF"/>
          </a:solidFill>
          <a:ln/>
        </p:spPr>
      </p:sp>
      <p:sp>
        <p:nvSpPr>
          <p:cNvPr id="31" name="Shape 27"/>
          <p:cNvSpPr/>
          <p:nvPr/>
        </p:nvSpPr>
        <p:spPr>
          <a:xfrm>
            <a:off x="1161288" y="4544568"/>
            <a:ext cx="237744" cy="237744"/>
          </a:xfrm>
          <a:prstGeom prst="ellipse">
            <a:avLst/>
          </a:prstGeom>
          <a:solidFill>
            <a:srgbClr val="3F7A5C"/>
          </a:solidFill>
          <a:ln w="25400">
            <a:solidFill>
              <a:srgbClr val="FFFFFF"/>
            </a:solidFill>
            <a:prstDash val="solid"/>
          </a:ln>
        </p:spPr>
      </p:sp>
      <p:sp>
        <p:nvSpPr>
          <p:cNvPr id="32" name="Shape 28"/>
          <p:cNvSpPr/>
          <p:nvPr/>
        </p:nvSpPr>
        <p:spPr>
          <a:xfrm>
            <a:off x="777240" y="5413248"/>
            <a:ext cx="164592" cy="164592"/>
          </a:xfrm>
          <a:prstGeom prst="ellipse">
            <a:avLst/>
          </a:prstGeom>
          <a:solidFill>
            <a:srgbClr val="E5483B"/>
          </a:solidFill>
          <a:ln/>
        </p:spPr>
      </p:sp>
      <p:sp>
        <p:nvSpPr>
          <p:cNvPr id="33" name="Text 29"/>
          <p:cNvSpPr/>
          <p:nvPr/>
        </p:nvSpPr>
        <p:spPr>
          <a:xfrm>
            <a:off x="1024128" y="5376672"/>
            <a:ext cx="4206240" cy="237744"/>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赤：</a:t>
            </a:r>
            <a:pPr indent="0" marL="0">
              <a:buNone/>
            </a:pPr>
            <a:r>
              <a:rPr lang="en-US" sz="1100" dirty="0">
                <a:solidFill>
                  <a:srgbClr val="3A2E20"/>
                </a:solidFill>
                <a:latin typeface="BIZ UDPゴシック" pitchFamily="34" charset="0"/>
                <a:ea typeface="BIZ UDPゴシック" pitchFamily="34" charset="-122"/>
                <a:cs typeface="BIZ UDPゴシック" pitchFamily="34" charset="-120"/>
              </a:rPr>
              <a:t>新しく投稿する場所</a:t>
            </a:r>
            <a:endParaRPr lang="en-US" sz="1100" dirty="0"/>
          </a:p>
        </p:txBody>
      </p:sp>
      <p:sp>
        <p:nvSpPr>
          <p:cNvPr id="34" name="Shape 30"/>
          <p:cNvSpPr/>
          <p:nvPr/>
        </p:nvSpPr>
        <p:spPr>
          <a:xfrm>
            <a:off x="777240" y="5669280"/>
            <a:ext cx="164592" cy="164592"/>
          </a:xfrm>
          <a:prstGeom prst="ellipse">
            <a:avLst/>
          </a:prstGeom>
          <a:solidFill>
            <a:srgbClr val="F39C12"/>
          </a:solidFill>
          <a:ln/>
        </p:spPr>
      </p:sp>
      <p:sp>
        <p:nvSpPr>
          <p:cNvPr id="35" name="Text 31"/>
          <p:cNvSpPr/>
          <p:nvPr/>
        </p:nvSpPr>
        <p:spPr>
          <a:xfrm>
            <a:off x="1024128" y="5632704"/>
            <a:ext cx="4206240" cy="237744"/>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オレンジ：</a:t>
            </a:r>
            <a:pPr indent="0" marL="0">
              <a:buNone/>
            </a:pPr>
            <a:r>
              <a:rPr lang="en-US" sz="1100" dirty="0">
                <a:solidFill>
                  <a:srgbClr val="3A2E20"/>
                </a:solidFill>
                <a:latin typeface="BIZ UDPゴシック" pitchFamily="34" charset="0"/>
                <a:ea typeface="BIZ UDPゴシック" pitchFamily="34" charset="-122"/>
                <a:cs typeface="BIZ UDPゴシック" pitchFamily="34" charset="-120"/>
              </a:rPr>
              <a:t>自分の口コミ</a:t>
            </a:r>
            <a:endParaRPr lang="en-US" sz="1100" dirty="0"/>
          </a:p>
        </p:txBody>
      </p:sp>
      <p:sp>
        <p:nvSpPr>
          <p:cNvPr id="36" name="Shape 32"/>
          <p:cNvSpPr/>
          <p:nvPr/>
        </p:nvSpPr>
        <p:spPr>
          <a:xfrm>
            <a:off x="777240" y="5925312"/>
            <a:ext cx="164592" cy="164592"/>
          </a:xfrm>
          <a:prstGeom prst="ellipse">
            <a:avLst/>
          </a:prstGeom>
          <a:solidFill>
            <a:srgbClr val="8E44AD"/>
          </a:solidFill>
          <a:ln/>
        </p:spPr>
      </p:sp>
      <p:sp>
        <p:nvSpPr>
          <p:cNvPr id="37" name="Text 33"/>
          <p:cNvSpPr/>
          <p:nvPr/>
        </p:nvSpPr>
        <p:spPr>
          <a:xfrm>
            <a:off x="1024128" y="5888736"/>
            <a:ext cx="4206240" cy="237744"/>
          </a:xfrm>
          <a:prstGeom prst="rect">
            <a:avLst/>
          </a:prstGeom>
          <a:noFill/>
          <a:ln/>
        </p:spPr>
        <p:txBody>
          <a:bodyPr wrap="square" lIns="0" tIns="0" rIns="0" bIns="0" rtlCol="0" anchor="t"/>
          <a:lstStyle/>
          <a:p>
            <a:pPr indent="0" marL="0">
              <a:buNone/>
            </a:pPr>
            <a:r>
              <a:rPr lang="en-US" sz="1100" b="1" dirty="0">
                <a:solidFill>
                  <a:srgbClr val="3A2E20"/>
                </a:solidFill>
                <a:latin typeface="BIZ UDPゴシック" pitchFamily="34" charset="0"/>
                <a:ea typeface="BIZ UDPゴシック" pitchFamily="34" charset="-122"/>
                <a:cs typeface="BIZ UDPゴシック" pitchFamily="34" charset="-120"/>
              </a:rPr>
              <a:t>紫：</a:t>
            </a:r>
            <a:pPr indent="0" marL="0">
              <a:buNone/>
            </a:pPr>
            <a:r>
              <a:rPr lang="en-US" sz="1100" dirty="0">
                <a:solidFill>
                  <a:srgbClr val="3A2E20"/>
                </a:solidFill>
                <a:latin typeface="BIZ UDPゴシック" pitchFamily="34" charset="0"/>
                <a:ea typeface="BIZ UDPゴシック" pitchFamily="34" charset="-122"/>
                <a:cs typeface="BIZ UDPゴシック" pitchFamily="34" charset="-120"/>
              </a:rPr>
              <a:t>他の人の口コミ</a:t>
            </a:r>
            <a:endParaRPr lang="en-US" sz="1100" dirty="0"/>
          </a:p>
        </p:txBody>
      </p:sp>
      <p:sp>
        <p:nvSpPr>
          <p:cNvPr id="38" name="Shape 34"/>
          <p:cNvSpPr/>
          <p:nvPr/>
        </p:nvSpPr>
        <p:spPr>
          <a:xfrm>
            <a:off x="5669280" y="1463040"/>
            <a:ext cx="5971032" cy="1069848"/>
          </a:xfrm>
          <a:prstGeom prst="roundRect">
            <a:avLst>
              <a:gd name="adj" fmla="val 6838"/>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9" name="Shape 35"/>
          <p:cNvSpPr/>
          <p:nvPr/>
        </p:nvSpPr>
        <p:spPr>
          <a:xfrm>
            <a:off x="5833872" y="1691640"/>
            <a:ext cx="603504" cy="603504"/>
          </a:xfrm>
          <a:prstGeom prst="roundRect">
            <a:avLst>
              <a:gd name="adj" fmla="val 9091"/>
            </a:avLst>
          </a:prstGeom>
          <a:solidFill>
            <a:srgbClr val="E5483B"/>
          </a:solidFill>
          <a:ln/>
        </p:spPr>
      </p:sp>
      <p:sp>
        <p:nvSpPr>
          <p:cNvPr id="40" name="Text 36"/>
          <p:cNvSpPr/>
          <p:nvPr/>
        </p:nvSpPr>
        <p:spPr>
          <a:xfrm>
            <a:off x="5833872" y="1691640"/>
            <a:ext cx="603504" cy="603504"/>
          </a:xfrm>
          <a:prstGeom prst="rect">
            <a:avLst/>
          </a:prstGeom>
          <a:noFill/>
          <a:ln/>
        </p:spPr>
        <p:txBody>
          <a:bodyPr wrap="square" lIns="0" tIns="0" rIns="0" bIns="0" rtlCol="0" anchor="ctr"/>
          <a:lstStyle/>
          <a:p>
            <a:pPr algn="ctr" indent="0" marL="0">
              <a:buNone/>
            </a:pPr>
            <a:r>
              <a:rPr lang="en-US" sz="1700" b="1" dirty="0">
                <a:solidFill>
                  <a:srgbClr val="FFFFFF"/>
                </a:solidFill>
                <a:latin typeface="BIZ UDPゴシック" pitchFamily="34" charset="0"/>
                <a:ea typeface="BIZ UDPゴシック" pitchFamily="34" charset="-122"/>
                <a:cs typeface="BIZ UDPゴシック" pitchFamily="34" charset="-120"/>
              </a:rPr>
              <a:t>投</a:t>
            </a:r>
            <a:endParaRPr lang="en-US" sz="1700" dirty="0"/>
          </a:p>
        </p:txBody>
      </p:sp>
      <p:sp>
        <p:nvSpPr>
          <p:cNvPr id="41" name="Text 37"/>
          <p:cNvSpPr/>
          <p:nvPr/>
        </p:nvSpPr>
        <p:spPr>
          <a:xfrm>
            <a:off x="6601968" y="1572768"/>
            <a:ext cx="4892040" cy="329184"/>
          </a:xfrm>
          <a:prstGeom prst="rect">
            <a:avLst/>
          </a:prstGeom>
          <a:noFill/>
          <a:ln/>
        </p:spPr>
        <p:txBody>
          <a:bodyPr wrap="square" lIns="0" tIns="0" rIns="0" bIns="0" rtlCol="0" anchor="t"/>
          <a:lstStyle/>
          <a:p>
            <a:pPr indent="0" marL="0">
              <a:buNone/>
            </a:pPr>
            <a:r>
              <a:rPr lang="en-US" sz="1500" b="1" dirty="0">
                <a:solidFill>
                  <a:srgbClr val="3A2E20"/>
                </a:solidFill>
                <a:latin typeface="BIZ UDPゴシック" pitchFamily="34" charset="0"/>
                <a:ea typeface="BIZ UDPゴシック" pitchFamily="34" charset="-122"/>
                <a:cs typeface="BIZ UDPゴシック" pitchFamily="34" charset="-120"/>
              </a:rPr>
              <a:t>かんたんに投稿</a:t>
            </a:r>
            <a:endParaRPr lang="en-US" sz="1500" dirty="0"/>
          </a:p>
        </p:txBody>
      </p:sp>
      <p:sp>
        <p:nvSpPr>
          <p:cNvPr id="42" name="Text 38"/>
          <p:cNvSpPr/>
          <p:nvPr/>
        </p:nvSpPr>
        <p:spPr>
          <a:xfrm>
            <a:off x="6601968" y="1920240"/>
            <a:ext cx="4892040" cy="566928"/>
          </a:xfrm>
          <a:prstGeom prst="rect">
            <a:avLst/>
          </a:prstGeom>
          <a:noFill/>
          <a:ln/>
        </p:spPr>
        <p:txBody>
          <a:bodyPr wrap="square" lIns="0" tIns="0" rIns="0" bIns="0" rtlCol="0" anchor="t"/>
          <a:lstStyle/>
          <a:p>
            <a:pPr indent="0" marL="0">
              <a:buNone/>
            </a:pPr>
            <a:r>
              <a:rPr lang="en-US" sz="1100" dirty="0">
                <a:solidFill>
                  <a:srgbClr val="6B5B46"/>
                </a:solidFill>
                <a:latin typeface="BIZ UDPゴシック" pitchFamily="34" charset="0"/>
                <a:ea typeface="BIZ UDPゴシック" pitchFamily="34" charset="-122"/>
                <a:cs typeface="BIZ UDPゴシック" pitchFamily="34" charset="-120"/>
              </a:rPr>
              <a:t>地図を長押ししてピンを立て、★1〜5の評価・感想・写真（最大4枚）を投稿。写真は署名付きURLでS3へ直接アップロード</a:t>
            </a:r>
            <a:endParaRPr lang="en-US" sz="1100" dirty="0"/>
          </a:p>
        </p:txBody>
      </p:sp>
      <p:sp>
        <p:nvSpPr>
          <p:cNvPr id="43" name="Shape 39"/>
          <p:cNvSpPr/>
          <p:nvPr/>
        </p:nvSpPr>
        <p:spPr>
          <a:xfrm>
            <a:off x="5669280" y="2651760"/>
            <a:ext cx="5971032" cy="1069848"/>
          </a:xfrm>
          <a:prstGeom prst="roundRect">
            <a:avLst>
              <a:gd name="adj" fmla="val 6838"/>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44" name="Shape 40"/>
          <p:cNvSpPr/>
          <p:nvPr/>
        </p:nvSpPr>
        <p:spPr>
          <a:xfrm>
            <a:off x="5833872" y="2880360"/>
            <a:ext cx="603504" cy="603504"/>
          </a:xfrm>
          <a:prstGeom prst="roundRect">
            <a:avLst>
              <a:gd name="adj" fmla="val 9091"/>
            </a:avLst>
          </a:prstGeom>
          <a:solidFill>
            <a:srgbClr val="B8862B"/>
          </a:solidFill>
          <a:ln/>
        </p:spPr>
      </p:sp>
      <p:sp>
        <p:nvSpPr>
          <p:cNvPr id="45" name="Text 41"/>
          <p:cNvSpPr/>
          <p:nvPr/>
        </p:nvSpPr>
        <p:spPr>
          <a:xfrm>
            <a:off x="5833872" y="2880360"/>
            <a:ext cx="603504" cy="603504"/>
          </a:xfrm>
          <a:prstGeom prst="rect">
            <a:avLst/>
          </a:prstGeom>
          <a:noFill/>
          <a:ln/>
        </p:spPr>
        <p:txBody>
          <a:bodyPr wrap="square" lIns="0" tIns="0" rIns="0" bIns="0" rtlCol="0" anchor="ctr"/>
          <a:lstStyle/>
          <a:p>
            <a:pPr algn="ctr" indent="0" marL="0">
              <a:buNone/>
            </a:pPr>
            <a:r>
              <a:rPr lang="en-US" sz="1700" b="1" dirty="0">
                <a:solidFill>
                  <a:srgbClr val="FFFFFF"/>
                </a:solidFill>
                <a:latin typeface="BIZ UDPゴシック" pitchFamily="34" charset="0"/>
                <a:ea typeface="BIZ UDPゴシック" pitchFamily="34" charset="-122"/>
                <a:cs typeface="BIZ UDPゴシック" pitchFamily="34" charset="-120"/>
              </a:rPr>
              <a:t>集</a:t>
            </a:r>
            <a:endParaRPr lang="en-US" sz="1700" dirty="0"/>
          </a:p>
        </p:txBody>
      </p:sp>
      <p:sp>
        <p:nvSpPr>
          <p:cNvPr id="46" name="Text 42"/>
          <p:cNvSpPr/>
          <p:nvPr/>
        </p:nvSpPr>
        <p:spPr>
          <a:xfrm>
            <a:off x="6601968" y="2761488"/>
            <a:ext cx="4892040" cy="329184"/>
          </a:xfrm>
          <a:prstGeom prst="rect">
            <a:avLst/>
          </a:prstGeom>
          <a:noFill/>
          <a:ln/>
        </p:spPr>
        <p:txBody>
          <a:bodyPr wrap="square" lIns="0" tIns="0" rIns="0" bIns="0" rtlCol="0" anchor="t"/>
          <a:lstStyle/>
          <a:p>
            <a:pPr indent="0" marL="0">
              <a:buNone/>
            </a:pPr>
            <a:r>
              <a:rPr lang="en-US" sz="1500" b="1" dirty="0">
                <a:solidFill>
                  <a:srgbClr val="3A2E20"/>
                </a:solidFill>
                <a:latin typeface="BIZ UDPゴシック" pitchFamily="34" charset="0"/>
                <a:ea typeface="BIZ UDPゴシック" pitchFamily="34" charset="-122"/>
                <a:cs typeface="BIZ UDPゴシック" pitchFamily="34" charset="-120"/>
              </a:rPr>
              <a:t>近くの口コミを1か所にまとめる</a:t>
            </a:r>
            <a:endParaRPr lang="en-US" sz="1500" dirty="0"/>
          </a:p>
        </p:txBody>
      </p:sp>
      <p:sp>
        <p:nvSpPr>
          <p:cNvPr id="47" name="Text 43"/>
          <p:cNvSpPr/>
          <p:nvPr/>
        </p:nvSpPr>
        <p:spPr>
          <a:xfrm>
            <a:off x="6601968" y="3108960"/>
            <a:ext cx="4892040" cy="566928"/>
          </a:xfrm>
          <a:prstGeom prst="rect">
            <a:avLst/>
          </a:prstGeom>
          <a:noFill/>
          <a:ln/>
        </p:spPr>
        <p:txBody>
          <a:bodyPr wrap="square" lIns="0" tIns="0" rIns="0" bIns="0" rtlCol="0" anchor="t"/>
          <a:lstStyle/>
          <a:p>
            <a:pPr indent="0" marL="0">
              <a:buNone/>
            </a:pPr>
            <a:r>
              <a:rPr lang="en-US" sz="1100" dirty="0">
                <a:solidFill>
                  <a:srgbClr val="6B5B46"/>
                </a:solidFill>
                <a:latin typeface="BIZ UDPゴシック" pitchFamily="34" charset="0"/>
                <a:ea typeface="BIZ UDPゴシック" pitchFamily="34" charset="-122"/>
                <a:cs typeface="BIZ UDPゴシック" pitchFamily="34" charset="-120"/>
              </a:rPr>
              <a:t>半径40m以内は同じ場所とみなし、平均評価と件数を表示。丸めセル（geoCell）で近くの場所を速く探す</a:t>
            </a:r>
            <a:endParaRPr lang="en-US" sz="1100" dirty="0"/>
          </a:p>
        </p:txBody>
      </p:sp>
      <p:sp>
        <p:nvSpPr>
          <p:cNvPr id="48" name="Shape 44"/>
          <p:cNvSpPr/>
          <p:nvPr/>
        </p:nvSpPr>
        <p:spPr>
          <a:xfrm>
            <a:off x="5669280" y="3840480"/>
            <a:ext cx="5971032" cy="1069848"/>
          </a:xfrm>
          <a:prstGeom prst="roundRect">
            <a:avLst>
              <a:gd name="adj" fmla="val 6838"/>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49" name="Shape 45"/>
          <p:cNvSpPr/>
          <p:nvPr/>
        </p:nvSpPr>
        <p:spPr>
          <a:xfrm>
            <a:off x="5833872" y="4069080"/>
            <a:ext cx="603504" cy="603504"/>
          </a:xfrm>
          <a:prstGeom prst="roundRect">
            <a:avLst>
              <a:gd name="adj" fmla="val 9091"/>
            </a:avLst>
          </a:prstGeom>
          <a:solidFill>
            <a:srgbClr val="8E44AD"/>
          </a:solidFill>
          <a:ln/>
        </p:spPr>
      </p:sp>
      <p:sp>
        <p:nvSpPr>
          <p:cNvPr id="50" name="Text 46"/>
          <p:cNvSpPr/>
          <p:nvPr/>
        </p:nvSpPr>
        <p:spPr>
          <a:xfrm>
            <a:off x="5833872" y="4069080"/>
            <a:ext cx="603504" cy="603504"/>
          </a:xfrm>
          <a:prstGeom prst="rect">
            <a:avLst/>
          </a:prstGeom>
          <a:noFill/>
          <a:ln/>
        </p:spPr>
        <p:txBody>
          <a:bodyPr wrap="square" lIns="0" tIns="0" rIns="0" bIns="0" rtlCol="0" anchor="ctr"/>
          <a:lstStyle/>
          <a:p>
            <a:pPr algn="ctr" indent="0" marL="0">
              <a:buNone/>
            </a:pPr>
            <a:r>
              <a:rPr lang="en-US" sz="1700" b="1" dirty="0">
                <a:solidFill>
                  <a:srgbClr val="FFFFFF"/>
                </a:solidFill>
                <a:latin typeface="BIZ UDPゴシック" pitchFamily="34" charset="0"/>
                <a:ea typeface="BIZ UDPゴシック" pitchFamily="34" charset="-122"/>
                <a:cs typeface="BIZ UDPゴシック" pitchFamily="34" charset="-120"/>
              </a:rPr>
              <a:t>色</a:t>
            </a:r>
            <a:endParaRPr lang="en-US" sz="1700" dirty="0"/>
          </a:p>
        </p:txBody>
      </p:sp>
      <p:sp>
        <p:nvSpPr>
          <p:cNvPr id="51" name="Text 47"/>
          <p:cNvSpPr/>
          <p:nvPr/>
        </p:nvSpPr>
        <p:spPr>
          <a:xfrm>
            <a:off x="6601968" y="3950208"/>
            <a:ext cx="4892040" cy="329184"/>
          </a:xfrm>
          <a:prstGeom prst="rect">
            <a:avLst/>
          </a:prstGeom>
          <a:noFill/>
          <a:ln/>
        </p:spPr>
        <p:txBody>
          <a:bodyPr wrap="square" lIns="0" tIns="0" rIns="0" bIns="0" rtlCol="0" anchor="t"/>
          <a:lstStyle/>
          <a:p>
            <a:pPr indent="0" marL="0">
              <a:buNone/>
            </a:pPr>
            <a:r>
              <a:rPr lang="en-US" sz="1500" b="1" dirty="0">
                <a:solidFill>
                  <a:srgbClr val="3A2E20"/>
                </a:solidFill>
                <a:latin typeface="BIZ UDPゴシック" pitchFamily="34" charset="0"/>
                <a:ea typeface="BIZ UDPゴシック" pitchFamily="34" charset="-122"/>
                <a:cs typeface="BIZ UDPゴシック" pitchFamily="34" charset="-120"/>
              </a:rPr>
              <a:t>色で「誰の口コミか」が分かる</a:t>
            </a:r>
            <a:endParaRPr lang="en-US" sz="1500" dirty="0"/>
          </a:p>
        </p:txBody>
      </p:sp>
      <p:sp>
        <p:nvSpPr>
          <p:cNvPr id="52" name="Text 48"/>
          <p:cNvSpPr/>
          <p:nvPr/>
        </p:nvSpPr>
        <p:spPr>
          <a:xfrm>
            <a:off x="6601968" y="4297680"/>
            <a:ext cx="4892040" cy="566928"/>
          </a:xfrm>
          <a:prstGeom prst="rect">
            <a:avLst/>
          </a:prstGeom>
          <a:noFill/>
          <a:ln/>
        </p:spPr>
        <p:txBody>
          <a:bodyPr wrap="square" lIns="0" tIns="0" rIns="0" bIns="0" rtlCol="0" anchor="t"/>
          <a:lstStyle/>
          <a:p>
            <a:pPr indent="0" marL="0">
              <a:buNone/>
            </a:pPr>
            <a:r>
              <a:rPr lang="en-US" sz="1100" dirty="0">
                <a:solidFill>
                  <a:srgbClr val="6B5B46"/>
                </a:solidFill>
                <a:latin typeface="BIZ UDPゴシック" pitchFamily="34" charset="0"/>
                <a:ea typeface="BIZ UDPゴシック" pitchFamily="34" charset="-122"/>
                <a:cs typeface="BIZ UDPゴシック" pitchFamily="34" charset="-120"/>
              </a:rPr>
              <a:t>赤・オレンジ・紫の3色は意味と1対1で固定。選択中のピンは色を変えず、大きくして前面に出す</a:t>
            </a:r>
            <a:endParaRPr lang="en-US" sz="1100" dirty="0"/>
          </a:p>
        </p:txBody>
      </p:sp>
      <p:sp>
        <p:nvSpPr>
          <p:cNvPr id="53" name="Shape 49"/>
          <p:cNvSpPr/>
          <p:nvPr/>
        </p:nvSpPr>
        <p:spPr>
          <a:xfrm>
            <a:off x="5669280" y="5029200"/>
            <a:ext cx="5971032" cy="1069848"/>
          </a:xfrm>
          <a:prstGeom prst="roundRect">
            <a:avLst>
              <a:gd name="adj" fmla="val 6838"/>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54" name="Shape 50"/>
          <p:cNvSpPr/>
          <p:nvPr/>
        </p:nvSpPr>
        <p:spPr>
          <a:xfrm>
            <a:off x="5833872" y="5257800"/>
            <a:ext cx="603504" cy="603504"/>
          </a:xfrm>
          <a:prstGeom prst="roundRect">
            <a:avLst>
              <a:gd name="adj" fmla="val 9091"/>
            </a:avLst>
          </a:prstGeom>
          <a:solidFill>
            <a:srgbClr val="3F7A5C"/>
          </a:solidFill>
          <a:ln/>
        </p:spPr>
      </p:sp>
      <p:sp>
        <p:nvSpPr>
          <p:cNvPr id="55" name="Text 51"/>
          <p:cNvSpPr/>
          <p:nvPr/>
        </p:nvSpPr>
        <p:spPr>
          <a:xfrm>
            <a:off x="5833872" y="5257800"/>
            <a:ext cx="603504" cy="603504"/>
          </a:xfrm>
          <a:prstGeom prst="rect">
            <a:avLst/>
          </a:prstGeom>
          <a:noFill/>
          <a:ln/>
        </p:spPr>
        <p:txBody>
          <a:bodyPr wrap="square" lIns="0" tIns="0" rIns="0" bIns="0" rtlCol="0" anchor="ctr"/>
          <a:lstStyle/>
          <a:p>
            <a:pPr algn="ctr" indent="0" marL="0">
              <a:buNone/>
            </a:pPr>
            <a:r>
              <a:rPr lang="en-US" sz="1700" b="1" dirty="0">
                <a:solidFill>
                  <a:srgbClr val="FFFFFF"/>
                </a:solidFill>
                <a:latin typeface="BIZ UDPゴシック" pitchFamily="34" charset="0"/>
                <a:ea typeface="BIZ UDPゴシック" pitchFamily="34" charset="-122"/>
                <a:cs typeface="BIZ UDPゴシック" pitchFamily="34" charset="-120"/>
              </a:rPr>
              <a:t>道</a:t>
            </a:r>
            <a:endParaRPr lang="en-US" sz="1700" dirty="0"/>
          </a:p>
        </p:txBody>
      </p:sp>
      <p:sp>
        <p:nvSpPr>
          <p:cNvPr id="56" name="Text 52"/>
          <p:cNvSpPr/>
          <p:nvPr/>
        </p:nvSpPr>
        <p:spPr>
          <a:xfrm>
            <a:off x="6601968" y="5138928"/>
            <a:ext cx="4892040" cy="329184"/>
          </a:xfrm>
          <a:prstGeom prst="rect">
            <a:avLst/>
          </a:prstGeom>
          <a:noFill/>
          <a:ln/>
        </p:spPr>
        <p:txBody>
          <a:bodyPr wrap="square" lIns="0" tIns="0" rIns="0" bIns="0" rtlCol="0" anchor="t"/>
          <a:lstStyle/>
          <a:p>
            <a:pPr indent="0" marL="0">
              <a:buNone/>
            </a:pPr>
            <a:r>
              <a:rPr lang="en-US" sz="1500" b="1" dirty="0">
                <a:solidFill>
                  <a:srgbClr val="3A2E20"/>
                </a:solidFill>
                <a:latin typeface="BIZ UDPゴシック" pitchFamily="34" charset="0"/>
                <a:ea typeface="BIZ UDPゴシック" pitchFamily="34" charset="-122"/>
                <a:cs typeface="BIZ UDPゴシック" pitchFamily="34" charset="-120"/>
              </a:rPr>
              <a:t>ルート生成とつながる</a:t>
            </a:r>
            <a:endParaRPr lang="en-US" sz="1500" dirty="0"/>
          </a:p>
        </p:txBody>
      </p:sp>
      <p:sp>
        <p:nvSpPr>
          <p:cNvPr id="57" name="Text 53"/>
          <p:cNvSpPr/>
          <p:nvPr/>
        </p:nvSpPr>
        <p:spPr>
          <a:xfrm>
            <a:off x="6601968" y="5486400"/>
            <a:ext cx="4892040" cy="566928"/>
          </a:xfrm>
          <a:prstGeom prst="rect">
            <a:avLst/>
          </a:prstGeom>
          <a:noFill/>
          <a:ln/>
        </p:spPr>
        <p:txBody>
          <a:bodyPr wrap="square" lIns="0" tIns="0" rIns="0" bIns="0" rtlCol="0" anchor="t"/>
          <a:lstStyle/>
          <a:p>
            <a:pPr indent="0" marL="0">
              <a:buNone/>
            </a:pPr>
            <a:r>
              <a:rPr lang="en-US" sz="1100" dirty="0">
                <a:solidFill>
                  <a:srgbClr val="6B5B46"/>
                </a:solidFill>
                <a:latin typeface="BIZ UDPゴシック" pitchFamily="34" charset="0"/>
                <a:ea typeface="BIZ UDPゴシック" pitchFamily="34" charset="-122"/>
                <a:cs typeface="BIZ UDPゴシック" pitchFamily="34" charset="-120"/>
              </a:rPr>
              <a:t>口コミの付いた場所をルートの候補に混ぜる。番号の丸を押すと、その場所の口コミを開ける</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01 POINT ③</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アプリのこだわり③　キャラクター育成機能</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01 アーキテクチャ＆技術的工夫</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13</a:t>
            </a:r>
            <a:endParaRPr lang="en-US" sz="900" dirty="0"/>
          </a:p>
        </p:txBody>
      </p:sp>
      <p:sp>
        <p:nvSpPr>
          <p:cNvPr id="11" name="Shape 8"/>
          <p:cNvSpPr/>
          <p:nvPr/>
        </p:nvSpPr>
        <p:spPr>
          <a:xfrm>
            <a:off x="548640" y="1417320"/>
            <a:ext cx="1033272" cy="1755648"/>
          </a:xfrm>
          <a:prstGeom prst="roundRect">
            <a:avLst>
              <a:gd name="adj" fmla="val 7080"/>
            </a:avLst>
          </a:prstGeom>
          <a:solidFill>
            <a:srgbClr val="FFFCF4"/>
          </a:solidFill>
          <a:ln w="15875">
            <a:solidFill>
              <a:srgbClr val="5C4430"/>
            </a:solidFill>
            <a:prstDash val="solid"/>
          </a:ln>
        </p:spPr>
      </p:sp>
      <p:pic>
        <p:nvPicPr>
          <p:cNvPr id="12" name="Image 0" descr="C:\Users\ltosuser\AppData\Local\Temp\michishiru-ppt\img\lv01.png">    </p:cNvPr>
          <p:cNvPicPr>
            <a:picLocks noChangeAspect="1"/>
          </p:cNvPicPr>
          <p:nvPr/>
        </p:nvPicPr>
        <p:blipFill>
          <a:blip r:embed="rId1"/>
          <a:stretch>
            <a:fillRect/>
          </a:stretch>
        </p:blipFill>
        <p:spPr>
          <a:xfrm>
            <a:off x="695465" y="1481328"/>
            <a:ext cx="739622" cy="886968"/>
          </a:xfrm>
          <a:prstGeom prst="rect">
            <a:avLst/>
          </a:prstGeom>
        </p:spPr>
      </p:pic>
      <p:sp>
        <p:nvSpPr>
          <p:cNvPr id="13" name="Text 9"/>
          <p:cNvSpPr/>
          <p:nvPr/>
        </p:nvSpPr>
        <p:spPr>
          <a:xfrm>
            <a:off x="548640" y="2395728"/>
            <a:ext cx="1033272" cy="274320"/>
          </a:xfrm>
          <a:prstGeom prst="rect">
            <a:avLst/>
          </a:prstGeom>
          <a:noFill/>
          <a:ln/>
        </p:spPr>
        <p:txBody>
          <a:bodyPr wrap="square" lIns="0" tIns="0" rIns="0" bIns="0" rtlCol="0" anchor="t"/>
          <a:lstStyle/>
          <a:p>
            <a:pPr algn="ctr" indent="0" marL="0">
              <a:buNone/>
            </a:pPr>
            <a:r>
              <a:rPr lang="en-US" sz="1200" b="1" dirty="0">
                <a:solidFill>
                  <a:srgbClr val="B8862B"/>
                </a:solidFill>
                <a:latin typeface="Georgia" pitchFamily="34" charset="0"/>
                <a:ea typeface="Georgia" pitchFamily="34" charset="-122"/>
                <a:cs typeface="Georgia" pitchFamily="34" charset="-120"/>
              </a:rPr>
              <a:t>Lv.1</a:t>
            </a:r>
            <a:endParaRPr lang="en-US" sz="1200" dirty="0"/>
          </a:p>
        </p:txBody>
      </p:sp>
      <p:sp>
        <p:nvSpPr>
          <p:cNvPr id="14" name="Text 10"/>
          <p:cNvSpPr/>
          <p:nvPr/>
        </p:nvSpPr>
        <p:spPr>
          <a:xfrm>
            <a:off x="566928" y="2679192"/>
            <a:ext cx="996696" cy="411480"/>
          </a:xfrm>
          <a:prstGeom prst="rect">
            <a:avLst/>
          </a:prstGeom>
          <a:noFill/>
          <a:ln/>
        </p:spPr>
        <p:txBody>
          <a:bodyPr wrap="square" lIns="0" tIns="0" rIns="0" bIns="0" rtlCol="0" anchor="ctr"/>
          <a:lstStyle/>
          <a:p>
            <a:pPr algn="ctr" indent="0" marL="0">
              <a:buNone/>
            </a:pPr>
            <a:r>
              <a:rPr lang="en-US" sz="850" b="1" dirty="0">
                <a:solidFill>
                  <a:srgbClr val="3A2E20"/>
                </a:solidFill>
                <a:latin typeface="BIZ UDPゴシック" pitchFamily="34" charset="0"/>
                <a:ea typeface="BIZ UDPゴシック" pitchFamily="34" charset="-122"/>
                <a:cs typeface="BIZ UDPゴシック" pitchFamily="34" charset="-120"/>
              </a:rPr>
              <a:t>ミチのタマゴ</a:t>
            </a:r>
            <a:endParaRPr lang="en-US" sz="850" dirty="0"/>
          </a:p>
        </p:txBody>
      </p:sp>
      <p:sp>
        <p:nvSpPr>
          <p:cNvPr id="15" name="Shape 11"/>
          <p:cNvSpPr/>
          <p:nvPr/>
        </p:nvSpPr>
        <p:spPr>
          <a:xfrm>
            <a:off x="1667866" y="1417320"/>
            <a:ext cx="1033272" cy="1755648"/>
          </a:xfrm>
          <a:prstGeom prst="roundRect">
            <a:avLst>
              <a:gd name="adj" fmla="val 7080"/>
            </a:avLst>
          </a:prstGeom>
          <a:solidFill>
            <a:srgbClr val="FFFCF4"/>
          </a:solidFill>
          <a:ln w="15875">
            <a:solidFill>
              <a:srgbClr val="5C4430"/>
            </a:solidFill>
            <a:prstDash val="solid"/>
          </a:ln>
        </p:spPr>
      </p:sp>
      <p:pic>
        <p:nvPicPr>
          <p:cNvPr id="16" name="Image 1" descr="C:\Users\ltosuser\AppData\Local\Temp\michishiru-ppt\img\lv02.png">    </p:cNvPr>
          <p:cNvPicPr>
            <a:picLocks noChangeAspect="1"/>
          </p:cNvPicPr>
          <p:nvPr/>
        </p:nvPicPr>
        <p:blipFill>
          <a:blip r:embed="rId2"/>
          <a:stretch>
            <a:fillRect/>
          </a:stretch>
        </p:blipFill>
        <p:spPr>
          <a:xfrm>
            <a:off x="1741018" y="1481328"/>
            <a:ext cx="886968" cy="886968"/>
          </a:xfrm>
          <a:prstGeom prst="rect">
            <a:avLst/>
          </a:prstGeom>
        </p:spPr>
      </p:pic>
      <p:sp>
        <p:nvSpPr>
          <p:cNvPr id="17" name="Text 12"/>
          <p:cNvSpPr/>
          <p:nvPr/>
        </p:nvSpPr>
        <p:spPr>
          <a:xfrm>
            <a:off x="1667866" y="2395728"/>
            <a:ext cx="1033272" cy="274320"/>
          </a:xfrm>
          <a:prstGeom prst="rect">
            <a:avLst/>
          </a:prstGeom>
          <a:noFill/>
          <a:ln/>
        </p:spPr>
        <p:txBody>
          <a:bodyPr wrap="square" lIns="0" tIns="0" rIns="0" bIns="0" rtlCol="0" anchor="t"/>
          <a:lstStyle/>
          <a:p>
            <a:pPr algn="ctr" indent="0" marL="0">
              <a:buNone/>
            </a:pPr>
            <a:r>
              <a:rPr lang="en-US" sz="1200" b="1" dirty="0">
                <a:solidFill>
                  <a:srgbClr val="B8862B"/>
                </a:solidFill>
                <a:latin typeface="Georgia" pitchFamily="34" charset="0"/>
                <a:ea typeface="Georgia" pitchFamily="34" charset="-122"/>
                <a:cs typeface="Georgia" pitchFamily="34" charset="-120"/>
              </a:rPr>
              <a:t>Lv.2</a:t>
            </a:r>
            <a:endParaRPr lang="en-US" sz="1200" dirty="0"/>
          </a:p>
        </p:txBody>
      </p:sp>
      <p:sp>
        <p:nvSpPr>
          <p:cNvPr id="18" name="Text 13"/>
          <p:cNvSpPr/>
          <p:nvPr/>
        </p:nvSpPr>
        <p:spPr>
          <a:xfrm>
            <a:off x="1686154" y="2679192"/>
            <a:ext cx="996696" cy="411480"/>
          </a:xfrm>
          <a:prstGeom prst="rect">
            <a:avLst/>
          </a:prstGeom>
          <a:noFill/>
          <a:ln/>
        </p:spPr>
        <p:txBody>
          <a:bodyPr wrap="square" lIns="0" tIns="0" rIns="0" bIns="0" rtlCol="0" anchor="ctr"/>
          <a:lstStyle/>
          <a:p>
            <a:pPr algn="ctr" indent="0" marL="0">
              <a:buNone/>
            </a:pPr>
            <a:r>
              <a:rPr lang="en-US" sz="850" b="1" dirty="0">
                <a:solidFill>
                  <a:srgbClr val="3A2E20"/>
                </a:solidFill>
                <a:latin typeface="BIZ UDPゴシック" pitchFamily="34" charset="0"/>
                <a:ea typeface="BIZ UDPゴシック" pitchFamily="34" charset="-122"/>
                <a:cs typeface="BIZ UDPゴシック" pitchFamily="34" charset="-120"/>
              </a:rPr>
              <a:t>よちよちヒナ</a:t>
            </a:r>
            <a:endParaRPr lang="en-US" sz="850" dirty="0"/>
          </a:p>
        </p:txBody>
      </p:sp>
      <p:sp>
        <p:nvSpPr>
          <p:cNvPr id="19" name="Shape 14"/>
          <p:cNvSpPr/>
          <p:nvPr/>
        </p:nvSpPr>
        <p:spPr>
          <a:xfrm>
            <a:off x="2787091" y="1417320"/>
            <a:ext cx="1033272" cy="1755648"/>
          </a:xfrm>
          <a:prstGeom prst="roundRect">
            <a:avLst>
              <a:gd name="adj" fmla="val 7080"/>
            </a:avLst>
          </a:prstGeom>
          <a:solidFill>
            <a:srgbClr val="FFFCF4"/>
          </a:solidFill>
          <a:ln w="15875">
            <a:solidFill>
              <a:srgbClr val="5C4430"/>
            </a:solidFill>
            <a:prstDash val="solid"/>
          </a:ln>
        </p:spPr>
      </p:sp>
      <p:pic>
        <p:nvPicPr>
          <p:cNvPr id="20" name="Image 2" descr="C:\Users\ltosuser\AppData\Local\Temp\michishiru-ppt\img\lv03.png">    </p:cNvPr>
          <p:cNvPicPr>
            <a:picLocks noChangeAspect="1"/>
          </p:cNvPicPr>
          <p:nvPr/>
        </p:nvPicPr>
        <p:blipFill>
          <a:blip r:embed="rId3"/>
          <a:stretch>
            <a:fillRect/>
          </a:stretch>
        </p:blipFill>
        <p:spPr>
          <a:xfrm>
            <a:off x="2860243" y="1481328"/>
            <a:ext cx="886968" cy="886968"/>
          </a:xfrm>
          <a:prstGeom prst="rect">
            <a:avLst/>
          </a:prstGeom>
        </p:spPr>
      </p:pic>
      <p:sp>
        <p:nvSpPr>
          <p:cNvPr id="21" name="Text 15"/>
          <p:cNvSpPr/>
          <p:nvPr/>
        </p:nvSpPr>
        <p:spPr>
          <a:xfrm>
            <a:off x="2787091" y="2395728"/>
            <a:ext cx="1033272" cy="274320"/>
          </a:xfrm>
          <a:prstGeom prst="rect">
            <a:avLst/>
          </a:prstGeom>
          <a:noFill/>
          <a:ln/>
        </p:spPr>
        <p:txBody>
          <a:bodyPr wrap="square" lIns="0" tIns="0" rIns="0" bIns="0" rtlCol="0" anchor="t"/>
          <a:lstStyle/>
          <a:p>
            <a:pPr algn="ctr" indent="0" marL="0">
              <a:buNone/>
            </a:pPr>
            <a:r>
              <a:rPr lang="en-US" sz="1200" b="1" dirty="0">
                <a:solidFill>
                  <a:srgbClr val="B8862B"/>
                </a:solidFill>
                <a:latin typeface="Georgia" pitchFamily="34" charset="0"/>
                <a:ea typeface="Georgia" pitchFamily="34" charset="-122"/>
                <a:cs typeface="Georgia" pitchFamily="34" charset="-120"/>
              </a:rPr>
              <a:t>Lv.3</a:t>
            </a:r>
            <a:endParaRPr lang="en-US" sz="1200" dirty="0"/>
          </a:p>
        </p:txBody>
      </p:sp>
      <p:sp>
        <p:nvSpPr>
          <p:cNvPr id="22" name="Text 16"/>
          <p:cNvSpPr/>
          <p:nvPr/>
        </p:nvSpPr>
        <p:spPr>
          <a:xfrm>
            <a:off x="2805379" y="2679192"/>
            <a:ext cx="996696" cy="411480"/>
          </a:xfrm>
          <a:prstGeom prst="rect">
            <a:avLst/>
          </a:prstGeom>
          <a:noFill/>
          <a:ln/>
        </p:spPr>
        <p:txBody>
          <a:bodyPr wrap="square" lIns="0" tIns="0" rIns="0" bIns="0" rtlCol="0" anchor="ctr"/>
          <a:lstStyle/>
          <a:p>
            <a:pPr algn="ctr" indent="0" marL="0">
              <a:buNone/>
            </a:pPr>
            <a:r>
              <a:rPr lang="en-US" sz="850" b="1" dirty="0">
                <a:solidFill>
                  <a:srgbClr val="3A2E20"/>
                </a:solidFill>
                <a:latin typeface="BIZ UDPゴシック" pitchFamily="34" charset="0"/>
                <a:ea typeface="BIZ UDPゴシック" pitchFamily="34" charset="-122"/>
                <a:cs typeface="BIZ UDPゴシック" pitchFamily="34" charset="-120"/>
              </a:rPr>
              <a:t>おさんぽビギナー</a:t>
            </a:r>
            <a:endParaRPr lang="en-US" sz="850" dirty="0"/>
          </a:p>
        </p:txBody>
      </p:sp>
      <p:sp>
        <p:nvSpPr>
          <p:cNvPr id="23" name="Shape 17"/>
          <p:cNvSpPr/>
          <p:nvPr/>
        </p:nvSpPr>
        <p:spPr>
          <a:xfrm>
            <a:off x="3906317" y="1417320"/>
            <a:ext cx="1033272" cy="1755648"/>
          </a:xfrm>
          <a:prstGeom prst="roundRect">
            <a:avLst>
              <a:gd name="adj" fmla="val 7080"/>
            </a:avLst>
          </a:prstGeom>
          <a:solidFill>
            <a:srgbClr val="FFFCF4"/>
          </a:solidFill>
          <a:ln w="15875">
            <a:solidFill>
              <a:srgbClr val="5C4430"/>
            </a:solidFill>
            <a:prstDash val="solid"/>
          </a:ln>
        </p:spPr>
      </p:sp>
      <p:pic>
        <p:nvPicPr>
          <p:cNvPr id="24" name="Image 3" descr="C:\Users\ltosuser\AppData\Local\Temp\michishiru-ppt\img\lv04.png">    </p:cNvPr>
          <p:cNvPicPr>
            <a:picLocks noChangeAspect="1"/>
          </p:cNvPicPr>
          <p:nvPr/>
        </p:nvPicPr>
        <p:blipFill>
          <a:blip r:embed="rId4"/>
          <a:stretch>
            <a:fillRect/>
          </a:stretch>
        </p:blipFill>
        <p:spPr>
          <a:xfrm>
            <a:off x="3979469" y="1481328"/>
            <a:ext cx="886968" cy="886968"/>
          </a:xfrm>
          <a:prstGeom prst="rect">
            <a:avLst/>
          </a:prstGeom>
        </p:spPr>
      </p:pic>
      <p:sp>
        <p:nvSpPr>
          <p:cNvPr id="25" name="Text 18"/>
          <p:cNvSpPr/>
          <p:nvPr/>
        </p:nvSpPr>
        <p:spPr>
          <a:xfrm>
            <a:off x="3906317" y="2395728"/>
            <a:ext cx="1033272" cy="274320"/>
          </a:xfrm>
          <a:prstGeom prst="rect">
            <a:avLst/>
          </a:prstGeom>
          <a:noFill/>
          <a:ln/>
        </p:spPr>
        <p:txBody>
          <a:bodyPr wrap="square" lIns="0" tIns="0" rIns="0" bIns="0" rtlCol="0" anchor="t"/>
          <a:lstStyle/>
          <a:p>
            <a:pPr algn="ctr" indent="0" marL="0">
              <a:buNone/>
            </a:pPr>
            <a:r>
              <a:rPr lang="en-US" sz="1200" b="1" dirty="0">
                <a:solidFill>
                  <a:srgbClr val="B8862B"/>
                </a:solidFill>
                <a:latin typeface="Georgia" pitchFamily="34" charset="0"/>
                <a:ea typeface="Georgia" pitchFamily="34" charset="-122"/>
                <a:cs typeface="Georgia" pitchFamily="34" charset="-120"/>
              </a:rPr>
              <a:t>Lv.4</a:t>
            </a:r>
            <a:endParaRPr lang="en-US" sz="1200" dirty="0"/>
          </a:p>
        </p:txBody>
      </p:sp>
      <p:sp>
        <p:nvSpPr>
          <p:cNvPr id="26" name="Text 19"/>
          <p:cNvSpPr/>
          <p:nvPr/>
        </p:nvSpPr>
        <p:spPr>
          <a:xfrm>
            <a:off x="3924605" y="2679192"/>
            <a:ext cx="996696" cy="411480"/>
          </a:xfrm>
          <a:prstGeom prst="rect">
            <a:avLst/>
          </a:prstGeom>
          <a:noFill/>
          <a:ln/>
        </p:spPr>
        <p:txBody>
          <a:bodyPr wrap="square" lIns="0" tIns="0" rIns="0" bIns="0" rtlCol="0" anchor="ctr"/>
          <a:lstStyle/>
          <a:p>
            <a:pPr algn="ctr" indent="0" marL="0">
              <a:buNone/>
            </a:pPr>
            <a:r>
              <a:rPr lang="en-US" sz="850" b="1" dirty="0">
                <a:solidFill>
                  <a:srgbClr val="3A2E20"/>
                </a:solidFill>
                <a:latin typeface="BIZ UDPゴシック" pitchFamily="34" charset="0"/>
                <a:ea typeface="BIZ UDPゴシック" pitchFamily="34" charset="-122"/>
                <a:cs typeface="BIZ UDPゴシック" pitchFamily="34" charset="-120"/>
              </a:rPr>
              <a:t>みならいガイド</a:t>
            </a:r>
            <a:endParaRPr lang="en-US" sz="850" dirty="0"/>
          </a:p>
        </p:txBody>
      </p:sp>
      <p:sp>
        <p:nvSpPr>
          <p:cNvPr id="27" name="Shape 20"/>
          <p:cNvSpPr/>
          <p:nvPr/>
        </p:nvSpPr>
        <p:spPr>
          <a:xfrm>
            <a:off x="5025542" y="1417320"/>
            <a:ext cx="1033272" cy="1755648"/>
          </a:xfrm>
          <a:prstGeom prst="roundRect">
            <a:avLst>
              <a:gd name="adj" fmla="val 7080"/>
            </a:avLst>
          </a:prstGeom>
          <a:solidFill>
            <a:srgbClr val="FFFCF4"/>
          </a:solidFill>
          <a:ln w="15875">
            <a:solidFill>
              <a:srgbClr val="5C4430"/>
            </a:solidFill>
            <a:prstDash val="solid"/>
          </a:ln>
        </p:spPr>
      </p:sp>
      <p:pic>
        <p:nvPicPr>
          <p:cNvPr id="28" name="Image 4" descr="C:\Users\ltosuser\AppData\Local\Temp\michishiru-ppt\img\lv05.png">    </p:cNvPr>
          <p:cNvPicPr>
            <a:picLocks noChangeAspect="1"/>
          </p:cNvPicPr>
          <p:nvPr/>
        </p:nvPicPr>
        <p:blipFill>
          <a:blip r:embed="rId5"/>
          <a:stretch>
            <a:fillRect/>
          </a:stretch>
        </p:blipFill>
        <p:spPr>
          <a:xfrm>
            <a:off x="5098694" y="1481328"/>
            <a:ext cx="886968" cy="886968"/>
          </a:xfrm>
          <a:prstGeom prst="rect">
            <a:avLst/>
          </a:prstGeom>
        </p:spPr>
      </p:pic>
      <p:sp>
        <p:nvSpPr>
          <p:cNvPr id="29" name="Text 21"/>
          <p:cNvSpPr/>
          <p:nvPr/>
        </p:nvSpPr>
        <p:spPr>
          <a:xfrm>
            <a:off x="5025542" y="2395728"/>
            <a:ext cx="1033272" cy="274320"/>
          </a:xfrm>
          <a:prstGeom prst="rect">
            <a:avLst/>
          </a:prstGeom>
          <a:noFill/>
          <a:ln/>
        </p:spPr>
        <p:txBody>
          <a:bodyPr wrap="square" lIns="0" tIns="0" rIns="0" bIns="0" rtlCol="0" anchor="t"/>
          <a:lstStyle/>
          <a:p>
            <a:pPr algn="ctr" indent="0" marL="0">
              <a:buNone/>
            </a:pPr>
            <a:r>
              <a:rPr lang="en-US" sz="1200" b="1" dirty="0">
                <a:solidFill>
                  <a:srgbClr val="B8862B"/>
                </a:solidFill>
                <a:latin typeface="Georgia" pitchFamily="34" charset="0"/>
                <a:ea typeface="Georgia" pitchFamily="34" charset="-122"/>
                <a:cs typeface="Georgia" pitchFamily="34" charset="-120"/>
              </a:rPr>
              <a:t>Lv.5</a:t>
            </a:r>
            <a:endParaRPr lang="en-US" sz="1200" dirty="0"/>
          </a:p>
        </p:txBody>
      </p:sp>
      <p:sp>
        <p:nvSpPr>
          <p:cNvPr id="30" name="Text 22"/>
          <p:cNvSpPr/>
          <p:nvPr/>
        </p:nvSpPr>
        <p:spPr>
          <a:xfrm>
            <a:off x="5043830" y="2679192"/>
            <a:ext cx="996696" cy="411480"/>
          </a:xfrm>
          <a:prstGeom prst="rect">
            <a:avLst/>
          </a:prstGeom>
          <a:noFill/>
          <a:ln/>
        </p:spPr>
        <p:txBody>
          <a:bodyPr wrap="square" lIns="0" tIns="0" rIns="0" bIns="0" rtlCol="0" anchor="ctr"/>
          <a:lstStyle/>
          <a:p>
            <a:pPr algn="ctr" indent="0" marL="0">
              <a:buNone/>
            </a:pPr>
            <a:r>
              <a:rPr lang="en-US" sz="850" b="1" dirty="0">
                <a:solidFill>
                  <a:srgbClr val="3A2E20"/>
                </a:solidFill>
                <a:latin typeface="BIZ UDPゴシック" pitchFamily="34" charset="0"/>
                <a:ea typeface="BIZ UDPゴシック" pitchFamily="34" charset="-122"/>
                <a:cs typeface="BIZ UDPゴシック" pitchFamily="34" charset="-120"/>
              </a:rPr>
              <a:t>まちの案内人</a:t>
            </a:r>
            <a:endParaRPr lang="en-US" sz="850" dirty="0"/>
          </a:p>
        </p:txBody>
      </p:sp>
      <p:sp>
        <p:nvSpPr>
          <p:cNvPr id="31" name="Shape 23"/>
          <p:cNvSpPr/>
          <p:nvPr/>
        </p:nvSpPr>
        <p:spPr>
          <a:xfrm>
            <a:off x="6144768" y="1417320"/>
            <a:ext cx="1033272" cy="1755648"/>
          </a:xfrm>
          <a:prstGeom prst="roundRect">
            <a:avLst>
              <a:gd name="adj" fmla="val 7080"/>
            </a:avLst>
          </a:prstGeom>
          <a:solidFill>
            <a:srgbClr val="FFFCF4"/>
          </a:solidFill>
          <a:ln w="15875">
            <a:solidFill>
              <a:srgbClr val="5C4430"/>
            </a:solidFill>
            <a:prstDash val="solid"/>
          </a:ln>
        </p:spPr>
      </p:sp>
      <p:pic>
        <p:nvPicPr>
          <p:cNvPr id="32" name="Image 5" descr="C:\Users\ltosuser\AppData\Local\Temp\michishiru-ppt\img\lv06.png">    </p:cNvPr>
          <p:cNvPicPr>
            <a:picLocks noChangeAspect="1"/>
          </p:cNvPicPr>
          <p:nvPr/>
        </p:nvPicPr>
        <p:blipFill>
          <a:blip r:embed="rId6"/>
          <a:stretch>
            <a:fillRect/>
          </a:stretch>
        </p:blipFill>
        <p:spPr>
          <a:xfrm>
            <a:off x="6217920" y="1481328"/>
            <a:ext cx="886968" cy="886968"/>
          </a:xfrm>
          <a:prstGeom prst="rect">
            <a:avLst/>
          </a:prstGeom>
        </p:spPr>
      </p:pic>
      <p:sp>
        <p:nvSpPr>
          <p:cNvPr id="33" name="Text 24"/>
          <p:cNvSpPr/>
          <p:nvPr/>
        </p:nvSpPr>
        <p:spPr>
          <a:xfrm>
            <a:off x="6144768" y="2395728"/>
            <a:ext cx="1033272" cy="274320"/>
          </a:xfrm>
          <a:prstGeom prst="rect">
            <a:avLst/>
          </a:prstGeom>
          <a:noFill/>
          <a:ln/>
        </p:spPr>
        <p:txBody>
          <a:bodyPr wrap="square" lIns="0" tIns="0" rIns="0" bIns="0" rtlCol="0" anchor="t"/>
          <a:lstStyle/>
          <a:p>
            <a:pPr algn="ctr" indent="0" marL="0">
              <a:buNone/>
            </a:pPr>
            <a:r>
              <a:rPr lang="en-US" sz="1200" b="1" dirty="0">
                <a:solidFill>
                  <a:srgbClr val="B8862B"/>
                </a:solidFill>
                <a:latin typeface="Georgia" pitchFamily="34" charset="0"/>
                <a:ea typeface="Georgia" pitchFamily="34" charset="-122"/>
                <a:cs typeface="Georgia" pitchFamily="34" charset="-120"/>
              </a:rPr>
              <a:t>Lv.6</a:t>
            </a:r>
            <a:endParaRPr lang="en-US" sz="1200" dirty="0"/>
          </a:p>
        </p:txBody>
      </p:sp>
      <p:sp>
        <p:nvSpPr>
          <p:cNvPr id="34" name="Text 25"/>
          <p:cNvSpPr/>
          <p:nvPr/>
        </p:nvSpPr>
        <p:spPr>
          <a:xfrm>
            <a:off x="6163056" y="2679192"/>
            <a:ext cx="996696" cy="411480"/>
          </a:xfrm>
          <a:prstGeom prst="rect">
            <a:avLst/>
          </a:prstGeom>
          <a:noFill/>
          <a:ln/>
        </p:spPr>
        <p:txBody>
          <a:bodyPr wrap="square" lIns="0" tIns="0" rIns="0" bIns="0" rtlCol="0" anchor="ctr"/>
          <a:lstStyle/>
          <a:p>
            <a:pPr algn="ctr" indent="0" marL="0">
              <a:buNone/>
            </a:pPr>
            <a:r>
              <a:rPr lang="en-US" sz="850" b="1" dirty="0">
                <a:solidFill>
                  <a:srgbClr val="3A2E20"/>
                </a:solidFill>
                <a:latin typeface="BIZ UDPゴシック" pitchFamily="34" charset="0"/>
                <a:ea typeface="BIZ UDPゴシック" pitchFamily="34" charset="-122"/>
                <a:cs typeface="BIZ UDPゴシック" pitchFamily="34" charset="-120"/>
              </a:rPr>
              <a:t>さすらいの旅人</a:t>
            </a:r>
            <a:endParaRPr lang="en-US" sz="850" dirty="0"/>
          </a:p>
        </p:txBody>
      </p:sp>
      <p:sp>
        <p:nvSpPr>
          <p:cNvPr id="35" name="Shape 26"/>
          <p:cNvSpPr/>
          <p:nvPr/>
        </p:nvSpPr>
        <p:spPr>
          <a:xfrm>
            <a:off x="7263994" y="1417320"/>
            <a:ext cx="1033272" cy="1755648"/>
          </a:xfrm>
          <a:prstGeom prst="roundRect">
            <a:avLst>
              <a:gd name="adj" fmla="val 7080"/>
            </a:avLst>
          </a:prstGeom>
          <a:solidFill>
            <a:srgbClr val="FFFCF4"/>
          </a:solidFill>
          <a:ln w="15875">
            <a:solidFill>
              <a:srgbClr val="5C4430"/>
            </a:solidFill>
            <a:prstDash val="solid"/>
          </a:ln>
        </p:spPr>
      </p:sp>
      <p:pic>
        <p:nvPicPr>
          <p:cNvPr id="36" name="Image 6" descr="C:\Users\ltosuser\AppData\Local\Temp\michishiru-ppt\img\lv07.png">    </p:cNvPr>
          <p:cNvPicPr>
            <a:picLocks noChangeAspect="1"/>
          </p:cNvPicPr>
          <p:nvPr/>
        </p:nvPicPr>
        <p:blipFill>
          <a:blip r:embed="rId7"/>
          <a:stretch>
            <a:fillRect/>
          </a:stretch>
        </p:blipFill>
        <p:spPr>
          <a:xfrm>
            <a:off x="7337146" y="1481328"/>
            <a:ext cx="886968" cy="886968"/>
          </a:xfrm>
          <a:prstGeom prst="rect">
            <a:avLst/>
          </a:prstGeom>
        </p:spPr>
      </p:pic>
      <p:sp>
        <p:nvSpPr>
          <p:cNvPr id="37" name="Text 27"/>
          <p:cNvSpPr/>
          <p:nvPr/>
        </p:nvSpPr>
        <p:spPr>
          <a:xfrm>
            <a:off x="7263994" y="2395728"/>
            <a:ext cx="1033272" cy="274320"/>
          </a:xfrm>
          <a:prstGeom prst="rect">
            <a:avLst/>
          </a:prstGeom>
          <a:noFill/>
          <a:ln/>
        </p:spPr>
        <p:txBody>
          <a:bodyPr wrap="square" lIns="0" tIns="0" rIns="0" bIns="0" rtlCol="0" anchor="t"/>
          <a:lstStyle/>
          <a:p>
            <a:pPr algn="ctr" indent="0" marL="0">
              <a:buNone/>
            </a:pPr>
            <a:r>
              <a:rPr lang="en-US" sz="1200" b="1" dirty="0">
                <a:solidFill>
                  <a:srgbClr val="B8862B"/>
                </a:solidFill>
                <a:latin typeface="Georgia" pitchFamily="34" charset="0"/>
                <a:ea typeface="Georgia" pitchFamily="34" charset="-122"/>
                <a:cs typeface="Georgia" pitchFamily="34" charset="-120"/>
              </a:rPr>
              <a:t>Lv.7</a:t>
            </a:r>
            <a:endParaRPr lang="en-US" sz="1200" dirty="0"/>
          </a:p>
        </p:txBody>
      </p:sp>
      <p:sp>
        <p:nvSpPr>
          <p:cNvPr id="38" name="Text 28"/>
          <p:cNvSpPr/>
          <p:nvPr/>
        </p:nvSpPr>
        <p:spPr>
          <a:xfrm>
            <a:off x="7282282" y="2679192"/>
            <a:ext cx="996696" cy="411480"/>
          </a:xfrm>
          <a:prstGeom prst="rect">
            <a:avLst/>
          </a:prstGeom>
          <a:noFill/>
          <a:ln/>
        </p:spPr>
        <p:txBody>
          <a:bodyPr wrap="square" lIns="0" tIns="0" rIns="0" bIns="0" rtlCol="0" anchor="ctr"/>
          <a:lstStyle/>
          <a:p>
            <a:pPr algn="ctr" indent="0" marL="0">
              <a:buNone/>
            </a:pPr>
            <a:r>
              <a:rPr lang="en-US" sz="850" b="1" dirty="0">
                <a:solidFill>
                  <a:srgbClr val="3A2E20"/>
                </a:solidFill>
                <a:latin typeface="BIZ UDPゴシック" pitchFamily="34" charset="0"/>
                <a:ea typeface="BIZ UDPゴシック" pitchFamily="34" charset="-122"/>
                <a:cs typeface="BIZ UDPゴシック" pitchFamily="34" charset="-120"/>
              </a:rPr>
              <a:t>みちしるべの使者</a:t>
            </a:r>
            <a:endParaRPr lang="en-US" sz="850" dirty="0"/>
          </a:p>
        </p:txBody>
      </p:sp>
      <p:sp>
        <p:nvSpPr>
          <p:cNvPr id="39" name="Shape 29"/>
          <p:cNvSpPr/>
          <p:nvPr/>
        </p:nvSpPr>
        <p:spPr>
          <a:xfrm>
            <a:off x="8383219" y="1417320"/>
            <a:ext cx="1033272" cy="1755648"/>
          </a:xfrm>
          <a:prstGeom prst="roundRect">
            <a:avLst>
              <a:gd name="adj" fmla="val 7080"/>
            </a:avLst>
          </a:prstGeom>
          <a:solidFill>
            <a:srgbClr val="FFFCF4"/>
          </a:solidFill>
          <a:ln w="15875">
            <a:solidFill>
              <a:srgbClr val="5C4430"/>
            </a:solidFill>
            <a:prstDash val="solid"/>
          </a:ln>
        </p:spPr>
      </p:sp>
      <p:pic>
        <p:nvPicPr>
          <p:cNvPr id="40" name="Image 7" descr="C:\Users\ltosuser\AppData\Local\Temp\michishiru-ppt\img\lv08.png">    </p:cNvPr>
          <p:cNvPicPr>
            <a:picLocks noChangeAspect="1"/>
          </p:cNvPicPr>
          <p:nvPr/>
        </p:nvPicPr>
        <p:blipFill>
          <a:blip r:embed="rId8"/>
          <a:stretch>
            <a:fillRect/>
          </a:stretch>
        </p:blipFill>
        <p:spPr>
          <a:xfrm>
            <a:off x="8456371" y="1481328"/>
            <a:ext cx="886968" cy="886968"/>
          </a:xfrm>
          <a:prstGeom prst="rect">
            <a:avLst/>
          </a:prstGeom>
        </p:spPr>
      </p:pic>
      <p:sp>
        <p:nvSpPr>
          <p:cNvPr id="41" name="Text 30"/>
          <p:cNvSpPr/>
          <p:nvPr/>
        </p:nvSpPr>
        <p:spPr>
          <a:xfrm>
            <a:off x="8383219" y="2395728"/>
            <a:ext cx="1033272" cy="274320"/>
          </a:xfrm>
          <a:prstGeom prst="rect">
            <a:avLst/>
          </a:prstGeom>
          <a:noFill/>
          <a:ln/>
        </p:spPr>
        <p:txBody>
          <a:bodyPr wrap="square" lIns="0" tIns="0" rIns="0" bIns="0" rtlCol="0" anchor="t"/>
          <a:lstStyle/>
          <a:p>
            <a:pPr algn="ctr" indent="0" marL="0">
              <a:buNone/>
            </a:pPr>
            <a:r>
              <a:rPr lang="en-US" sz="1200" b="1" dirty="0">
                <a:solidFill>
                  <a:srgbClr val="B8862B"/>
                </a:solidFill>
                <a:latin typeface="Georgia" pitchFamily="34" charset="0"/>
                <a:ea typeface="Georgia" pitchFamily="34" charset="-122"/>
                <a:cs typeface="Georgia" pitchFamily="34" charset="-120"/>
              </a:rPr>
              <a:t>Lv.8</a:t>
            </a:r>
            <a:endParaRPr lang="en-US" sz="1200" dirty="0"/>
          </a:p>
        </p:txBody>
      </p:sp>
      <p:sp>
        <p:nvSpPr>
          <p:cNvPr id="42" name="Text 31"/>
          <p:cNvSpPr/>
          <p:nvPr/>
        </p:nvSpPr>
        <p:spPr>
          <a:xfrm>
            <a:off x="8401507" y="2679192"/>
            <a:ext cx="996696" cy="411480"/>
          </a:xfrm>
          <a:prstGeom prst="rect">
            <a:avLst/>
          </a:prstGeom>
          <a:noFill/>
          <a:ln/>
        </p:spPr>
        <p:txBody>
          <a:bodyPr wrap="square" lIns="0" tIns="0" rIns="0" bIns="0" rtlCol="0" anchor="ctr"/>
          <a:lstStyle/>
          <a:p>
            <a:pPr algn="ctr" indent="0" marL="0">
              <a:buNone/>
            </a:pPr>
            <a:r>
              <a:rPr lang="en-US" sz="850" b="1" dirty="0">
                <a:solidFill>
                  <a:srgbClr val="3A2E20"/>
                </a:solidFill>
                <a:latin typeface="BIZ UDPゴシック" pitchFamily="34" charset="0"/>
                <a:ea typeface="BIZ UDPゴシック" pitchFamily="34" charset="-122"/>
                <a:cs typeface="BIZ UDPゴシック" pitchFamily="34" charset="-120"/>
              </a:rPr>
              <a:t>導きの王</a:t>
            </a:r>
            <a:endParaRPr lang="en-US" sz="850" dirty="0"/>
          </a:p>
        </p:txBody>
      </p:sp>
      <p:sp>
        <p:nvSpPr>
          <p:cNvPr id="43" name="Shape 32"/>
          <p:cNvSpPr/>
          <p:nvPr/>
        </p:nvSpPr>
        <p:spPr>
          <a:xfrm>
            <a:off x="9502445" y="1417320"/>
            <a:ext cx="1033272" cy="1755648"/>
          </a:xfrm>
          <a:prstGeom prst="roundRect">
            <a:avLst>
              <a:gd name="adj" fmla="val 7080"/>
            </a:avLst>
          </a:prstGeom>
          <a:solidFill>
            <a:srgbClr val="FFFCF4"/>
          </a:solidFill>
          <a:ln w="15875">
            <a:solidFill>
              <a:srgbClr val="5C4430"/>
            </a:solidFill>
            <a:prstDash val="solid"/>
          </a:ln>
        </p:spPr>
      </p:sp>
      <p:pic>
        <p:nvPicPr>
          <p:cNvPr id="44" name="Image 8" descr="C:\Users\ltosuser\AppData\Local\Temp\michishiru-ppt\img\lv09.png">    </p:cNvPr>
          <p:cNvPicPr>
            <a:picLocks noChangeAspect="1"/>
          </p:cNvPicPr>
          <p:nvPr/>
        </p:nvPicPr>
        <p:blipFill>
          <a:blip r:embed="rId9"/>
          <a:stretch>
            <a:fillRect/>
          </a:stretch>
        </p:blipFill>
        <p:spPr>
          <a:xfrm>
            <a:off x="9575597" y="1481328"/>
            <a:ext cx="886968" cy="886968"/>
          </a:xfrm>
          <a:prstGeom prst="rect">
            <a:avLst/>
          </a:prstGeom>
        </p:spPr>
      </p:pic>
      <p:sp>
        <p:nvSpPr>
          <p:cNvPr id="45" name="Text 33"/>
          <p:cNvSpPr/>
          <p:nvPr/>
        </p:nvSpPr>
        <p:spPr>
          <a:xfrm>
            <a:off x="9502445" y="2395728"/>
            <a:ext cx="1033272" cy="274320"/>
          </a:xfrm>
          <a:prstGeom prst="rect">
            <a:avLst/>
          </a:prstGeom>
          <a:noFill/>
          <a:ln/>
        </p:spPr>
        <p:txBody>
          <a:bodyPr wrap="square" lIns="0" tIns="0" rIns="0" bIns="0" rtlCol="0" anchor="t"/>
          <a:lstStyle/>
          <a:p>
            <a:pPr algn="ctr" indent="0" marL="0">
              <a:buNone/>
            </a:pPr>
            <a:r>
              <a:rPr lang="en-US" sz="1200" b="1" dirty="0">
                <a:solidFill>
                  <a:srgbClr val="B8862B"/>
                </a:solidFill>
                <a:latin typeface="Georgia" pitchFamily="34" charset="0"/>
                <a:ea typeface="Georgia" pitchFamily="34" charset="-122"/>
                <a:cs typeface="Georgia" pitchFamily="34" charset="-120"/>
              </a:rPr>
              <a:t>Lv.9</a:t>
            </a:r>
            <a:endParaRPr lang="en-US" sz="1200" dirty="0"/>
          </a:p>
        </p:txBody>
      </p:sp>
      <p:sp>
        <p:nvSpPr>
          <p:cNvPr id="46" name="Text 34"/>
          <p:cNvSpPr/>
          <p:nvPr/>
        </p:nvSpPr>
        <p:spPr>
          <a:xfrm>
            <a:off x="9520733" y="2679192"/>
            <a:ext cx="996696" cy="411480"/>
          </a:xfrm>
          <a:prstGeom prst="rect">
            <a:avLst/>
          </a:prstGeom>
          <a:noFill/>
          <a:ln/>
        </p:spPr>
        <p:txBody>
          <a:bodyPr wrap="square" lIns="0" tIns="0" rIns="0" bIns="0" rtlCol="0" anchor="ctr"/>
          <a:lstStyle/>
          <a:p>
            <a:pPr algn="ctr" indent="0" marL="0">
              <a:buNone/>
            </a:pPr>
            <a:r>
              <a:rPr lang="en-US" sz="850" b="1" dirty="0">
                <a:solidFill>
                  <a:srgbClr val="3A2E20"/>
                </a:solidFill>
                <a:latin typeface="BIZ UDPゴシック" pitchFamily="34" charset="0"/>
                <a:ea typeface="BIZ UDPゴシック" pitchFamily="34" charset="-122"/>
                <a:cs typeface="BIZ UDPゴシック" pitchFamily="34" charset="-120"/>
              </a:rPr>
              <a:t>導きの覇王</a:t>
            </a:r>
            <a:endParaRPr lang="en-US" sz="850" dirty="0"/>
          </a:p>
        </p:txBody>
      </p:sp>
      <p:sp>
        <p:nvSpPr>
          <p:cNvPr id="47" name="Shape 35"/>
          <p:cNvSpPr/>
          <p:nvPr/>
        </p:nvSpPr>
        <p:spPr>
          <a:xfrm>
            <a:off x="10621670" y="1417320"/>
            <a:ext cx="1033272" cy="1755648"/>
          </a:xfrm>
          <a:prstGeom prst="roundRect">
            <a:avLst>
              <a:gd name="adj" fmla="val 7080"/>
            </a:avLst>
          </a:prstGeom>
          <a:solidFill>
            <a:srgbClr val="F6EBCF"/>
          </a:solidFill>
          <a:ln w="15875">
            <a:solidFill>
              <a:srgbClr val="B8862B"/>
            </a:solidFill>
            <a:prstDash val="solid"/>
          </a:ln>
          <a:effectLst>
            <a:outerShdw sx="100000" sy="100000" kx="0" ky="0" algn="bl" rotWithShape="0" blurRad="101600" dist="38100" dir="2700000">
              <a:srgbClr val="5C4430">
                <a:alpha val="30000"/>
              </a:srgbClr>
            </a:outerShdw>
          </a:effectLst>
        </p:spPr>
      </p:sp>
      <p:pic>
        <p:nvPicPr>
          <p:cNvPr id="48" name="Image 9" descr="C:\Users\ltosuser\AppData\Local\Temp\michishiru-ppt\img\lv10.png">    </p:cNvPr>
          <p:cNvPicPr>
            <a:picLocks noChangeAspect="1"/>
          </p:cNvPicPr>
          <p:nvPr/>
        </p:nvPicPr>
        <p:blipFill>
          <a:blip r:embed="rId10"/>
          <a:stretch>
            <a:fillRect/>
          </a:stretch>
        </p:blipFill>
        <p:spPr>
          <a:xfrm>
            <a:off x="10694822" y="1481328"/>
            <a:ext cx="886968" cy="886968"/>
          </a:xfrm>
          <a:prstGeom prst="rect">
            <a:avLst/>
          </a:prstGeom>
        </p:spPr>
      </p:pic>
      <p:sp>
        <p:nvSpPr>
          <p:cNvPr id="49" name="Text 36"/>
          <p:cNvSpPr/>
          <p:nvPr/>
        </p:nvSpPr>
        <p:spPr>
          <a:xfrm>
            <a:off x="10621670" y="2395728"/>
            <a:ext cx="1033272" cy="274320"/>
          </a:xfrm>
          <a:prstGeom prst="rect">
            <a:avLst/>
          </a:prstGeom>
          <a:noFill/>
          <a:ln/>
        </p:spPr>
        <p:txBody>
          <a:bodyPr wrap="square" lIns="0" tIns="0" rIns="0" bIns="0" rtlCol="0" anchor="t"/>
          <a:lstStyle/>
          <a:p>
            <a:pPr algn="ctr" indent="0" marL="0">
              <a:buNone/>
            </a:pPr>
            <a:r>
              <a:rPr lang="en-US" sz="1200" b="1" dirty="0">
                <a:solidFill>
                  <a:srgbClr val="B8862B"/>
                </a:solidFill>
                <a:latin typeface="Georgia" pitchFamily="34" charset="0"/>
                <a:ea typeface="Georgia" pitchFamily="34" charset="-122"/>
                <a:cs typeface="Georgia" pitchFamily="34" charset="-120"/>
              </a:rPr>
              <a:t>Lv.10</a:t>
            </a:r>
            <a:endParaRPr lang="en-US" sz="1200" dirty="0"/>
          </a:p>
        </p:txBody>
      </p:sp>
      <p:sp>
        <p:nvSpPr>
          <p:cNvPr id="50" name="Text 37"/>
          <p:cNvSpPr/>
          <p:nvPr/>
        </p:nvSpPr>
        <p:spPr>
          <a:xfrm>
            <a:off x="10639958" y="2679192"/>
            <a:ext cx="996696" cy="411480"/>
          </a:xfrm>
          <a:prstGeom prst="rect">
            <a:avLst/>
          </a:prstGeom>
          <a:noFill/>
          <a:ln/>
        </p:spPr>
        <p:txBody>
          <a:bodyPr wrap="square" lIns="0" tIns="0" rIns="0" bIns="0" rtlCol="0" anchor="ctr"/>
          <a:lstStyle/>
          <a:p>
            <a:pPr algn="ctr" indent="0" marL="0">
              <a:buNone/>
            </a:pPr>
            <a:r>
              <a:rPr lang="en-US" sz="850" b="1" dirty="0">
                <a:solidFill>
                  <a:srgbClr val="3A2E20"/>
                </a:solidFill>
                <a:latin typeface="BIZ UDPゴシック" pitchFamily="34" charset="0"/>
                <a:ea typeface="BIZ UDPゴシック" pitchFamily="34" charset="-122"/>
                <a:cs typeface="BIZ UDPゴシック" pitchFamily="34" charset="-120"/>
              </a:rPr>
              <a:t>極・ミチシル</a:t>
            </a:r>
            <a:endParaRPr lang="en-US" sz="850" dirty="0"/>
          </a:p>
        </p:txBody>
      </p:sp>
      <p:sp>
        <p:nvSpPr>
          <p:cNvPr id="51" name="Shape 38"/>
          <p:cNvSpPr/>
          <p:nvPr/>
        </p:nvSpPr>
        <p:spPr>
          <a:xfrm>
            <a:off x="548640" y="3383280"/>
            <a:ext cx="3611880" cy="2788920"/>
          </a:xfrm>
          <a:prstGeom prst="roundRect">
            <a:avLst>
              <a:gd name="adj" fmla="val 262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52" name="Text 39"/>
          <p:cNvSpPr/>
          <p:nvPr/>
        </p:nvSpPr>
        <p:spPr>
          <a:xfrm>
            <a:off x="777240" y="3502152"/>
            <a:ext cx="3200400" cy="347472"/>
          </a:xfrm>
          <a:prstGeom prst="rect">
            <a:avLst/>
          </a:prstGeom>
          <a:noFill/>
          <a:ln/>
        </p:spPr>
        <p:txBody>
          <a:bodyPr wrap="square" lIns="0" tIns="0" rIns="0" bIns="0" rtlCol="0" anchor="t"/>
          <a:lstStyle/>
          <a:p>
            <a:pPr indent="0" marL="0">
              <a:buNone/>
            </a:pPr>
            <a:r>
              <a:rPr lang="en-US" sz="1500" b="1" dirty="0">
                <a:solidFill>
                  <a:srgbClr val="45356B"/>
                </a:solidFill>
                <a:latin typeface="BIZ UDPゴシック" pitchFamily="34" charset="0"/>
                <a:ea typeface="BIZ UDPゴシック" pitchFamily="34" charset="-122"/>
                <a:cs typeface="BIZ UDPゴシック" pitchFamily="34" charset="-120"/>
              </a:rPr>
              <a:t>経験値のもと</a:t>
            </a:r>
            <a:endParaRPr lang="en-US" sz="1500" dirty="0"/>
          </a:p>
        </p:txBody>
      </p:sp>
      <p:sp>
        <p:nvSpPr>
          <p:cNvPr id="53" name="Shape 40"/>
          <p:cNvSpPr/>
          <p:nvPr/>
        </p:nvSpPr>
        <p:spPr>
          <a:xfrm>
            <a:off x="777240" y="3977640"/>
            <a:ext cx="3154680" cy="566928"/>
          </a:xfrm>
          <a:prstGeom prst="roundRect">
            <a:avLst>
              <a:gd name="adj" fmla="val 9677"/>
            </a:avLst>
          </a:prstGeom>
          <a:solidFill>
            <a:srgbClr val="FFFFFF"/>
          </a:solidFill>
          <a:ln w="15875">
            <a:solidFill>
              <a:srgbClr val="DCC48A"/>
            </a:solidFill>
            <a:prstDash val="solid"/>
          </a:ln>
        </p:spPr>
      </p:sp>
      <p:sp>
        <p:nvSpPr>
          <p:cNvPr id="54" name="Text 41"/>
          <p:cNvSpPr/>
          <p:nvPr/>
        </p:nvSpPr>
        <p:spPr>
          <a:xfrm>
            <a:off x="914400" y="3977640"/>
            <a:ext cx="1188720" cy="566928"/>
          </a:xfrm>
          <a:prstGeom prst="rect">
            <a:avLst/>
          </a:prstGeom>
          <a:noFill/>
          <a:ln/>
        </p:spPr>
        <p:txBody>
          <a:bodyPr wrap="square" lIns="0" tIns="0" rIns="0" bIns="0" rtlCol="0" anchor="ctr"/>
          <a:lstStyle/>
          <a:p>
            <a:pPr indent="0" marL="0">
              <a:buNone/>
            </a:pPr>
            <a:r>
              <a:rPr lang="en-US" sz="1250" b="1" dirty="0">
                <a:solidFill>
                  <a:srgbClr val="3A2E20"/>
                </a:solidFill>
                <a:latin typeface="BIZ UDPゴシック" pitchFamily="34" charset="0"/>
                <a:ea typeface="BIZ UDPゴシック" pitchFamily="34" charset="-122"/>
                <a:cs typeface="BIZ UDPゴシック" pitchFamily="34" charset="-120"/>
              </a:rPr>
              <a:t>歩いた距離</a:t>
            </a:r>
            <a:endParaRPr lang="en-US" sz="1250" dirty="0"/>
          </a:p>
        </p:txBody>
      </p:sp>
      <p:sp>
        <p:nvSpPr>
          <p:cNvPr id="55" name="Text 42"/>
          <p:cNvSpPr/>
          <p:nvPr/>
        </p:nvSpPr>
        <p:spPr>
          <a:xfrm>
            <a:off x="1965960" y="3977640"/>
            <a:ext cx="914400" cy="566928"/>
          </a:xfrm>
          <a:prstGeom prst="rect">
            <a:avLst/>
          </a:prstGeom>
          <a:noFill/>
          <a:ln/>
        </p:spPr>
        <p:txBody>
          <a:bodyPr wrap="square" lIns="0" tIns="0" rIns="0" bIns="0" rtlCol="0" anchor="ctr"/>
          <a:lstStyle/>
          <a:p>
            <a:pPr indent="0" marL="0">
              <a:buNone/>
            </a:pPr>
            <a:r>
              <a:rPr lang="en-US" sz="1050" dirty="0">
                <a:solidFill>
                  <a:srgbClr val="6B5B46"/>
                </a:solidFill>
                <a:latin typeface="BIZ UDPゴシック" pitchFamily="34" charset="0"/>
                <a:ea typeface="BIZ UDPゴシック" pitchFamily="34" charset="-122"/>
                <a:cs typeface="BIZ UDPゴシック" pitchFamily="34" charset="-120"/>
              </a:rPr>
              <a:t>1km ごとに</a:t>
            </a:r>
            <a:endParaRPr lang="en-US" sz="1050" dirty="0"/>
          </a:p>
        </p:txBody>
      </p:sp>
      <p:sp>
        <p:nvSpPr>
          <p:cNvPr id="56" name="Text 43"/>
          <p:cNvSpPr/>
          <p:nvPr/>
        </p:nvSpPr>
        <p:spPr>
          <a:xfrm>
            <a:off x="2743200" y="3977640"/>
            <a:ext cx="1143000" cy="566928"/>
          </a:xfrm>
          <a:prstGeom prst="rect">
            <a:avLst/>
          </a:prstGeom>
          <a:noFill/>
          <a:ln/>
        </p:spPr>
        <p:txBody>
          <a:bodyPr wrap="square" lIns="0" tIns="0" rIns="0" bIns="0" rtlCol="0" anchor="ctr"/>
          <a:lstStyle/>
          <a:p>
            <a:pPr algn="r" indent="0" marL="0">
              <a:buNone/>
            </a:pPr>
            <a:r>
              <a:rPr lang="en-US" sz="1800" b="1" dirty="0">
                <a:solidFill>
                  <a:srgbClr val="B8862B"/>
                </a:solidFill>
                <a:latin typeface="BIZ UDPゴシック" pitchFamily="34" charset="0"/>
                <a:ea typeface="BIZ UDPゴシック" pitchFamily="34" charset="-122"/>
                <a:cs typeface="BIZ UDPゴシック" pitchFamily="34" charset="-120"/>
              </a:rPr>
              <a:t>100</a:t>
            </a:r>
            <a:pPr algn="r" indent="0" marL="0">
              <a:buNone/>
            </a:pPr>
            <a:r>
              <a:rPr lang="en-US" sz="950" b="1" dirty="0">
                <a:solidFill>
                  <a:srgbClr val="B8862B"/>
                </a:solidFill>
                <a:latin typeface="BIZ UDPゴシック" pitchFamily="34" charset="0"/>
                <a:ea typeface="BIZ UDPゴシック" pitchFamily="34" charset="-122"/>
                <a:cs typeface="BIZ UDPゴシック" pitchFamily="34" charset="-120"/>
              </a:rPr>
              <a:t> EXP</a:t>
            </a:r>
            <a:endParaRPr lang="en-US" sz="1400" dirty="0"/>
          </a:p>
        </p:txBody>
      </p:sp>
      <p:sp>
        <p:nvSpPr>
          <p:cNvPr id="57" name="Shape 44"/>
          <p:cNvSpPr/>
          <p:nvPr/>
        </p:nvSpPr>
        <p:spPr>
          <a:xfrm>
            <a:off x="777240" y="4663440"/>
            <a:ext cx="3154680" cy="566928"/>
          </a:xfrm>
          <a:prstGeom prst="roundRect">
            <a:avLst>
              <a:gd name="adj" fmla="val 9677"/>
            </a:avLst>
          </a:prstGeom>
          <a:solidFill>
            <a:srgbClr val="FFFFFF"/>
          </a:solidFill>
          <a:ln w="15875">
            <a:solidFill>
              <a:srgbClr val="DCC48A"/>
            </a:solidFill>
            <a:prstDash val="solid"/>
          </a:ln>
        </p:spPr>
      </p:sp>
      <p:sp>
        <p:nvSpPr>
          <p:cNvPr id="58" name="Text 45"/>
          <p:cNvSpPr/>
          <p:nvPr/>
        </p:nvSpPr>
        <p:spPr>
          <a:xfrm>
            <a:off x="914400" y="4663440"/>
            <a:ext cx="1188720" cy="566928"/>
          </a:xfrm>
          <a:prstGeom prst="rect">
            <a:avLst/>
          </a:prstGeom>
          <a:noFill/>
          <a:ln/>
        </p:spPr>
        <p:txBody>
          <a:bodyPr wrap="square" lIns="0" tIns="0" rIns="0" bIns="0" rtlCol="0" anchor="ctr"/>
          <a:lstStyle/>
          <a:p>
            <a:pPr indent="0" marL="0">
              <a:buNone/>
            </a:pPr>
            <a:r>
              <a:rPr lang="en-US" sz="1250" b="1" dirty="0">
                <a:solidFill>
                  <a:srgbClr val="3A2E20"/>
                </a:solidFill>
                <a:latin typeface="BIZ UDPゴシック" pitchFamily="34" charset="0"/>
                <a:ea typeface="BIZ UDPゴシック" pitchFamily="34" charset="-122"/>
                <a:cs typeface="BIZ UDPゴシック" pitchFamily="34" charset="-120"/>
              </a:rPr>
              <a:t>歩いた時間</a:t>
            </a:r>
            <a:endParaRPr lang="en-US" sz="1250" dirty="0"/>
          </a:p>
        </p:txBody>
      </p:sp>
      <p:sp>
        <p:nvSpPr>
          <p:cNvPr id="59" name="Text 46"/>
          <p:cNvSpPr/>
          <p:nvPr/>
        </p:nvSpPr>
        <p:spPr>
          <a:xfrm>
            <a:off x="1965960" y="4663440"/>
            <a:ext cx="914400" cy="566928"/>
          </a:xfrm>
          <a:prstGeom prst="rect">
            <a:avLst/>
          </a:prstGeom>
          <a:noFill/>
          <a:ln/>
        </p:spPr>
        <p:txBody>
          <a:bodyPr wrap="square" lIns="0" tIns="0" rIns="0" bIns="0" rtlCol="0" anchor="ctr"/>
          <a:lstStyle/>
          <a:p>
            <a:pPr indent="0" marL="0">
              <a:buNone/>
            </a:pPr>
            <a:r>
              <a:rPr lang="en-US" sz="1050" dirty="0">
                <a:solidFill>
                  <a:srgbClr val="6B5B46"/>
                </a:solidFill>
                <a:latin typeface="BIZ UDPゴシック" pitchFamily="34" charset="0"/>
                <a:ea typeface="BIZ UDPゴシック" pitchFamily="34" charset="-122"/>
                <a:cs typeface="BIZ UDPゴシック" pitchFamily="34" charset="-120"/>
              </a:rPr>
              <a:t>1分 ごとに</a:t>
            </a:r>
            <a:endParaRPr lang="en-US" sz="1050" dirty="0"/>
          </a:p>
        </p:txBody>
      </p:sp>
      <p:sp>
        <p:nvSpPr>
          <p:cNvPr id="60" name="Text 47"/>
          <p:cNvSpPr/>
          <p:nvPr/>
        </p:nvSpPr>
        <p:spPr>
          <a:xfrm>
            <a:off x="2743200" y="4663440"/>
            <a:ext cx="1143000" cy="566928"/>
          </a:xfrm>
          <a:prstGeom prst="rect">
            <a:avLst/>
          </a:prstGeom>
          <a:noFill/>
          <a:ln/>
        </p:spPr>
        <p:txBody>
          <a:bodyPr wrap="square" lIns="0" tIns="0" rIns="0" bIns="0" rtlCol="0" anchor="ctr"/>
          <a:lstStyle/>
          <a:p>
            <a:pPr algn="r" indent="0" marL="0">
              <a:buNone/>
            </a:pPr>
            <a:r>
              <a:rPr lang="en-US" sz="1800" b="1" dirty="0">
                <a:solidFill>
                  <a:srgbClr val="B8862B"/>
                </a:solidFill>
                <a:latin typeface="BIZ UDPゴシック" pitchFamily="34" charset="0"/>
                <a:ea typeface="BIZ UDPゴシック" pitchFamily="34" charset="-122"/>
                <a:cs typeface="BIZ UDPゴシック" pitchFamily="34" charset="-120"/>
              </a:rPr>
              <a:t>10</a:t>
            </a:r>
            <a:pPr algn="r" indent="0" marL="0">
              <a:buNone/>
            </a:pPr>
            <a:r>
              <a:rPr lang="en-US" sz="950" b="1" dirty="0">
                <a:solidFill>
                  <a:srgbClr val="B8862B"/>
                </a:solidFill>
                <a:latin typeface="BIZ UDPゴシック" pitchFamily="34" charset="0"/>
                <a:ea typeface="BIZ UDPゴシック" pitchFamily="34" charset="-122"/>
                <a:cs typeface="BIZ UDPゴシック" pitchFamily="34" charset="-120"/>
              </a:rPr>
              <a:t> EXP</a:t>
            </a:r>
            <a:endParaRPr lang="en-US" sz="1400" dirty="0"/>
          </a:p>
        </p:txBody>
      </p:sp>
      <p:sp>
        <p:nvSpPr>
          <p:cNvPr id="61" name="Shape 48"/>
          <p:cNvSpPr/>
          <p:nvPr/>
        </p:nvSpPr>
        <p:spPr>
          <a:xfrm>
            <a:off x="777240" y="5349240"/>
            <a:ext cx="3154680" cy="566928"/>
          </a:xfrm>
          <a:prstGeom prst="roundRect">
            <a:avLst>
              <a:gd name="adj" fmla="val 9677"/>
            </a:avLst>
          </a:prstGeom>
          <a:solidFill>
            <a:srgbClr val="FFFFFF"/>
          </a:solidFill>
          <a:ln w="15875">
            <a:solidFill>
              <a:srgbClr val="DCC48A"/>
            </a:solidFill>
            <a:prstDash val="solid"/>
          </a:ln>
        </p:spPr>
      </p:sp>
      <p:sp>
        <p:nvSpPr>
          <p:cNvPr id="62" name="Text 49"/>
          <p:cNvSpPr/>
          <p:nvPr/>
        </p:nvSpPr>
        <p:spPr>
          <a:xfrm>
            <a:off x="914400" y="5349240"/>
            <a:ext cx="1188720" cy="566928"/>
          </a:xfrm>
          <a:prstGeom prst="rect">
            <a:avLst/>
          </a:prstGeom>
          <a:noFill/>
          <a:ln/>
        </p:spPr>
        <p:txBody>
          <a:bodyPr wrap="square" lIns="0" tIns="0" rIns="0" bIns="0" rtlCol="0" anchor="ctr"/>
          <a:lstStyle/>
          <a:p>
            <a:pPr indent="0" marL="0">
              <a:buNone/>
            </a:pPr>
            <a:r>
              <a:rPr lang="en-US" sz="1250" b="1" dirty="0">
                <a:solidFill>
                  <a:srgbClr val="3A2E20"/>
                </a:solidFill>
                <a:latin typeface="BIZ UDPゴシック" pitchFamily="34" charset="0"/>
                <a:ea typeface="BIZ UDPゴシック" pitchFamily="34" charset="-122"/>
                <a:cs typeface="BIZ UDPゴシック" pitchFamily="34" charset="-120"/>
              </a:rPr>
              <a:t>口コミ投稿</a:t>
            </a:r>
            <a:endParaRPr lang="en-US" sz="1250" dirty="0"/>
          </a:p>
        </p:txBody>
      </p:sp>
      <p:sp>
        <p:nvSpPr>
          <p:cNvPr id="63" name="Text 50"/>
          <p:cNvSpPr/>
          <p:nvPr/>
        </p:nvSpPr>
        <p:spPr>
          <a:xfrm>
            <a:off x="1965960" y="5349240"/>
            <a:ext cx="914400" cy="566928"/>
          </a:xfrm>
          <a:prstGeom prst="rect">
            <a:avLst/>
          </a:prstGeom>
          <a:noFill/>
          <a:ln/>
        </p:spPr>
        <p:txBody>
          <a:bodyPr wrap="square" lIns="0" tIns="0" rIns="0" bIns="0" rtlCol="0" anchor="ctr"/>
          <a:lstStyle/>
          <a:p>
            <a:pPr indent="0" marL="0">
              <a:buNone/>
            </a:pPr>
            <a:r>
              <a:rPr lang="en-US" sz="1050" dirty="0">
                <a:solidFill>
                  <a:srgbClr val="6B5B46"/>
                </a:solidFill>
                <a:latin typeface="BIZ UDPゴシック" pitchFamily="34" charset="0"/>
                <a:ea typeface="BIZ UDPゴシック" pitchFamily="34" charset="-122"/>
                <a:cs typeface="BIZ UDPゴシック" pitchFamily="34" charset="-120"/>
              </a:rPr>
              <a:t>1件 ごとに</a:t>
            </a:r>
            <a:endParaRPr lang="en-US" sz="1050" dirty="0"/>
          </a:p>
        </p:txBody>
      </p:sp>
      <p:sp>
        <p:nvSpPr>
          <p:cNvPr id="64" name="Text 51"/>
          <p:cNvSpPr/>
          <p:nvPr/>
        </p:nvSpPr>
        <p:spPr>
          <a:xfrm>
            <a:off x="2743200" y="5349240"/>
            <a:ext cx="1143000" cy="566928"/>
          </a:xfrm>
          <a:prstGeom prst="rect">
            <a:avLst/>
          </a:prstGeom>
          <a:noFill/>
          <a:ln/>
        </p:spPr>
        <p:txBody>
          <a:bodyPr wrap="square" lIns="0" tIns="0" rIns="0" bIns="0" rtlCol="0" anchor="ctr"/>
          <a:lstStyle/>
          <a:p>
            <a:pPr algn="r" indent="0" marL="0">
              <a:buNone/>
            </a:pPr>
            <a:r>
              <a:rPr lang="en-US" sz="1800" b="1" dirty="0">
                <a:solidFill>
                  <a:srgbClr val="B8862B"/>
                </a:solidFill>
                <a:latin typeface="BIZ UDPゴシック" pitchFamily="34" charset="0"/>
                <a:ea typeface="BIZ UDPゴシック" pitchFamily="34" charset="-122"/>
                <a:cs typeface="BIZ UDPゴシック" pitchFamily="34" charset="-120"/>
              </a:rPr>
              <a:t>100</a:t>
            </a:r>
            <a:pPr algn="r" indent="0" marL="0">
              <a:buNone/>
            </a:pPr>
            <a:r>
              <a:rPr lang="en-US" sz="950" b="1" dirty="0">
                <a:solidFill>
                  <a:srgbClr val="B8862B"/>
                </a:solidFill>
                <a:latin typeface="BIZ UDPゴシック" pitchFamily="34" charset="0"/>
                <a:ea typeface="BIZ UDPゴシック" pitchFamily="34" charset="-122"/>
                <a:cs typeface="BIZ UDPゴシック" pitchFamily="34" charset="-120"/>
              </a:rPr>
              <a:t> EXP</a:t>
            </a:r>
            <a:endParaRPr lang="en-US" sz="1400" dirty="0"/>
          </a:p>
        </p:txBody>
      </p:sp>
      <p:sp>
        <p:nvSpPr>
          <p:cNvPr id="65" name="Shape 52"/>
          <p:cNvSpPr/>
          <p:nvPr/>
        </p:nvSpPr>
        <p:spPr>
          <a:xfrm>
            <a:off x="4343400" y="3383280"/>
            <a:ext cx="3931920" cy="2788920"/>
          </a:xfrm>
          <a:prstGeom prst="roundRect">
            <a:avLst>
              <a:gd name="adj" fmla="val 262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66" name="Text 53"/>
          <p:cNvSpPr/>
          <p:nvPr/>
        </p:nvSpPr>
        <p:spPr>
          <a:xfrm>
            <a:off x="4572000" y="3502152"/>
            <a:ext cx="3566160" cy="347472"/>
          </a:xfrm>
          <a:prstGeom prst="rect">
            <a:avLst/>
          </a:prstGeom>
          <a:noFill/>
          <a:ln/>
        </p:spPr>
        <p:txBody>
          <a:bodyPr wrap="square" lIns="0" tIns="0" rIns="0" bIns="0" rtlCol="0" anchor="t"/>
          <a:lstStyle/>
          <a:p>
            <a:pPr indent="0" marL="0">
              <a:buNone/>
            </a:pPr>
            <a:r>
              <a:rPr lang="en-US" sz="1500" b="1" dirty="0">
                <a:solidFill>
                  <a:srgbClr val="45356B"/>
                </a:solidFill>
                <a:latin typeface="BIZ UDPゴシック" pitchFamily="34" charset="0"/>
                <a:ea typeface="BIZ UDPゴシック" pitchFamily="34" charset="-122"/>
                <a:cs typeface="BIZ UDPゴシック" pitchFamily="34" charset="-120"/>
              </a:rPr>
              <a:t>次のレベルまでの必要経験値</a:t>
            </a:r>
            <a:endParaRPr lang="en-US" sz="1500" dirty="0"/>
          </a:p>
        </p:txBody>
      </p:sp>
      <p:sp>
        <p:nvSpPr>
          <p:cNvPr id="67" name="Shape 54"/>
          <p:cNvSpPr/>
          <p:nvPr/>
        </p:nvSpPr>
        <p:spPr>
          <a:xfrm>
            <a:off x="4617720" y="5581864"/>
            <a:ext cx="274320" cy="178856"/>
          </a:xfrm>
          <a:prstGeom prst="rect">
            <a:avLst/>
          </a:prstGeom>
          <a:solidFill>
            <a:srgbClr val="DCC48A"/>
          </a:solidFill>
          <a:ln/>
        </p:spPr>
      </p:sp>
      <p:sp>
        <p:nvSpPr>
          <p:cNvPr id="68" name="Text 55"/>
          <p:cNvSpPr/>
          <p:nvPr/>
        </p:nvSpPr>
        <p:spPr>
          <a:xfrm>
            <a:off x="4544568" y="5380696"/>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1,000</a:t>
            </a:r>
            <a:endParaRPr lang="en-US" sz="700" dirty="0"/>
          </a:p>
        </p:txBody>
      </p:sp>
      <p:sp>
        <p:nvSpPr>
          <p:cNvPr id="69" name="Text 56"/>
          <p:cNvSpPr/>
          <p:nvPr/>
        </p:nvSpPr>
        <p:spPr>
          <a:xfrm>
            <a:off x="4544568" y="5797296"/>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1→2</a:t>
            </a:r>
            <a:endParaRPr lang="en-US" sz="700" dirty="0"/>
          </a:p>
        </p:txBody>
      </p:sp>
      <p:sp>
        <p:nvSpPr>
          <p:cNvPr id="70" name="Shape 57"/>
          <p:cNvSpPr/>
          <p:nvPr/>
        </p:nvSpPr>
        <p:spPr>
          <a:xfrm>
            <a:off x="5001768" y="5528208"/>
            <a:ext cx="274320" cy="232512"/>
          </a:xfrm>
          <a:prstGeom prst="rect">
            <a:avLst/>
          </a:prstGeom>
          <a:solidFill>
            <a:srgbClr val="B8862B"/>
          </a:solidFill>
          <a:ln/>
        </p:spPr>
      </p:sp>
      <p:sp>
        <p:nvSpPr>
          <p:cNvPr id="71" name="Text 58"/>
          <p:cNvSpPr/>
          <p:nvPr/>
        </p:nvSpPr>
        <p:spPr>
          <a:xfrm>
            <a:off x="4928616" y="5327040"/>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1,300</a:t>
            </a:r>
            <a:endParaRPr lang="en-US" sz="700" dirty="0"/>
          </a:p>
        </p:txBody>
      </p:sp>
      <p:sp>
        <p:nvSpPr>
          <p:cNvPr id="72" name="Text 59"/>
          <p:cNvSpPr/>
          <p:nvPr/>
        </p:nvSpPr>
        <p:spPr>
          <a:xfrm>
            <a:off x="4928616" y="5797296"/>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2→3</a:t>
            </a:r>
            <a:endParaRPr lang="en-US" sz="700" dirty="0"/>
          </a:p>
        </p:txBody>
      </p:sp>
      <p:sp>
        <p:nvSpPr>
          <p:cNvPr id="73" name="Shape 60"/>
          <p:cNvSpPr/>
          <p:nvPr/>
        </p:nvSpPr>
        <p:spPr>
          <a:xfrm>
            <a:off x="5385816" y="5458454"/>
            <a:ext cx="274320" cy="302266"/>
          </a:xfrm>
          <a:prstGeom prst="rect">
            <a:avLst/>
          </a:prstGeom>
          <a:solidFill>
            <a:srgbClr val="DCC48A"/>
          </a:solidFill>
          <a:ln/>
        </p:spPr>
      </p:sp>
      <p:sp>
        <p:nvSpPr>
          <p:cNvPr id="74" name="Text 61"/>
          <p:cNvSpPr/>
          <p:nvPr/>
        </p:nvSpPr>
        <p:spPr>
          <a:xfrm>
            <a:off x="5312664" y="5257286"/>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1,690</a:t>
            </a:r>
            <a:endParaRPr lang="en-US" sz="700" dirty="0"/>
          </a:p>
        </p:txBody>
      </p:sp>
      <p:sp>
        <p:nvSpPr>
          <p:cNvPr id="75" name="Text 62"/>
          <p:cNvSpPr/>
          <p:nvPr/>
        </p:nvSpPr>
        <p:spPr>
          <a:xfrm>
            <a:off x="5312664" y="5797296"/>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3→4</a:t>
            </a:r>
            <a:endParaRPr lang="en-US" sz="700" dirty="0"/>
          </a:p>
        </p:txBody>
      </p:sp>
      <p:sp>
        <p:nvSpPr>
          <p:cNvPr id="76" name="Shape 63"/>
          <p:cNvSpPr/>
          <p:nvPr/>
        </p:nvSpPr>
        <p:spPr>
          <a:xfrm>
            <a:off x="5769864" y="5367237"/>
            <a:ext cx="274320" cy="393483"/>
          </a:xfrm>
          <a:prstGeom prst="rect">
            <a:avLst/>
          </a:prstGeom>
          <a:solidFill>
            <a:srgbClr val="B8862B"/>
          </a:solidFill>
          <a:ln/>
        </p:spPr>
      </p:sp>
      <p:sp>
        <p:nvSpPr>
          <p:cNvPr id="77" name="Text 64"/>
          <p:cNvSpPr/>
          <p:nvPr/>
        </p:nvSpPr>
        <p:spPr>
          <a:xfrm>
            <a:off x="5696712" y="5166069"/>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2,200</a:t>
            </a:r>
            <a:endParaRPr lang="en-US" sz="700" dirty="0"/>
          </a:p>
        </p:txBody>
      </p:sp>
      <p:sp>
        <p:nvSpPr>
          <p:cNvPr id="78" name="Text 65"/>
          <p:cNvSpPr/>
          <p:nvPr/>
        </p:nvSpPr>
        <p:spPr>
          <a:xfrm>
            <a:off x="5696712" y="5797296"/>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4→5</a:t>
            </a:r>
            <a:endParaRPr lang="en-US" sz="700" dirty="0"/>
          </a:p>
        </p:txBody>
      </p:sp>
      <p:sp>
        <p:nvSpPr>
          <p:cNvPr id="79" name="Shape 66"/>
          <p:cNvSpPr/>
          <p:nvPr/>
        </p:nvSpPr>
        <p:spPr>
          <a:xfrm>
            <a:off x="6153912" y="5249193"/>
            <a:ext cx="274320" cy="511527"/>
          </a:xfrm>
          <a:prstGeom prst="rect">
            <a:avLst/>
          </a:prstGeom>
          <a:solidFill>
            <a:srgbClr val="DCC48A"/>
          </a:solidFill>
          <a:ln/>
        </p:spPr>
      </p:sp>
      <p:sp>
        <p:nvSpPr>
          <p:cNvPr id="80" name="Text 67"/>
          <p:cNvSpPr/>
          <p:nvPr/>
        </p:nvSpPr>
        <p:spPr>
          <a:xfrm>
            <a:off x="6080760" y="5048025"/>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2,860</a:t>
            </a:r>
            <a:endParaRPr lang="en-US" sz="700" dirty="0"/>
          </a:p>
        </p:txBody>
      </p:sp>
      <p:sp>
        <p:nvSpPr>
          <p:cNvPr id="81" name="Text 68"/>
          <p:cNvSpPr/>
          <p:nvPr/>
        </p:nvSpPr>
        <p:spPr>
          <a:xfrm>
            <a:off x="6080760" y="5797296"/>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5→6</a:t>
            </a:r>
            <a:endParaRPr lang="en-US" sz="700" dirty="0"/>
          </a:p>
        </p:txBody>
      </p:sp>
      <p:sp>
        <p:nvSpPr>
          <p:cNvPr id="82" name="Shape 69"/>
          <p:cNvSpPr/>
          <p:nvPr/>
        </p:nvSpPr>
        <p:spPr>
          <a:xfrm>
            <a:off x="6537960" y="5095377"/>
            <a:ext cx="274320" cy="665343"/>
          </a:xfrm>
          <a:prstGeom prst="rect">
            <a:avLst/>
          </a:prstGeom>
          <a:solidFill>
            <a:srgbClr val="B8862B"/>
          </a:solidFill>
          <a:ln/>
        </p:spPr>
      </p:sp>
      <p:sp>
        <p:nvSpPr>
          <p:cNvPr id="83" name="Text 70"/>
          <p:cNvSpPr/>
          <p:nvPr/>
        </p:nvSpPr>
        <p:spPr>
          <a:xfrm>
            <a:off x="6464808" y="4894209"/>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3,720</a:t>
            </a:r>
            <a:endParaRPr lang="en-US" sz="700" dirty="0"/>
          </a:p>
        </p:txBody>
      </p:sp>
      <p:sp>
        <p:nvSpPr>
          <p:cNvPr id="84" name="Text 71"/>
          <p:cNvSpPr/>
          <p:nvPr/>
        </p:nvSpPr>
        <p:spPr>
          <a:xfrm>
            <a:off x="6464808" y="5797296"/>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6→7</a:t>
            </a:r>
            <a:endParaRPr lang="en-US" sz="700" dirty="0"/>
          </a:p>
        </p:txBody>
      </p:sp>
      <p:sp>
        <p:nvSpPr>
          <p:cNvPr id="85" name="Shape 72"/>
          <p:cNvSpPr/>
          <p:nvPr/>
        </p:nvSpPr>
        <p:spPr>
          <a:xfrm>
            <a:off x="6922008" y="4895058"/>
            <a:ext cx="274320" cy="865662"/>
          </a:xfrm>
          <a:prstGeom prst="rect">
            <a:avLst/>
          </a:prstGeom>
          <a:solidFill>
            <a:srgbClr val="DCC48A"/>
          </a:solidFill>
          <a:ln/>
        </p:spPr>
      </p:sp>
      <p:sp>
        <p:nvSpPr>
          <p:cNvPr id="86" name="Text 73"/>
          <p:cNvSpPr/>
          <p:nvPr/>
        </p:nvSpPr>
        <p:spPr>
          <a:xfrm>
            <a:off x="6848856" y="4693890"/>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4,840</a:t>
            </a:r>
            <a:endParaRPr lang="en-US" sz="700" dirty="0"/>
          </a:p>
        </p:txBody>
      </p:sp>
      <p:sp>
        <p:nvSpPr>
          <p:cNvPr id="87" name="Text 74"/>
          <p:cNvSpPr/>
          <p:nvPr/>
        </p:nvSpPr>
        <p:spPr>
          <a:xfrm>
            <a:off x="6848856" y="5797296"/>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7→8</a:t>
            </a:r>
            <a:endParaRPr lang="en-US" sz="700" dirty="0"/>
          </a:p>
        </p:txBody>
      </p:sp>
      <p:sp>
        <p:nvSpPr>
          <p:cNvPr id="88" name="Shape 75"/>
          <p:cNvSpPr/>
          <p:nvPr/>
        </p:nvSpPr>
        <p:spPr>
          <a:xfrm>
            <a:off x="7306056" y="4635717"/>
            <a:ext cx="274320" cy="1125003"/>
          </a:xfrm>
          <a:prstGeom prst="rect">
            <a:avLst/>
          </a:prstGeom>
          <a:solidFill>
            <a:srgbClr val="B8862B"/>
          </a:solidFill>
          <a:ln/>
        </p:spPr>
      </p:sp>
      <p:sp>
        <p:nvSpPr>
          <p:cNvPr id="89" name="Text 76"/>
          <p:cNvSpPr/>
          <p:nvPr/>
        </p:nvSpPr>
        <p:spPr>
          <a:xfrm>
            <a:off x="7232904" y="4434549"/>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6,290</a:t>
            </a:r>
            <a:endParaRPr lang="en-US" sz="700" dirty="0"/>
          </a:p>
        </p:txBody>
      </p:sp>
      <p:sp>
        <p:nvSpPr>
          <p:cNvPr id="90" name="Text 77"/>
          <p:cNvSpPr/>
          <p:nvPr/>
        </p:nvSpPr>
        <p:spPr>
          <a:xfrm>
            <a:off x="7232904" y="5797296"/>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8→9</a:t>
            </a:r>
            <a:endParaRPr lang="en-US" sz="700" dirty="0"/>
          </a:p>
        </p:txBody>
      </p:sp>
      <p:sp>
        <p:nvSpPr>
          <p:cNvPr id="91" name="Shape 78"/>
          <p:cNvSpPr/>
          <p:nvPr/>
        </p:nvSpPr>
        <p:spPr>
          <a:xfrm>
            <a:off x="7690104" y="4297680"/>
            <a:ext cx="274320" cy="1463040"/>
          </a:xfrm>
          <a:prstGeom prst="rect">
            <a:avLst/>
          </a:prstGeom>
          <a:solidFill>
            <a:srgbClr val="45356B"/>
          </a:solidFill>
          <a:ln/>
        </p:spPr>
      </p:sp>
      <p:sp>
        <p:nvSpPr>
          <p:cNvPr id="92" name="Text 79"/>
          <p:cNvSpPr/>
          <p:nvPr/>
        </p:nvSpPr>
        <p:spPr>
          <a:xfrm>
            <a:off x="7616952" y="4096512"/>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8,180</a:t>
            </a:r>
            <a:endParaRPr lang="en-US" sz="700" dirty="0"/>
          </a:p>
        </p:txBody>
      </p:sp>
      <p:sp>
        <p:nvSpPr>
          <p:cNvPr id="93" name="Text 80"/>
          <p:cNvSpPr/>
          <p:nvPr/>
        </p:nvSpPr>
        <p:spPr>
          <a:xfrm>
            <a:off x="7616952" y="5797296"/>
            <a:ext cx="420624" cy="182880"/>
          </a:xfrm>
          <a:prstGeom prst="rect">
            <a:avLst/>
          </a:prstGeom>
          <a:noFill/>
          <a:ln/>
        </p:spPr>
        <p:txBody>
          <a:bodyPr wrap="square" lIns="0" tIns="0" rIns="0" bIns="0" rtlCol="0" anchor="t"/>
          <a:lstStyle/>
          <a:p>
            <a:pPr algn="ctr" indent="0" marL="0">
              <a:buNone/>
            </a:pPr>
            <a:r>
              <a:rPr lang="en-US" sz="700" dirty="0">
                <a:solidFill>
                  <a:srgbClr val="6B5B46"/>
                </a:solidFill>
                <a:latin typeface="BIZ UDPゴシック" pitchFamily="34" charset="0"/>
                <a:ea typeface="BIZ UDPゴシック" pitchFamily="34" charset="-122"/>
                <a:cs typeface="BIZ UDPゴシック" pitchFamily="34" charset="-120"/>
              </a:rPr>
              <a:t>9→10</a:t>
            </a:r>
            <a:endParaRPr lang="en-US" sz="700" dirty="0"/>
          </a:p>
        </p:txBody>
      </p:sp>
      <p:sp>
        <p:nvSpPr>
          <p:cNvPr id="94" name="Shape 81"/>
          <p:cNvSpPr/>
          <p:nvPr/>
        </p:nvSpPr>
        <p:spPr>
          <a:xfrm>
            <a:off x="4572000" y="5760720"/>
            <a:ext cx="3520440" cy="0"/>
          </a:xfrm>
          <a:prstGeom prst="line">
            <a:avLst/>
          </a:prstGeom>
          <a:noFill/>
          <a:ln w="12700">
            <a:solidFill>
              <a:srgbClr val="5C4430"/>
            </a:solidFill>
            <a:prstDash val="solid"/>
          </a:ln>
        </p:spPr>
      </p:sp>
      <p:sp>
        <p:nvSpPr>
          <p:cNvPr id="95" name="Text 82"/>
          <p:cNvSpPr/>
          <p:nvPr/>
        </p:nvSpPr>
        <p:spPr>
          <a:xfrm>
            <a:off x="4572000" y="3886200"/>
            <a:ext cx="2286000" cy="274320"/>
          </a:xfrm>
          <a:prstGeom prst="rect">
            <a:avLst/>
          </a:prstGeom>
          <a:noFill/>
          <a:ln/>
        </p:spPr>
        <p:txBody>
          <a:bodyPr wrap="square" lIns="0" tIns="0" rIns="0" bIns="0" rtlCol="0" anchor="t"/>
          <a:lstStyle/>
          <a:p>
            <a:pPr indent="0" marL="0">
              <a:buNone/>
            </a:pPr>
            <a:r>
              <a:rPr lang="en-US" sz="1100" b="1" dirty="0">
                <a:solidFill>
                  <a:srgbClr val="B3372B"/>
                </a:solidFill>
                <a:latin typeface="BIZ UDPゴシック" pitchFamily="34" charset="0"/>
                <a:ea typeface="BIZ UDPゴシック" pitchFamily="34" charset="-122"/>
                <a:cs typeface="BIZ UDPゴシック" pitchFamily="34" charset="-120"/>
              </a:rPr>
              <a:t>毎回 約1.3倍ずつ増える</a:t>
            </a:r>
            <a:endParaRPr lang="en-US" sz="1100" dirty="0"/>
          </a:p>
        </p:txBody>
      </p:sp>
      <p:sp>
        <p:nvSpPr>
          <p:cNvPr id="96" name="Shape 83"/>
          <p:cNvSpPr/>
          <p:nvPr/>
        </p:nvSpPr>
        <p:spPr>
          <a:xfrm>
            <a:off x="8458200" y="3383280"/>
            <a:ext cx="3182112" cy="2788920"/>
          </a:xfrm>
          <a:prstGeom prst="roundRect">
            <a:avLst>
              <a:gd name="adj" fmla="val 2623"/>
            </a:avLst>
          </a:prstGeom>
          <a:solidFill>
            <a:srgbClr val="ECE7F5"/>
          </a:solidFill>
          <a:ln w="15875">
            <a:solidFill>
              <a:srgbClr val="45356B"/>
            </a:solidFill>
            <a:prstDash val="solid"/>
          </a:ln>
          <a:effectLst>
            <a:outerShdw sx="100000" sy="100000" kx="0" ky="0" algn="bl" rotWithShape="0" blurRad="101600" dist="38100" dir="2700000">
              <a:srgbClr val="5C4430">
                <a:alpha val="30000"/>
              </a:srgbClr>
            </a:outerShdw>
          </a:effectLst>
        </p:spPr>
      </p:sp>
      <p:sp>
        <p:nvSpPr>
          <p:cNvPr id="97" name="Text 84"/>
          <p:cNvSpPr/>
          <p:nvPr/>
        </p:nvSpPr>
        <p:spPr>
          <a:xfrm>
            <a:off x="8641080" y="3502152"/>
            <a:ext cx="2834640" cy="347472"/>
          </a:xfrm>
          <a:prstGeom prst="rect">
            <a:avLst/>
          </a:prstGeom>
          <a:noFill/>
          <a:ln/>
        </p:spPr>
        <p:txBody>
          <a:bodyPr wrap="square" lIns="0" tIns="0" rIns="0" bIns="0" rtlCol="0" anchor="t"/>
          <a:lstStyle/>
          <a:p>
            <a:pPr indent="0" marL="0">
              <a:buNone/>
            </a:pPr>
            <a:r>
              <a:rPr lang="en-US" sz="1500" b="1" dirty="0">
                <a:solidFill>
                  <a:srgbClr val="45356B"/>
                </a:solidFill>
                <a:latin typeface="BIZ UDPゴシック" pitchFamily="34" charset="0"/>
                <a:ea typeface="BIZ UDPゴシック" pitchFamily="34" charset="-122"/>
                <a:cs typeface="BIZ UDPゴシック" pitchFamily="34" charset="-120"/>
              </a:rPr>
              <a:t>育てたくなる仕掛け</a:t>
            </a:r>
            <a:endParaRPr lang="en-US" sz="1500" dirty="0"/>
          </a:p>
        </p:txBody>
      </p:sp>
      <p:sp>
        <p:nvSpPr>
          <p:cNvPr id="98" name="Text 85"/>
          <p:cNvSpPr/>
          <p:nvPr/>
        </p:nvSpPr>
        <p:spPr>
          <a:xfrm>
            <a:off x="8641080" y="3931920"/>
            <a:ext cx="2880360" cy="219456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散歩結果画面でレベルアップを全画面でお祝い</a:t>
            </a:r>
            <a:endParaRPr lang="en-US" sz="1150" dirty="0"/>
          </a:p>
          <a:p>
            <a:pPr marL="177800" indent="-177800">
              <a:lnSpc>
                <a:spcPct val="105000"/>
              </a:lnSpc>
              <a:spcAft>
                <a:spcPts val="6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マスコットが各画面で吹き出しで案内（1画面1体）</a:t>
            </a:r>
            <a:endParaRPr lang="en-US" sz="1150" dirty="0"/>
          </a:p>
          <a:p>
            <a:pPr marL="177800" indent="-177800">
              <a:lnSpc>
                <a:spcPct val="105000"/>
              </a:lnSpc>
              <a:spcAft>
                <a:spcPts val="6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羊皮紙・金・紫・ドット書体で世界観を統一</a:t>
            </a:r>
            <a:endParaRPr lang="en-US" sz="1150" dirty="0"/>
          </a:p>
          <a:p>
            <a:pPr marL="177800" indent="-177800">
              <a:lnSpc>
                <a:spcPct val="105000"/>
              </a:lnSpc>
              <a:spcAft>
                <a:spcPts val="600"/>
              </a:spcAft>
              <a:buSzPct val="100000"/>
              <a:buChar char="•"/>
            </a:pPr>
            <a:r>
              <a:rPr lang="en-US" sz="1150" dirty="0">
                <a:solidFill>
                  <a:srgbClr val="3A2E20"/>
                </a:solidFill>
                <a:latin typeface="BIZ UDPゴシック" pitchFamily="34" charset="0"/>
                <a:ea typeface="BIZ UDPゴシック" pitchFamily="34" charset="-122"/>
                <a:cs typeface="BIZ UDPゴシック" pitchFamily="34" charset="-120"/>
              </a:rPr>
              <a:t>実績はサーバー（DynamoDB）に保存</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5356B"/>
        </a:solidFill>
      </p:bgPr>
    </p:bg>
    <p:spTree>
      <p:nvGrpSpPr>
        <p:cNvPr id="1" name=""/>
        <p:cNvGrpSpPr/>
        <p:nvPr/>
      </p:nvGrpSpPr>
      <p:grpSpPr>
        <a:xfrm>
          <a:off x="0" y="0"/>
          <a:ext cx="0" cy="0"/>
          <a:chOff x="0" y="0"/>
          <a:chExt cx="0" cy="0"/>
        </a:xfrm>
      </p:grpSpPr>
      <p:pic>
        <p:nvPicPr>
          <p:cNvPr id="2" name="Image 0" descr="C:\Users\ltosuser\AppData\Local\Temp\michishiru-ppt\img\map.jpg">    </p:cNvPr>
          <p:cNvPicPr>
            <a:picLocks noChangeAspect="1"/>
          </p:cNvPicPr>
          <p:nvPr/>
        </p:nvPicPr>
        <p:blipFill>
          <a:blip r:embed="rId1"/>
          <a:srcRect l="0" r="0" t="13716" b="13716"/>
          <a:stretch/>
        </p:blipFill>
        <p:spPr>
          <a:xfrm>
            <a:off x="5852160" y="0"/>
            <a:ext cx="6339535" cy="6858000"/>
          </a:xfrm>
          <a:prstGeom prst="rect">
            <a:avLst/>
          </a:prstGeom>
        </p:spPr>
      </p:pic>
      <p:sp>
        <p:nvSpPr>
          <p:cNvPr id="3" name="Shape 0"/>
          <p:cNvSpPr/>
          <p:nvPr/>
        </p:nvSpPr>
        <p:spPr>
          <a:xfrm>
            <a:off x="5852160" y="0"/>
            <a:ext cx="6339535" cy="6858000"/>
          </a:xfrm>
          <a:prstGeom prst="rect">
            <a:avLst/>
          </a:prstGeom>
          <a:solidFill>
            <a:srgbClr val="45356B">
              <a:alpha val="65000"/>
            </a:srgbClr>
          </a:solidFill>
          <a:ln/>
        </p:spPr>
      </p:sp>
      <p:sp>
        <p:nvSpPr>
          <p:cNvPr id="4" name="Shape 1"/>
          <p:cNvSpPr/>
          <p:nvPr/>
        </p:nvSpPr>
        <p:spPr>
          <a:xfrm>
            <a:off x="5852160" y="0"/>
            <a:ext cx="73152" cy="6858000"/>
          </a:xfrm>
          <a:prstGeom prst="rect">
            <a:avLst/>
          </a:prstGeom>
          <a:solidFill>
            <a:srgbClr val="B8862B"/>
          </a:solidFill>
          <a:ln/>
        </p:spPr>
      </p:sp>
      <p:sp>
        <p:nvSpPr>
          <p:cNvPr id="5" name="Text 2"/>
          <p:cNvSpPr/>
          <p:nvPr/>
        </p:nvSpPr>
        <p:spPr>
          <a:xfrm>
            <a:off x="822960" y="1097280"/>
            <a:ext cx="3657600" cy="1280160"/>
          </a:xfrm>
          <a:prstGeom prst="rect">
            <a:avLst/>
          </a:prstGeom>
          <a:noFill/>
          <a:ln/>
        </p:spPr>
        <p:txBody>
          <a:bodyPr wrap="square" lIns="0" tIns="0" rIns="0" bIns="0" rtlCol="0" anchor="t"/>
          <a:lstStyle/>
          <a:p>
            <a:pPr indent="0" marL="0">
              <a:buNone/>
            </a:pPr>
            <a:r>
              <a:rPr lang="en-US" sz="9600" b="1" dirty="0">
                <a:solidFill>
                  <a:srgbClr val="B8862B"/>
                </a:solidFill>
                <a:latin typeface="Georgia" pitchFamily="34" charset="0"/>
                <a:ea typeface="Georgia" pitchFamily="34" charset="-122"/>
                <a:cs typeface="Georgia" pitchFamily="34" charset="-120"/>
              </a:rPr>
              <a:t>02</a:t>
            </a:r>
            <a:endParaRPr lang="en-US" sz="9600" dirty="0"/>
          </a:p>
        </p:txBody>
      </p:sp>
      <p:sp>
        <p:nvSpPr>
          <p:cNvPr id="6" name="Shape 3"/>
          <p:cNvSpPr/>
          <p:nvPr/>
        </p:nvSpPr>
        <p:spPr>
          <a:xfrm>
            <a:off x="868680" y="2606040"/>
            <a:ext cx="1097280" cy="64008"/>
          </a:xfrm>
          <a:prstGeom prst="rect">
            <a:avLst/>
          </a:prstGeom>
          <a:solidFill>
            <a:srgbClr val="B8862B"/>
          </a:solidFill>
          <a:ln/>
        </p:spPr>
      </p:sp>
      <p:sp>
        <p:nvSpPr>
          <p:cNvPr id="7" name="Text 4"/>
          <p:cNvSpPr/>
          <p:nvPr/>
        </p:nvSpPr>
        <p:spPr>
          <a:xfrm>
            <a:off x="822960" y="2788920"/>
            <a:ext cx="4937760" cy="1234440"/>
          </a:xfrm>
          <a:prstGeom prst="rect">
            <a:avLst/>
          </a:prstGeom>
          <a:noFill/>
          <a:ln/>
        </p:spPr>
        <p:txBody>
          <a:bodyPr wrap="square" lIns="0" tIns="0" rIns="0" bIns="0" rtlCol="0" anchor="ctr"/>
          <a:lstStyle/>
          <a:p>
            <a:pPr indent="0" marL="0">
              <a:buNone/>
            </a:pPr>
            <a:r>
              <a:rPr lang="en-US" sz="3600" b="1" dirty="0">
                <a:solidFill>
                  <a:srgbClr val="FFFFFF"/>
                </a:solidFill>
                <a:latin typeface="BIZ UDPゴシック" pitchFamily="34" charset="0"/>
                <a:ea typeface="BIZ UDPゴシック" pitchFamily="34" charset="-122"/>
                <a:cs typeface="BIZ UDPゴシック" pitchFamily="34" charset="-120"/>
              </a:rPr>
              <a:t>開発プロセス・</a:t>
            </a:r>
            <a:endParaRPr lang="en-US" sz="3600" dirty="0"/>
          </a:p>
          <a:p>
            <a:pPr indent="0" marL="0">
              <a:buNone/>
            </a:pPr>
            <a:r>
              <a:rPr lang="en-US" sz="3600" b="1" dirty="0">
                <a:solidFill>
                  <a:srgbClr val="FFFFFF"/>
                </a:solidFill>
                <a:latin typeface="BIZ UDPゴシック" pitchFamily="34" charset="0"/>
                <a:ea typeface="BIZ UDPゴシック" pitchFamily="34" charset="-122"/>
                <a:cs typeface="BIZ UDPゴシック" pitchFamily="34" charset="-120"/>
              </a:rPr>
              <a:t>協働</a:t>
            </a:r>
            <a:endParaRPr lang="en-US" sz="3600" dirty="0"/>
          </a:p>
        </p:txBody>
      </p:sp>
      <p:sp>
        <p:nvSpPr>
          <p:cNvPr id="8" name="Text 5"/>
          <p:cNvSpPr/>
          <p:nvPr/>
        </p:nvSpPr>
        <p:spPr>
          <a:xfrm>
            <a:off x="822960" y="4114800"/>
            <a:ext cx="4937760" cy="914400"/>
          </a:xfrm>
          <a:prstGeom prst="rect">
            <a:avLst/>
          </a:prstGeom>
          <a:noFill/>
          <a:ln/>
        </p:spPr>
        <p:txBody>
          <a:bodyPr wrap="square" lIns="0" tIns="0" rIns="0" bIns="0" rtlCol="0" anchor="t"/>
          <a:lstStyle/>
          <a:p>
            <a:pPr indent="0" marL="0">
              <a:lnSpc>
                <a:spcPct val="130000"/>
              </a:lnSpc>
              <a:buNone/>
            </a:pPr>
            <a:r>
              <a:rPr lang="en-US" sz="1400" dirty="0">
                <a:solidFill>
                  <a:srgbClr val="E8E1F5"/>
                </a:solidFill>
                <a:latin typeface="BIZ UDPゴシック" pitchFamily="34" charset="0"/>
                <a:ea typeface="BIZ UDPゴシック" pitchFamily="34" charset="-122"/>
                <a:cs typeface="BIZ UDPゴシック" pitchFamily="34" charset="-120"/>
              </a:rPr>
              <a:t>1日の流れ</a:t>
            </a:r>
            <a:endParaRPr lang="en-US" sz="1400" dirty="0"/>
          </a:p>
          <a:p>
            <a:pPr indent="0" marL="0">
              <a:lnSpc>
                <a:spcPct val="130000"/>
              </a:lnSpc>
              <a:buNone/>
            </a:pPr>
            <a:r>
              <a:rPr lang="en-US" sz="1400" dirty="0">
                <a:solidFill>
                  <a:srgbClr val="E8E1F5"/>
                </a:solidFill>
                <a:latin typeface="BIZ UDPゴシック" pitchFamily="34" charset="0"/>
                <a:ea typeface="BIZ UDPゴシック" pitchFamily="34" charset="-122"/>
                <a:cs typeface="BIZ UDPゴシック" pitchFamily="34" charset="-120"/>
              </a:rPr>
              <a:t>トレードオフスライダー</a:t>
            </a:r>
            <a:endParaRPr lang="en-US" sz="1400" dirty="0"/>
          </a:p>
          <a:p>
            <a:pPr indent="0" marL="0">
              <a:lnSpc>
                <a:spcPct val="130000"/>
              </a:lnSpc>
              <a:buNone/>
            </a:pPr>
            <a:r>
              <a:rPr lang="en-US" sz="1400" dirty="0">
                <a:solidFill>
                  <a:srgbClr val="E8E1F5"/>
                </a:solidFill>
                <a:latin typeface="BIZ UDPゴシック" pitchFamily="34" charset="0"/>
                <a:ea typeface="BIZ UDPゴシック" pitchFamily="34" charset="-122"/>
                <a:cs typeface="BIZ UDPゴシック" pitchFamily="34" charset="-120"/>
              </a:rPr>
              <a:t>スプリントごとの成長</a:t>
            </a:r>
            <a:endParaRPr lang="en-US" sz="1400" dirty="0"/>
          </a:p>
        </p:txBody>
      </p:sp>
      <p:sp>
        <p:nvSpPr>
          <p:cNvPr id="9" name="Shape 6"/>
          <p:cNvSpPr/>
          <p:nvPr/>
        </p:nvSpPr>
        <p:spPr>
          <a:xfrm>
            <a:off x="822960" y="5120640"/>
            <a:ext cx="1737360" cy="502920"/>
          </a:xfrm>
          <a:prstGeom prst="roundRect">
            <a:avLst>
              <a:gd name="adj" fmla="val 49091"/>
            </a:avLst>
          </a:prstGeom>
          <a:solidFill>
            <a:srgbClr val="B8862B"/>
          </a:solidFill>
          <a:ln/>
        </p:spPr>
      </p:sp>
      <p:sp>
        <p:nvSpPr>
          <p:cNvPr id="10" name="Text 7"/>
          <p:cNvSpPr/>
          <p:nvPr/>
        </p:nvSpPr>
        <p:spPr>
          <a:xfrm>
            <a:off x="822960" y="5120640"/>
            <a:ext cx="17373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発表 10分</a:t>
            </a:r>
            <a:endParaRPr lang="en-US" sz="1500" dirty="0"/>
          </a:p>
        </p:txBody>
      </p:sp>
      <p:sp>
        <p:nvSpPr>
          <p:cNvPr id="11" name="Shape 8"/>
          <p:cNvSpPr/>
          <p:nvPr/>
        </p:nvSpPr>
        <p:spPr>
          <a:xfrm>
            <a:off x="7452360" y="1417320"/>
            <a:ext cx="3291840" cy="3291840"/>
          </a:xfrm>
          <a:prstGeom prst="ellipse">
            <a:avLst/>
          </a:prstGeom>
          <a:solidFill>
            <a:srgbClr val="FBF4E4">
              <a:alpha val="90000"/>
            </a:srgbClr>
          </a:solidFill>
          <a:ln w="38100">
            <a:solidFill>
              <a:srgbClr val="B8862B"/>
            </a:solidFill>
            <a:prstDash val="solid"/>
          </a:ln>
        </p:spPr>
      </p:sp>
      <p:pic>
        <p:nvPicPr>
          <p:cNvPr id="12" name="Image 1" descr="C:\Users\ltosuser\AppData\Local\Temp\michishiru-ppt\img\lv07.png">    </p:cNvPr>
          <p:cNvPicPr>
            <a:picLocks noChangeAspect="1"/>
          </p:cNvPicPr>
          <p:nvPr/>
        </p:nvPicPr>
        <p:blipFill>
          <a:blip r:embed="rId2"/>
          <a:stretch>
            <a:fillRect/>
          </a:stretch>
        </p:blipFill>
        <p:spPr>
          <a:xfrm>
            <a:off x="7635240" y="1554480"/>
            <a:ext cx="2926080" cy="2926080"/>
          </a:xfrm>
          <a:prstGeom prst="rect">
            <a:avLst/>
          </a:prstGeom>
        </p:spPr>
      </p:pic>
      <p:sp>
        <p:nvSpPr>
          <p:cNvPr id="13" name="Text 9"/>
          <p:cNvSpPr/>
          <p:nvPr/>
        </p:nvSpPr>
        <p:spPr>
          <a:xfrm>
            <a:off x="7452360" y="4892040"/>
            <a:ext cx="3291840" cy="457200"/>
          </a:xfrm>
          <a:prstGeom prst="rect">
            <a:avLst/>
          </a:prstGeom>
          <a:noFill/>
          <a:ln/>
        </p:spPr>
        <p:txBody>
          <a:bodyPr wrap="square" lIns="0" tIns="0" rIns="0" bIns="0" rtlCol="0" anchor="t"/>
          <a:lstStyle/>
          <a:p>
            <a:pPr algn="ctr" indent="0" marL="0">
              <a:buNone/>
            </a:pPr>
            <a:r>
              <a:rPr lang="en-US" sz="2000" b="1" dirty="0">
                <a:solidFill>
                  <a:srgbClr val="FFFFFF"/>
                </a:solidFill>
                <a:latin typeface="Georgia" pitchFamily="34" charset="0"/>
                <a:ea typeface="Georgia" pitchFamily="34" charset="-122"/>
                <a:cs typeface="Georgia" pitchFamily="34" charset="-120"/>
              </a:rPr>
              <a:t>Lv.7</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02 PROCESS</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1日の流れ</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02 開発プロセス・協働</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15</a:t>
            </a:r>
            <a:endParaRPr lang="en-US" sz="900" dirty="0"/>
          </a:p>
        </p:txBody>
      </p:sp>
      <p:sp>
        <p:nvSpPr>
          <p:cNvPr id="11" name="Shape 8"/>
          <p:cNvSpPr/>
          <p:nvPr/>
        </p:nvSpPr>
        <p:spPr>
          <a:xfrm rot="120000">
            <a:off x="9464040" y="274320"/>
            <a:ext cx="2194560" cy="566928"/>
          </a:xfrm>
          <a:prstGeom prst="rect">
            <a:avLst/>
          </a:prstGeom>
          <a:solidFill>
            <a:srgbClr val="FFF2A8"/>
          </a:solidFill>
          <a:ln w="12700">
            <a:solidFill>
              <a:srgbClr val="D9C25A"/>
            </a:solidFill>
            <a:prstDash val="solid"/>
          </a:ln>
          <a:effectLst>
            <a:outerShdw sx="100000" sy="100000" kx="0" ky="0" algn="bl" rotWithShape="0" blurRad="25400" dist="25400" dir="2700000">
              <a:srgbClr val="000000">
                <a:alpha val="20000"/>
              </a:srgbClr>
            </a:outerShdw>
          </a:effectLst>
        </p:spPr>
      </p:sp>
      <p:sp>
        <p:nvSpPr>
          <p:cNvPr id="12" name="Text 9"/>
          <p:cNvSpPr/>
          <p:nvPr/>
        </p:nvSpPr>
        <p:spPr>
          <a:xfrm rot="120000">
            <a:off x="9555480" y="301752"/>
            <a:ext cx="2011680" cy="512064"/>
          </a:xfrm>
          <a:prstGeom prst="rect">
            <a:avLst/>
          </a:prstGeom>
          <a:noFill/>
          <a:ln/>
        </p:spPr>
        <p:txBody>
          <a:bodyPr wrap="square" lIns="0" tIns="0" rIns="0" bIns="0" rtlCol="0" anchor="ctr"/>
          <a:lstStyle/>
          <a:p>
            <a:pPr indent="0" marL="0">
              <a:buNone/>
            </a:pPr>
            <a:r>
              <a:rPr lang="en-US" sz="1000" b="1" dirty="0">
                <a:solidFill>
                  <a:srgbClr val="6B5600"/>
                </a:solidFill>
                <a:latin typeface="BIZ UDPゴシック" pitchFamily="34" charset="0"/>
                <a:ea typeface="BIZ UDPゴシック" pitchFamily="34" charset="-122"/>
                <a:cs typeface="BIZ UDPゴシック" pitchFamily="34" charset="-120"/>
              </a:rPr>
              <a:t>要編集：実際の時刻・内容に</a:t>
            </a:r>
            <a:endParaRPr lang="en-US" sz="1000" dirty="0"/>
          </a:p>
          <a:p>
            <a:pPr indent="0" marL="0">
              <a:buNone/>
            </a:pPr>
            <a:r>
              <a:rPr lang="en-US" sz="1000" b="1" dirty="0">
                <a:solidFill>
                  <a:srgbClr val="6B5600"/>
                </a:solidFill>
                <a:latin typeface="BIZ UDPゴシック" pitchFamily="34" charset="0"/>
                <a:ea typeface="BIZ UDPゴシック" pitchFamily="34" charset="-122"/>
                <a:cs typeface="BIZ UDPゴシック" pitchFamily="34" charset="-120"/>
              </a:rPr>
              <a:t>合わせて修正してください</a:t>
            </a:r>
            <a:endParaRPr lang="en-US" sz="1000" dirty="0"/>
          </a:p>
        </p:txBody>
      </p:sp>
      <p:sp>
        <p:nvSpPr>
          <p:cNvPr id="13" name="Shape 10"/>
          <p:cNvSpPr/>
          <p:nvPr/>
        </p:nvSpPr>
        <p:spPr>
          <a:xfrm>
            <a:off x="566928" y="1645920"/>
            <a:ext cx="615875" cy="777240"/>
          </a:xfrm>
          <a:prstGeom prst="rect">
            <a:avLst/>
          </a:prstGeom>
          <a:solidFill>
            <a:srgbClr val="3F7A5C"/>
          </a:solidFill>
          <a:ln/>
        </p:spPr>
      </p:sp>
      <p:sp>
        <p:nvSpPr>
          <p:cNvPr id="14" name="Text 11"/>
          <p:cNvSpPr/>
          <p:nvPr/>
        </p:nvSpPr>
        <p:spPr>
          <a:xfrm>
            <a:off x="548640" y="1645920"/>
            <a:ext cx="652451"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朝会</a:t>
            </a:r>
            <a:endParaRPr lang="en-US" sz="1250" dirty="0"/>
          </a:p>
        </p:txBody>
      </p:sp>
      <p:sp>
        <p:nvSpPr>
          <p:cNvPr id="15" name="Shape 12"/>
          <p:cNvSpPr/>
          <p:nvPr/>
        </p:nvSpPr>
        <p:spPr>
          <a:xfrm>
            <a:off x="1219379" y="1645920"/>
            <a:ext cx="3225680" cy="777240"/>
          </a:xfrm>
          <a:prstGeom prst="rect">
            <a:avLst/>
          </a:prstGeom>
          <a:solidFill>
            <a:srgbClr val="45356B"/>
          </a:solidFill>
          <a:ln/>
        </p:spPr>
      </p:sp>
      <p:sp>
        <p:nvSpPr>
          <p:cNvPr id="16" name="Text 13"/>
          <p:cNvSpPr/>
          <p:nvPr/>
        </p:nvSpPr>
        <p:spPr>
          <a:xfrm>
            <a:off x="1201091" y="1645920"/>
            <a:ext cx="3262256"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開発（実装・PR作成）</a:t>
            </a:r>
            <a:endParaRPr lang="en-US" sz="1250" dirty="0"/>
          </a:p>
        </p:txBody>
      </p:sp>
      <p:sp>
        <p:nvSpPr>
          <p:cNvPr id="17" name="Shape 14"/>
          <p:cNvSpPr/>
          <p:nvPr/>
        </p:nvSpPr>
        <p:spPr>
          <a:xfrm>
            <a:off x="4481636" y="1645920"/>
            <a:ext cx="1268327" cy="777240"/>
          </a:xfrm>
          <a:prstGeom prst="rect">
            <a:avLst/>
          </a:prstGeom>
          <a:solidFill>
            <a:srgbClr val="B9AE9C"/>
          </a:solidFill>
          <a:ln/>
        </p:spPr>
      </p:sp>
      <p:sp>
        <p:nvSpPr>
          <p:cNvPr id="18" name="Text 15"/>
          <p:cNvSpPr/>
          <p:nvPr/>
        </p:nvSpPr>
        <p:spPr>
          <a:xfrm>
            <a:off x="4463348" y="1645920"/>
            <a:ext cx="1304903"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昼休憩</a:t>
            </a:r>
            <a:endParaRPr lang="en-US" sz="1250" dirty="0"/>
          </a:p>
        </p:txBody>
      </p:sp>
      <p:sp>
        <p:nvSpPr>
          <p:cNvPr id="19" name="Shape 16"/>
          <p:cNvSpPr/>
          <p:nvPr/>
        </p:nvSpPr>
        <p:spPr>
          <a:xfrm>
            <a:off x="5786538" y="1645920"/>
            <a:ext cx="4530583" cy="777240"/>
          </a:xfrm>
          <a:prstGeom prst="rect">
            <a:avLst/>
          </a:prstGeom>
          <a:solidFill>
            <a:srgbClr val="5F4C91"/>
          </a:solidFill>
          <a:ln/>
        </p:spPr>
      </p:sp>
      <p:sp>
        <p:nvSpPr>
          <p:cNvPr id="20" name="Text 17"/>
          <p:cNvSpPr/>
          <p:nvPr/>
        </p:nvSpPr>
        <p:spPr>
          <a:xfrm>
            <a:off x="5768250" y="1645920"/>
            <a:ext cx="4567159"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開発・コードレビュー</a:t>
            </a:r>
            <a:endParaRPr lang="en-US" sz="1250" dirty="0"/>
          </a:p>
        </p:txBody>
      </p:sp>
      <p:sp>
        <p:nvSpPr>
          <p:cNvPr id="21" name="Shape 18"/>
          <p:cNvSpPr/>
          <p:nvPr/>
        </p:nvSpPr>
        <p:spPr>
          <a:xfrm>
            <a:off x="10353697" y="1645920"/>
            <a:ext cx="1268327" cy="777240"/>
          </a:xfrm>
          <a:prstGeom prst="rect">
            <a:avLst/>
          </a:prstGeom>
          <a:solidFill>
            <a:srgbClr val="B8862B"/>
          </a:solidFill>
          <a:ln/>
        </p:spPr>
      </p:sp>
      <p:sp>
        <p:nvSpPr>
          <p:cNvPr id="22" name="Text 19"/>
          <p:cNvSpPr/>
          <p:nvPr/>
        </p:nvSpPr>
        <p:spPr>
          <a:xfrm>
            <a:off x="10335409" y="1645920"/>
            <a:ext cx="1304903"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夕会</a:t>
            </a:r>
            <a:endParaRPr lang="en-US" sz="1250" dirty="0"/>
          </a:p>
        </p:txBody>
      </p:sp>
      <p:sp>
        <p:nvSpPr>
          <p:cNvPr id="23" name="Shape 20"/>
          <p:cNvSpPr/>
          <p:nvPr/>
        </p:nvSpPr>
        <p:spPr>
          <a:xfrm>
            <a:off x="548640" y="2468880"/>
            <a:ext cx="0" cy="109728"/>
          </a:xfrm>
          <a:prstGeom prst="line">
            <a:avLst/>
          </a:prstGeom>
          <a:noFill/>
          <a:ln w="12700">
            <a:solidFill>
              <a:srgbClr val="6B5B46"/>
            </a:solidFill>
            <a:prstDash val="solid"/>
          </a:ln>
        </p:spPr>
      </p:sp>
      <p:sp>
        <p:nvSpPr>
          <p:cNvPr id="24" name="Text 21"/>
          <p:cNvSpPr/>
          <p:nvPr/>
        </p:nvSpPr>
        <p:spPr>
          <a:xfrm>
            <a:off x="228600" y="2606040"/>
            <a:ext cx="640080" cy="228600"/>
          </a:xfrm>
          <a:prstGeom prst="rect">
            <a:avLst/>
          </a:prstGeom>
          <a:noFill/>
          <a:ln/>
        </p:spPr>
        <p:txBody>
          <a:bodyPr wrap="square" lIns="0" tIns="0" rIns="0" bIns="0" rtlCol="0" anchor="t"/>
          <a:lstStyle/>
          <a:p>
            <a:pPr algn="ctr" indent="0" marL="0">
              <a:buNone/>
            </a:pPr>
            <a:r>
              <a:rPr lang="en-US" sz="950" dirty="0">
                <a:solidFill>
                  <a:srgbClr val="6B5B46"/>
                </a:solidFill>
                <a:latin typeface="BIZ UDPゴシック" pitchFamily="34" charset="0"/>
                <a:ea typeface="BIZ UDPゴシック" pitchFamily="34" charset="-122"/>
                <a:cs typeface="BIZ UDPゴシック" pitchFamily="34" charset="-120"/>
              </a:rPr>
              <a:t>9:00</a:t>
            </a:r>
            <a:endParaRPr lang="en-US" sz="950" dirty="0"/>
          </a:p>
        </p:txBody>
      </p:sp>
      <p:sp>
        <p:nvSpPr>
          <p:cNvPr id="25" name="Shape 22"/>
          <p:cNvSpPr/>
          <p:nvPr/>
        </p:nvSpPr>
        <p:spPr>
          <a:xfrm>
            <a:off x="1853543" y="2468880"/>
            <a:ext cx="0" cy="109728"/>
          </a:xfrm>
          <a:prstGeom prst="line">
            <a:avLst/>
          </a:prstGeom>
          <a:noFill/>
          <a:ln w="12700">
            <a:solidFill>
              <a:srgbClr val="6B5B46"/>
            </a:solidFill>
            <a:prstDash val="solid"/>
          </a:ln>
        </p:spPr>
      </p:sp>
      <p:sp>
        <p:nvSpPr>
          <p:cNvPr id="26" name="Text 23"/>
          <p:cNvSpPr/>
          <p:nvPr/>
        </p:nvSpPr>
        <p:spPr>
          <a:xfrm>
            <a:off x="1533503" y="2606040"/>
            <a:ext cx="640080" cy="228600"/>
          </a:xfrm>
          <a:prstGeom prst="rect">
            <a:avLst/>
          </a:prstGeom>
          <a:noFill/>
          <a:ln/>
        </p:spPr>
        <p:txBody>
          <a:bodyPr wrap="square" lIns="0" tIns="0" rIns="0" bIns="0" rtlCol="0" anchor="t"/>
          <a:lstStyle/>
          <a:p>
            <a:pPr algn="ctr" indent="0" marL="0">
              <a:buNone/>
            </a:pPr>
            <a:r>
              <a:rPr lang="en-US" sz="950" dirty="0">
                <a:solidFill>
                  <a:srgbClr val="6B5B46"/>
                </a:solidFill>
                <a:latin typeface="BIZ UDPゴシック" pitchFamily="34" charset="0"/>
                <a:ea typeface="BIZ UDPゴシック" pitchFamily="34" charset="-122"/>
                <a:cs typeface="BIZ UDPゴシック" pitchFamily="34" charset="-120"/>
              </a:rPr>
              <a:t>10:00</a:t>
            </a:r>
            <a:endParaRPr lang="en-US" sz="950" dirty="0"/>
          </a:p>
        </p:txBody>
      </p:sp>
      <p:sp>
        <p:nvSpPr>
          <p:cNvPr id="27" name="Shape 24"/>
          <p:cNvSpPr/>
          <p:nvPr/>
        </p:nvSpPr>
        <p:spPr>
          <a:xfrm>
            <a:off x="3158445" y="2468880"/>
            <a:ext cx="0" cy="109728"/>
          </a:xfrm>
          <a:prstGeom prst="line">
            <a:avLst/>
          </a:prstGeom>
          <a:noFill/>
          <a:ln w="12700">
            <a:solidFill>
              <a:srgbClr val="6B5B46"/>
            </a:solidFill>
            <a:prstDash val="solid"/>
          </a:ln>
        </p:spPr>
      </p:sp>
      <p:sp>
        <p:nvSpPr>
          <p:cNvPr id="28" name="Text 25"/>
          <p:cNvSpPr/>
          <p:nvPr/>
        </p:nvSpPr>
        <p:spPr>
          <a:xfrm>
            <a:off x="2838405" y="2606040"/>
            <a:ext cx="640080" cy="228600"/>
          </a:xfrm>
          <a:prstGeom prst="rect">
            <a:avLst/>
          </a:prstGeom>
          <a:noFill/>
          <a:ln/>
        </p:spPr>
        <p:txBody>
          <a:bodyPr wrap="square" lIns="0" tIns="0" rIns="0" bIns="0" rtlCol="0" anchor="t"/>
          <a:lstStyle/>
          <a:p>
            <a:pPr algn="ctr" indent="0" marL="0">
              <a:buNone/>
            </a:pPr>
            <a:r>
              <a:rPr lang="en-US" sz="950" dirty="0">
                <a:solidFill>
                  <a:srgbClr val="6B5B46"/>
                </a:solidFill>
                <a:latin typeface="BIZ UDPゴシック" pitchFamily="34" charset="0"/>
                <a:ea typeface="BIZ UDPゴシック" pitchFamily="34" charset="-122"/>
                <a:cs typeface="BIZ UDPゴシック" pitchFamily="34" charset="-120"/>
              </a:rPr>
              <a:t>11:00</a:t>
            </a:r>
            <a:endParaRPr lang="en-US" sz="950" dirty="0"/>
          </a:p>
        </p:txBody>
      </p:sp>
      <p:sp>
        <p:nvSpPr>
          <p:cNvPr id="29" name="Shape 26"/>
          <p:cNvSpPr/>
          <p:nvPr/>
        </p:nvSpPr>
        <p:spPr>
          <a:xfrm>
            <a:off x="4463348" y="2468880"/>
            <a:ext cx="0" cy="109728"/>
          </a:xfrm>
          <a:prstGeom prst="line">
            <a:avLst/>
          </a:prstGeom>
          <a:noFill/>
          <a:ln w="12700">
            <a:solidFill>
              <a:srgbClr val="6B5B46"/>
            </a:solidFill>
            <a:prstDash val="solid"/>
          </a:ln>
        </p:spPr>
      </p:sp>
      <p:sp>
        <p:nvSpPr>
          <p:cNvPr id="30" name="Text 27"/>
          <p:cNvSpPr/>
          <p:nvPr/>
        </p:nvSpPr>
        <p:spPr>
          <a:xfrm>
            <a:off x="4143308" y="2606040"/>
            <a:ext cx="640080" cy="228600"/>
          </a:xfrm>
          <a:prstGeom prst="rect">
            <a:avLst/>
          </a:prstGeom>
          <a:noFill/>
          <a:ln/>
        </p:spPr>
        <p:txBody>
          <a:bodyPr wrap="square" lIns="0" tIns="0" rIns="0" bIns="0" rtlCol="0" anchor="t"/>
          <a:lstStyle/>
          <a:p>
            <a:pPr algn="ctr" indent="0" marL="0">
              <a:buNone/>
            </a:pPr>
            <a:r>
              <a:rPr lang="en-US" sz="950" dirty="0">
                <a:solidFill>
                  <a:srgbClr val="6B5B46"/>
                </a:solidFill>
                <a:latin typeface="BIZ UDPゴシック" pitchFamily="34" charset="0"/>
                <a:ea typeface="BIZ UDPゴシック" pitchFamily="34" charset="-122"/>
                <a:cs typeface="BIZ UDPゴシック" pitchFamily="34" charset="-120"/>
              </a:rPr>
              <a:t>12:00</a:t>
            </a:r>
            <a:endParaRPr lang="en-US" sz="950" dirty="0"/>
          </a:p>
        </p:txBody>
      </p:sp>
      <p:sp>
        <p:nvSpPr>
          <p:cNvPr id="31" name="Shape 28"/>
          <p:cNvSpPr/>
          <p:nvPr/>
        </p:nvSpPr>
        <p:spPr>
          <a:xfrm>
            <a:off x="5768250" y="2468880"/>
            <a:ext cx="0" cy="109728"/>
          </a:xfrm>
          <a:prstGeom prst="line">
            <a:avLst/>
          </a:prstGeom>
          <a:noFill/>
          <a:ln w="12700">
            <a:solidFill>
              <a:srgbClr val="6B5B46"/>
            </a:solidFill>
            <a:prstDash val="solid"/>
          </a:ln>
        </p:spPr>
      </p:sp>
      <p:sp>
        <p:nvSpPr>
          <p:cNvPr id="32" name="Text 29"/>
          <p:cNvSpPr/>
          <p:nvPr/>
        </p:nvSpPr>
        <p:spPr>
          <a:xfrm>
            <a:off x="5448210" y="2606040"/>
            <a:ext cx="640080" cy="228600"/>
          </a:xfrm>
          <a:prstGeom prst="rect">
            <a:avLst/>
          </a:prstGeom>
          <a:noFill/>
          <a:ln/>
        </p:spPr>
        <p:txBody>
          <a:bodyPr wrap="square" lIns="0" tIns="0" rIns="0" bIns="0" rtlCol="0" anchor="t"/>
          <a:lstStyle/>
          <a:p>
            <a:pPr algn="ctr" indent="0" marL="0">
              <a:buNone/>
            </a:pPr>
            <a:r>
              <a:rPr lang="en-US" sz="950" dirty="0">
                <a:solidFill>
                  <a:srgbClr val="6B5B46"/>
                </a:solidFill>
                <a:latin typeface="BIZ UDPゴシック" pitchFamily="34" charset="0"/>
                <a:ea typeface="BIZ UDPゴシック" pitchFamily="34" charset="-122"/>
                <a:cs typeface="BIZ UDPゴシック" pitchFamily="34" charset="-120"/>
              </a:rPr>
              <a:t>13:00</a:t>
            </a:r>
            <a:endParaRPr lang="en-US" sz="950" dirty="0"/>
          </a:p>
        </p:txBody>
      </p:sp>
      <p:sp>
        <p:nvSpPr>
          <p:cNvPr id="33" name="Shape 30"/>
          <p:cNvSpPr/>
          <p:nvPr/>
        </p:nvSpPr>
        <p:spPr>
          <a:xfrm>
            <a:off x="7073153" y="2468880"/>
            <a:ext cx="0" cy="109728"/>
          </a:xfrm>
          <a:prstGeom prst="line">
            <a:avLst/>
          </a:prstGeom>
          <a:noFill/>
          <a:ln w="12700">
            <a:solidFill>
              <a:srgbClr val="6B5B46"/>
            </a:solidFill>
            <a:prstDash val="solid"/>
          </a:ln>
        </p:spPr>
      </p:sp>
      <p:sp>
        <p:nvSpPr>
          <p:cNvPr id="34" name="Text 31"/>
          <p:cNvSpPr/>
          <p:nvPr/>
        </p:nvSpPr>
        <p:spPr>
          <a:xfrm>
            <a:off x="6753113" y="2606040"/>
            <a:ext cx="640080" cy="228600"/>
          </a:xfrm>
          <a:prstGeom prst="rect">
            <a:avLst/>
          </a:prstGeom>
          <a:noFill/>
          <a:ln/>
        </p:spPr>
        <p:txBody>
          <a:bodyPr wrap="square" lIns="0" tIns="0" rIns="0" bIns="0" rtlCol="0" anchor="t"/>
          <a:lstStyle/>
          <a:p>
            <a:pPr algn="ctr" indent="0" marL="0">
              <a:buNone/>
            </a:pPr>
            <a:r>
              <a:rPr lang="en-US" sz="950" dirty="0">
                <a:solidFill>
                  <a:srgbClr val="6B5B46"/>
                </a:solidFill>
                <a:latin typeface="BIZ UDPゴシック" pitchFamily="34" charset="0"/>
                <a:ea typeface="BIZ UDPゴシック" pitchFamily="34" charset="-122"/>
                <a:cs typeface="BIZ UDPゴシック" pitchFamily="34" charset="-120"/>
              </a:rPr>
              <a:t>14:00</a:t>
            </a:r>
            <a:endParaRPr lang="en-US" sz="950" dirty="0"/>
          </a:p>
        </p:txBody>
      </p:sp>
      <p:sp>
        <p:nvSpPr>
          <p:cNvPr id="35" name="Shape 32"/>
          <p:cNvSpPr/>
          <p:nvPr/>
        </p:nvSpPr>
        <p:spPr>
          <a:xfrm>
            <a:off x="8378056" y="2468880"/>
            <a:ext cx="0" cy="109728"/>
          </a:xfrm>
          <a:prstGeom prst="line">
            <a:avLst/>
          </a:prstGeom>
          <a:noFill/>
          <a:ln w="12700">
            <a:solidFill>
              <a:srgbClr val="6B5B46"/>
            </a:solidFill>
            <a:prstDash val="solid"/>
          </a:ln>
        </p:spPr>
      </p:sp>
      <p:sp>
        <p:nvSpPr>
          <p:cNvPr id="36" name="Text 33"/>
          <p:cNvSpPr/>
          <p:nvPr/>
        </p:nvSpPr>
        <p:spPr>
          <a:xfrm>
            <a:off x="8058016" y="2606040"/>
            <a:ext cx="640080" cy="228600"/>
          </a:xfrm>
          <a:prstGeom prst="rect">
            <a:avLst/>
          </a:prstGeom>
          <a:noFill/>
          <a:ln/>
        </p:spPr>
        <p:txBody>
          <a:bodyPr wrap="square" lIns="0" tIns="0" rIns="0" bIns="0" rtlCol="0" anchor="t"/>
          <a:lstStyle/>
          <a:p>
            <a:pPr algn="ctr" indent="0" marL="0">
              <a:buNone/>
            </a:pPr>
            <a:r>
              <a:rPr lang="en-US" sz="950" dirty="0">
                <a:solidFill>
                  <a:srgbClr val="6B5B46"/>
                </a:solidFill>
                <a:latin typeface="BIZ UDPゴシック" pitchFamily="34" charset="0"/>
                <a:ea typeface="BIZ UDPゴシック" pitchFamily="34" charset="-122"/>
                <a:cs typeface="BIZ UDPゴシック" pitchFamily="34" charset="-120"/>
              </a:rPr>
              <a:t>15:00</a:t>
            </a:r>
            <a:endParaRPr lang="en-US" sz="950" dirty="0"/>
          </a:p>
        </p:txBody>
      </p:sp>
      <p:sp>
        <p:nvSpPr>
          <p:cNvPr id="37" name="Shape 34"/>
          <p:cNvSpPr/>
          <p:nvPr/>
        </p:nvSpPr>
        <p:spPr>
          <a:xfrm>
            <a:off x="9682958" y="2468880"/>
            <a:ext cx="0" cy="109728"/>
          </a:xfrm>
          <a:prstGeom prst="line">
            <a:avLst/>
          </a:prstGeom>
          <a:noFill/>
          <a:ln w="12700">
            <a:solidFill>
              <a:srgbClr val="6B5B46"/>
            </a:solidFill>
            <a:prstDash val="solid"/>
          </a:ln>
        </p:spPr>
      </p:sp>
      <p:sp>
        <p:nvSpPr>
          <p:cNvPr id="38" name="Text 35"/>
          <p:cNvSpPr/>
          <p:nvPr/>
        </p:nvSpPr>
        <p:spPr>
          <a:xfrm>
            <a:off x="9362918" y="2606040"/>
            <a:ext cx="640080" cy="228600"/>
          </a:xfrm>
          <a:prstGeom prst="rect">
            <a:avLst/>
          </a:prstGeom>
          <a:noFill/>
          <a:ln/>
        </p:spPr>
        <p:txBody>
          <a:bodyPr wrap="square" lIns="0" tIns="0" rIns="0" bIns="0" rtlCol="0" anchor="t"/>
          <a:lstStyle/>
          <a:p>
            <a:pPr algn="ctr" indent="0" marL="0">
              <a:buNone/>
            </a:pPr>
            <a:r>
              <a:rPr lang="en-US" sz="950" dirty="0">
                <a:solidFill>
                  <a:srgbClr val="6B5B46"/>
                </a:solidFill>
                <a:latin typeface="BIZ UDPゴシック" pitchFamily="34" charset="0"/>
                <a:ea typeface="BIZ UDPゴシック" pitchFamily="34" charset="-122"/>
                <a:cs typeface="BIZ UDPゴシック" pitchFamily="34" charset="-120"/>
              </a:rPr>
              <a:t>16:00</a:t>
            </a:r>
            <a:endParaRPr lang="en-US" sz="950" dirty="0"/>
          </a:p>
        </p:txBody>
      </p:sp>
      <p:sp>
        <p:nvSpPr>
          <p:cNvPr id="39" name="Shape 36"/>
          <p:cNvSpPr/>
          <p:nvPr/>
        </p:nvSpPr>
        <p:spPr>
          <a:xfrm>
            <a:off x="10987861" y="2468880"/>
            <a:ext cx="0" cy="109728"/>
          </a:xfrm>
          <a:prstGeom prst="line">
            <a:avLst/>
          </a:prstGeom>
          <a:noFill/>
          <a:ln w="12700">
            <a:solidFill>
              <a:srgbClr val="6B5B46"/>
            </a:solidFill>
            <a:prstDash val="solid"/>
          </a:ln>
        </p:spPr>
      </p:sp>
      <p:sp>
        <p:nvSpPr>
          <p:cNvPr id="40" name="Text 37"/>
          <p:cNvSpPr/>
          <p:nvPr/>
        </p:nvSpPr>
        <p:spPr>
          <a:xfrm>
            <a:off x="10667821" y="2606040"/>
            <a:ext cx="640080" cy="228600"/>
          </a:xfrm>
          <a:prstGeom prst="rect">
            <a:avLst/>
          </a:prstGeom>
          <a:noFill/>
          <a:ln/>
        </p:spPr>
        <p:txBody>
          <a:bodyPr wrap="square" lIns="0" tIns="0" rIns="0" bIns="0" rtlCol="0" anchor="t"/>
          <a:lstStyle/>
          <a:p>
            <a:pPr algn="ctr" indent="0" marL="0">
              <a:buNone/>
            </a:pPr>
            <a:r>
              <a:rPr lang="en-US" sz="950" dirty="0">
                <a:solidFill>
                  <a:srgbClr val="6B5B46"/>
                </a:solidFill>
                <a:latin typeface="BIZ UDPゴシック" pitchFamily="34" charset="0"/>
                <a:ea typeface="BIZ UDPゴシック" pitchFamily="34" charset="-122"/>
                <a:cs typeface="BIZ UDPゴシック" pitchFamily="34" charset="-120"/>
              </a:rPr>
              <a:t>17:00</a:t>
            </a:r>
            <a:endParaRPr lang="en-US" sz="950" dirty="0"/>
          </a:p>
        </p:txBody>
      </p:sp>
      <p:sp>
        <p:nvSpPr>
          <p:cNvPr id="41" name="Shape 38"/>
          <p:cNvSpPr/>
          <p:nvPr/>
        </p:nvSpPr>
        <p:spPr>
          <a:xfrm>
            <a:off x="548640" y="3108960"/>
            <a:ext cx="2651760" cy="3017520"/>
          </a:xfrm>
          <a:prstGeom prst="roundRect">
            <a:avLst>
              <a:gd name="adj" fmla="val 2759"/>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42" name="Shape 39"/>
          <p:cNvSpPr/>
          <p:nvPr/>
        </p:nvSpPr>
        <p:spPr>
          <a:xfrm>
            <a:off x="548640" y="3108960"/>
            <a:ext cx="2651760" cy="502920"/>
          </a:xfrm>
          <a:prstGeom prst="rect">
            <a:avLst/>
          </a:prstGeom>
          <a:solidFill>
            <a:srgbClr val="3F7A5C"/>
          </a:solidFill>
          <a:ln/>
        </p:spPr>
      </p:sp>
      <p:sp>
        <p:nvSpPr>
          <p:cNvPr id="43" name="Text 40"/>
          <p:cNvSpPr/>
          <p:nvPr/>
        </p:nvSpPr>
        <p:spPr>
          <a:xfrm>
            <a:off x="548640" y="3108960"/>
            <a:ext cx="26517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朝会</a:t>
            </a:r>
            <a:endParaRPr lang="en-US" sz="1500" dirty="0"/>
          </a:p>
        </p:txBody>
      </p:sp>
      <p:sp>
        <p:nvSpPr>
          <p:cNvPr id="44" name="Text 41"/>
          <p:cNvSpPr/>
          <p:nvPr/>
        </p:nvSpPr>
        <p:spPr>
          <a:xfrm>
            <a:off x="731520" y="3794760"/>
            <a:ext cx="2377440" cy="182880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昨日やったこと</a:t>
            </a:r>
            <a:endParaRPr lang="en-US" sz="1250" dirty="0"/>
          </a:p>
          <a:p>
            <a:pPr marL="177800" indent="-177800">
              <a:lnSpc>
                <a:spcPct val="105000"/>
              </a:lnSpc>
              <a:spcAft>
                <a:spcPts val="8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今日やること</a:t>
            </a:r>
            <a:endParaRPr lang="en-US" sz="1250" dirty="0"/>
          </a:p>
          <a:p>
            <a:pPr marL="177800" indent="-177800">
              <a:lnSpc>
                <a:spcPct val="105000"/>
              </a:lnSpc>
              <a:spcAft>
                <a:spcPts val="8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困っていること</a:t>
            </a:r>
            <a:endParaRPr lang="en-US" sz="1250" dirty="0"/>
          </a:p>
        </p:txBody>
      </p:sp>
      <p:sp>
        <p:nvSpPr>
          <p:cNvPr id="45" name="Text 42"/>
          <p:cNvSpPr/>
          <p:nvPr/>
        </p:nvSpPr>
        <p:spPr>
          <a:xfrm>
            <a:off x="731520" y="4892040"/>
            <a:ext cx="2377440" cy="365760"/>
          </a:xfrm>
          <a:prstGeom prst="rect">
            <a:avLst/>
          </a:prstGeom>
          <a:noFill/>
          <a:ln/>
        </p:spPr>
        <p:txBody>
          <a:bodyPr wrap="square" lIns="0" tIns="0" rIns="0" bIns="0" rtlCol="0" anchor="t"/>
          <a:lstStyle/>
          <a:p>
            <a:pPr indent="0" marL="0">
              <a:buNone/>
            </a:pPr>
            <a:r>
              <a:rPr lang="en-US" sz="1200" dirty="0">
                <a:solidFill>
                  <a:srgbClr val="6B5B46"/>
                </a:solidFill>
                <a:latin typeface="BIZ UDPゴシック" pitchFamily="34" charset="0"/>
                <a:ea typeface="BIZ UDPゴシック" pitchFamily="34" charset="-122"/>
                <a:cs typeface="BIZ UDPゴシック" pitchFamily="34" charset="-120"/>
              </a:rPr>
              <a:t>を全員で共有</a:t>
            </a:r>
            <a:endParaRPr lang="en-US" sz="1200" dirty="0"/>
          </a:p>
        </p:txBody>
      </p:sp>
      <p:sp>
        <p:nvSpPr>
          <p:cNvPr id="46" name="Shape 43"/>
          <p:cNvSpPr/>
          <p:nvPr/>
        </p:nvSpPr>
        <p:spPr>
          <a:xfrm>
            <a:off x="3364992" y="3108960"/>
            <a:ext cx="2651760" cy="3017520"/>
          </a:xfrm>
          <a:prstGeom prst="roundRect">
            <a:avLst>
              <a:gd name="adj" fmla="val 2759"/>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47" name="Shape 44"/>
          <p:cNvSpPr/>
          <p:nvPr/>
        </p:nvSpPr>
        <p:spPr>
          <a:xfrm>
            <a:off x="3364992" y="3108960"/>
            <a:ext cx="2651760" cy="502920"/>
          </a:xfrm>
          <a:prstGeom prst="rect">
            <a:avLst/>
          </a:prstGeom>
          <a:solidFill>
            <a:srgbClr val="45356B"/>
          </a:solidFill>
          <a:ln/>
        </p:spPr>
      </p:sp>
      <p:sp>
        <p:nvSpPr>
          <p:cNvPr id="48" name="Text 45"/>
          <p:cNvSpPr/>
          <p:nvPr/>
        </p:nvSpPr>
        <p:spPr>
          <a:xfrm>
            <a:off x="3364992" y="3108960"/>
            <a:ext cx="26517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開発</a:t>
            </a:r>
            <a:endParaRPr lang="en-US" sz="1500" dirty="0"/>
          </a:p>
        </p:txBody>
      </p:sp>
      <p:sp>
        <p:nvSpPr>
          <p:cNvPr id="49" name="Text 46"/>
          <p:cNvSpPr/>
          <p:nvPr/>
        </p:nvSpPr>
        <p:spPr>
          <a:xfrm>
            <a:off x="3547872" y="3794760"/>
            <a:ext cx="2377440" cy="182880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前提条件（md）を読ませたAIと実装</a:t>
            </a:r>
            <a:endParaRPr lang="en-US" sz="1250" dirty="0"/>
          </a:p>
          <a:p>
            <a:pPr marL="177800" indent="-177800">
              <a:lnSpc>
                <a:spcPct val="105000"/>
              </a:lnSpc>
              <a:spcAft>
                <a:spcPts val="8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ローカルで動作確認</a:t>
            </a:r>
            <a:endParaRPr lang="en-US" sz="1250" dirty="0"/>
          </a:p>
          <a:p>
            <a:pPr marL="177800" indent="-177800">
              <a:lnSpc>
                <a:spcPct val="105000"/>
              </a:lnSpc>
              <a:spcAft>
                <a:spcPts val="8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PRを作成</a:t>
            </a:r>
            <a:endParaRPr lang="en-US" sz="1250" dirty="0"/>
          </a:p>
        </p:txBody>
      </p:sp>
      <p:sp>
        <p:nvSpPr>
          <p:cNvPr id="50" name="Shape 47"/>
          <p:cNvSpPr/>
          <p:nvPr/>
        </p:nvSpPr>
        <p:spPr>
          <a:xfrm>
            <a:off x="6181344" y="3108960"/>
            <a:ext cx="2651760" cy="3017520"/>
          </a:xfrm>
          <a:prstGeom prst="roundRect">
            <a:avLst>
              <a:gd name="adj" fmla="val 2759"/>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51" name="Shape 48"/>
          <p:cNvSpPr/>
          <p:nvPr/>
        </p:nvSpPr>
        <p:spPr>
          <a:xfrm>
            <a:off x="6181344" y="3108960"/>
            <a:ext cx="2651760" cy="502920"/>
          </a:xfrm>
          <a:prstGeom prst="rect">
            <a:avLst/>
          </a:prstGeom>
          <a:solidFill>
            <a:srgbClr val="5F4C91"/>
          </a:solidFill>
          <a:ln/>
        </p:spPr>
      </p:sp>
      <p:sp>
        <p:nvSpPr>
          <p:cNvPr id="52" name="Text 49"/>
          <p:cNvSpPr/>
          <p:nvPr/>
        </p:nvSpPr>
        <p:spPr>
          <a:xfrm>
            <a:off x="6181344" y="3108960"/>
            <a:ext cx="26517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コードレビュー</a:t>
            </a:r>
            <a:endParaRPr lang="en-US" sz="1500" dirty="0"/>
          </a:p>
        </p:txBody>
      </p:sp>
      <p:sp>
        <p:nvSpPr>
          <p:cNvPr id="53" name="Text 50"/>
          <p:cNvSpPr/>
          <p:nvPr/>
        </p:nvSpPr>
        <p:spPr>
          <a:xfrm>
            <a:off x="6364224" y="3794760"/>
            <a:ext cx="2377440" cy="182880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最低1名がレビュー</a:t>
            </a:r>
            <a:endParaRPr lang="en-US" sz="1250" dirty="0"/>
          </a:p>
          <a:p>
            <a:pPr marL="177800" indent="-177800">
              <a:lnSpc>
                <a:spcPct val="105000"/>
              </a:lnSpc>
              <a:spcAft>
                <a:spcPts val="8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承認後に develop へマージ</a:t>
            </a:r>
            <a:endParaRPr lang="en-US" sz="1250" dirty="0"/>
          </a:p>
          <a:p>
            <a:pPr marL="177800" indent="-177800">
              <a:lnSpc>
                <a:spcPct val="105000"/>
              </a:lnSpc>
              <a:spcAft>
                <a:spcPts val="8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 開発環境へ自動デプロイ</a:t>
            </a:r>
            <a:endParaRPr lang="en-US" sz="1250" dirty="0"/>
          </a:p>
        </p:txBody>
      </p:sp>
      <p:sp>
        <p:nvSpPr>
          <p:cNvPr id="54" name="Shape 51"/>
          <p:cNvSpPr/>
          <p:nvPr/>
        </p:nvSpPr>
        <p:spPr>
          <a:xfrm>
            <a:off x="8997696" y="3108960"/>
            <a:ext cx="2651760" cy="3017520"/>
          </a:xfrm>
          <a:prstGeom prst="roundRect">
            <a:avLst>
              <a:gd name="adj" fmla="val 2759"/>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55" name="Shape 52"/>
          <p:cNvSpPr/>
          <p:nvPr/>
        </p:nvSpPr>
        <p:spPr>
          <a:xfrm>
            <a:off x="8997696" y="3108960"/>
            <a:ext cx="2651760" cy="502920"/>
          </a:xfrm>
          <a:prstGeom prst="rect">
            <a:avLst/>
          </a:prstGeom>
          <a:solidFill>
            <a:srgbClr val="B8862B"/>
          </a:solidFill>
          <a:ln/>
        </p:spPr>
      </p:sp>
      <p:sp>
        <p:nvSpPr>
          <p:cNvPr id="56" name="Text 53"/>
          <p:cNvSpPr/>
          <p:nvPr/>
        </p:nvSpPr>
        <p:spPr>
          <a:xfrm>
            <a:off x="8997696" y="3108960"/>
            <a:ext cx="26517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夕会</a:t>
            </a:r>
            <a:endParaRPr lang="en-US" sz="1500" dirty="0"/>
          </a:p>
        </p:txBody>
      </p:sp>
      <p:sp>
        <p:nvSpPr>
          <p:cNvPr id="57" name="Text 54"/>
          <p:cNvSpPr/>
          <p:nvPr/>
        </p:nvSpPr>
        <p:spPr>
          <a:xfrm>
            <a:off x="9180576" y="3794760"/>
            <a:ext cx="2377440" cy="182880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進捗と課題を共有</a:t>
            </a:r>
            <a:endParaRPr lang="en-US" sz="1250" dirty="0"/>
          </a:p>
          <a:p>
            <a:pPr marL="177800" indent="-177800">
              <a:lnSpc>
                <a:spcPct val="105000"/>
              </a:lnSpc>
              <a:spcAft>
                <a:spcPts val="8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翌日の作業と担当を決める</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02 PROCESS</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トレードオフスライダー</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02 開発プロセス・協働</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16</a:t>
            </a:r>
            <a:endParaRPr lang="en-US" sz="900" dirty="0"/>
          </a:p>
        </p:txBody>
      </p:sp>
      <p:sp>
        <p:nvSpPr>
          <p:cNvPr id="11" name="Shape 8"/>
          <p:cNvSpPr/>
          <p:nvPr/>
        </p:nvSpPr>
        <p:spPr>
          <a:xfrm rot="120000">
            <a:off x="9464040" y="274320"/>
            <a:ext cx="2194560" cy="566928"/>
          </a:xfrm>
          <a:prstGeom prst="rect">
            <a:avLst/>
          </a:prstGeom>
          <a:solidFill>
            <a:srgbClr val="FFF2A8"/>
          </a:solidFill>
          <a:ln w="12700">
            <a:solidFill>
              <a:srgbClr val="D9C25A"/>
            </a:solidFill>
            <a:prstDash val="solid"/>
          </a:ln>
          <a:effectLst>
            <a:outerShdw sx="100000" sy="100000" kx="0" ky="0" algn="bl" rotWithShape="0" blurRad="25400" dist="25400" dir="2700000">
              <a:srgbClr val="000000">
                <a:alpha val="20000"/>
              </a:srgbClr>
            </a:outerShdw>
          </a:effectLst>
        </p:spPr>
      </p:sp>
      <p:sp>
        <p:nvSpPr>
          <p:cNvPr id="12" name="Text 9"/>
          <p:cNvSpPr/>
          <p:nvPr/>
        </p:nvSpPr>
        <p:spPr>
          <a:xfrm rot="120000">
            <a:off x="9555480" y="301752"/>
            <a:ext cx="2011680" cy="512064"/>
          </a:xfrm>
          <a:prstGeom prst="rect">
            <a:avLst/>
          </a:prstGeom>
          <a:noFill/>
          <a:ln/>
        </p:spPr>
        <p:txBody>
          <a:bodyPr wrap="square" lIns="0" tIns="0" rIns="0" bIns="0" rtlCol="0" anchor="ctr"/>
          <a:lstStyle/>
          <a:p>
            <a:pPr indent="0" marL="0">
              <a:buNone/>
            </a:pPr>
            <a:r>
              <a:rPr lang="en-US" sz="1000" b="1" dirty="0">
                <a:solidFill>
                  <a:srgbClr val="6B5600"/>
                </a:solidFill>
                <a:latin typeface="BIZ UDPゴシック" pitchFamily="34" charset="0"/>
                <a:ea typeface="BIZ UDPゴシック" pitchFamily="34" charset="-122"/>
                <a:cs typeface="BIZ UDPゴシック" pitchFamily="34" charset="-120"/>
              </a:rPr>
              <a:t>要編集：項目とつまみの位置を</a:t>
            </a:r>
            <a:endParaRPr lang="en-US" sz="1000" dirty="0"/>
          </a:p>
          <a:p>
            <a:pPr indent="0" marL="0">
              <a:buNone/>
            </a:pPr>
            <a:r>
              <a:rPr lang="en-US" sz="1000" b="1" dirty="0">
                <a:solidFill>
                  <a:srgbClr val="6B5600"/>
                </a:solidFill>
                <a:latin typeface="BIZ UDPゴシック" pitchFamily="34" charset="0"/>
                <a:ea typeface="BIZ UDPゴシック" pitchFamily="34" charset="-122"/>
                <a:cs typeface="BIZ UDPゴシック" pitchFamily="34" charset="-120"/>
              </a:rPr>
              <a:t>チームの合意内容に修正</a:t>
            </a:r>
            <a:endParaRPr lang="en-US" sz="1000" dirty="0"/>
          </a:p>
        </p:txBody>
      </p:sp>
      <p:sp>
        <p:nvSpPr>
          <p:cNvPr id="13" name="Text 10"/>
          <p:cNvSpPr/>
          <p:nvPr/>
        </p:nvSpPr>
        <p:spPr>
          <a:xfrm>
            <a:off x="548640" y="1371600"/>
            <a:ext cx="8686800" cy="365760"/>
          </a:xfrm>
          <a:prstGeom prst="rect">
            <a:avLst/>
          </a:prstGeom>
          <a:noFill/>
          <a:ln/>
        </p:spPr>
        <p:txBody>
          <a:bodyPr wrap="square" lIns="0" tIns="0" rIns="0" bIns="0" rtlCol="0" anchor="t"/>
          <a:lstStyle/>
          <a:p>
            <a:pPr indent="0" marL="0">
              <a:buNone/>
            </a:pPr>
            <a:r>
              <a:rPr lang="en-US" sz="1400" dirty="0">
                <a:solidFill>
                  <a:srgbClr val="6B5B46"/>
                </a:solidFill>
                <a:latin typeface="BIZ UDPゴシック" pitchFamily="34" charset="0"/>
                <a:ea typeface="BIZ UDPゴシック" pitchFamily="34" charset="-122"/>
                <a:cs typeface="BIZ UDPゴシック" pitchFamily="34" charset="-120"/>
              </a:rPr>
              <a:t>プロジェクトで「何を優先するか」をチームで合意し、迷ったときの判断基準にした</a:t>
            </a:r>
            <a:endParaRPr lang="en-US" sz="1400" dirty="0"/>
          </a:p>
        </p:txBody>
      </p:sp>
      <p:sp>
        <p:nvSpPr>
          <p:cNvPr id="14" name="Text 11"/>
          <p:cNvSpPr/>
          <p:nvPr/>
        </p:nvSpPr>
        <p:spPr>
          <a:xfrm>
            <a:off x="3291840" y="1810512"/>
            <a:ext cx="1097280" cy="274320"/>
          </a:xfrm>
          <a:prstGeom prst="rect">
            <a:avLst/>
          </a:prstGeom>
          <a:noFill/>
          <a:ln/>
        </p:spPr>
        <p:txBody>
          <a:bodyPr wrap="square" lIns="0" tIns="0" rIns="0" bIns="0" rtlCol="0" anchor="t"/>
          <a:lstStyle/>
          <a:p>
            <a:pPr algn="ctr" indent="0" marL="0">
              <a:buNone/>
            </a:pPr>
            <a:r>
              <a:rPr lang="en-US" sz="1100" b="1" dirty="0">
                <a:solidFill>
                  <a:srgbClr val="6B5B46"/>
                </a:solidFill>
                <a:latin typeface="BIZ UDPゴシック" pitchFamily="34" charset="0"/>
                <a:ea typeface="BIZ UDPゴシック" pitchFamily="34" charset="-122"/>
                <a:cs typeface="BIZ UDPゴシック" pitchFamily="34" charset="-120"/>
              </a:rPr>
              <a:t>ゆずれる</a:t>
            </a:r>
            <a:endParaRPr lang="en-US" sz="1100" dirty="0"/>
          </a:p>
        </p:txBody>
      </p:sp>
      <p:sp>
        <p:nvSpPr>
          <p:cNvPr id="15" name="Text 12"/>
          <p:cNvSpPr/>
          <p:nvPr/>
        </p:nvSpPr>
        <p:spPr>
          <a:xfrm>
            <a:off x="8138160" y="1810512"/>
            <a:ext cx="1463040" cy="274320"/>
          </a:xfrm>
          <a:prstGeom prst="rect">
            <a:avLst/>
          </a:prstGeom>
          <a:noFill/>
          <a:ln/>
        </p:spPr>
        <p:txBody>
          <a:bodyPr wrap="square" lIns="0" tIns="0" rIns="0" bIns="0" rtlCol="0" anchor="t"/>
          <a:lstStyle/>
          <a:p>
            <a:pPr algn="ctr" indent="0" marL="0">
              <a:buNone/>
            </a:pPr>
            <a:r>
              <a:rPr lang="en-US" sz="1100" b="1" dirty="0">
                <a:solidFill>
                  <a:srgbClr val="B3372B"/>
                </a:solidFill>
                <a:latin typeface="BIZ UDPゴシック" pitchFamily="34" charset="0"/>
                <a:ea typeface="BIZ UDPゴシック" pitchFamily="34" charset="-122"/>
                <a:cs typeface="BIZ UDPゴシック" pitchFamily="34" charset="-120"/>
              </a:rPr>
              <a:t>ゆずれない</a:t>
            </a:r>
            <a:endParaRPr lang="en-US" sz="1100" dirty="0"/>
          </a:p>
        </p:txBody>
      </p:sp>
      <p:sp>
        <p:nvSpPr>
          <p:cNvPr id="16" name="Shape 13"/>
          <p:cNvSpPr/>
          <p:nvPr/>
        </p:nvSpPr>
        <p:spPr>
          <a:xfrm>
            <a:off x="548640" y="2240280"/>
            <a:ext cx="2880360" cy="658368"/>
          </a:xfrm>
          <a:prstGeom prst="roundRect">
            <a:avLst>
              <a:gd name="adj" fmla="val 11111"/>
            </a:avLst>
          </a:prstGeom>
          <a:solidFill>
            <a:srgbClr val="FFFCF4"/>
          </a:solidFill>
          <a:ln w="15875">
            <a:solidFill>
              <a:srgbClr val="5C4430"/>
            </a:solidFill>
            <a:prstDash val="solid"/>
          </a:ln>
        </p:spPr>
      </p:sp>
      <p:sp>
        <p:nvSpPr>
          <p:cNvPr id="17" name="Text 14"/>
          <p:cNvSpPr/>
          <p:nvPr/>
        </p:nvSpPr>
        <p:spPr>
          <a:xfrm>
            <a:off x="731520" y="2295144"/>
            <a:ext cx="2651760" cy="310896"/>
          </a:xfrm>
          <a:prstGeom prst="rect">
            <a:avLst/>
          </a:prstGeom>
          <a:noFill/>
          <a:ln/>
        </p:spPr>
        <p:txBody>
          <a:bodyPr wrap="square" lIns="0" tIns="0" rIns="0" bIns="0" rtlCol="0" anchor="t"/>
          <a:lstStyle/>
          <a:p>
            <a:pPr indent="0" marL="0">
              <a:buNone/>
            </a:pPr>
            <a:r>
              <a:rPr lang="en-US" sz="1400" b="1" dirty="0">
                <a:solidFill>
                  <a:srgbClr val="45356B"/>
                </a:solidFill>
                <a:latin typeface="BIZ UDPゴシック" pitchFamily="34" charset="0"/>
                <a:ea typeface="BIZ UDPゴシック" pitchFamily="34" charset="-122"/>
                <a:cs typeface="BIZ UDPゴシック" pitchFamily="34" charset="-120"/>
              </a:rPr>
              <a:t>期限を守る</a:t>
            </a:r>
            <a:endParaRPr lang="en-US" sz="1400" dirty="0"/>
          </a:p>
        </p:txBody>
      </p:sp>
      <p:sp>
        <p:nvSpPr>
          <p:cNvPr id="18" name="Text 15"/>
          <p:cNvSpPr/>
          <p:nvPr/>
        </p:nvSpPr>
        <p:spPr>
          <a:xfrm>
            <a:off x="731520" y="2587752"/>
            <a:ext cx="2651760" cy="274320"/>
          </a:xfrm>
          <a:prstGeom prst="rect">
            <a:avLst/>
          </a:prstGeom>
          <a:noFill/>
          <a:ln/>
        </p:spPr>
        <p:txBody>
          <a:bodyPr wrap="square" lIns="0" tIns="0" rIns="0" bIns="0" rtlCol="0" anchor="t"/>
          <a:lstStyle/>
          <a:p>
            <a:pPr indent="0" marL="0">
              <a:buNone/>
            </a:pPr>
            <a:r>
              <a:rPr lang="en-US" sz="1000" dirty="0">
                <a:solidFill>
                  <a:srgbClr val="6B5B46"/>
                </a:solidFill>
                <a:latin typeface="BIZ UDPゴシック" pitchFamily="34" charset="0"/>
                <a:ea typeface="BIZ UDPゴシック" pitchFamily="34" charset="-122"/>
                <a:cs typeface="BIZ UDPゴシック" pitchFamily="34" charset="-120"/>
              </a:rPr>
              <a:t>発表日に動くものを見せる</a:t>
            </a:r>
            <a:endParaRPr lang="en-US" sz="1000" dirty="0"/>
          </a:p>
        </p:txBody>
      </p:sp>
      <p:sp>
        <p:nvSpPr>
          <p:cNvPr id="19" name="Shape 16"/>
          <p:cNvSpPr/>
          <p:nvPr/>
        </p:nvSpPr>
        <p:spPr>
          <a:xfrm>
            <a:off x="3657600" y="2532888"/>
            <a:ext cx="5212080" cy="91440"/>
          </a:xfrm>
          <a:prstGeom prst="rect">
            <a:avLst/>
          </a:prstGeom>
          <a:solidFill>
            <a:srgbClr val="DCC48A"/>
          </a:solidFill>
          <a:ln/>
        </p:spPr>
      </p:sp>
      <p:sp>
        <p:nvSpPr>
          <p:cNvPr id="20" name="Shape 17"/>
          <p:cNvSpPr/>
          <p:nvPr/>
        </p:nvSpPr>
        <p:spPr>
          <a:xfrm>
            <a:off x="3593592" y="2514600"/>
            <a:ext cx="128016" cy="128016"/>
          </a:xfrm>
          <a:prstGeom prst="ellipse">
            <a:avLst/>
          </a:prstGeom>
          <a:solidFill>
            <a:srgbClr val="FFFFFF"/>
          </a:solidFill>
          <a:ln w="12700">
            <a:solidFill>
              <a:srgbClr val="B8862B"/>
            </a:solidFill>
            <a:prstDash val="solid"/>
          </a:ln>
        </p:spPr>
      </p:sp>
      <p:sp>
        <p:nvSpPr>
          <p:cNvPr id="21" name="Shape 18"/>
          <p:cNvSpPr/>
          <p:nvPr/>
        </p:nvSpPr>
        <p:spPr>
          <a:xfrm>
            <a:off x="4896612" y="2514600"/>
            <a:ext cx="128016" cy="128016"/>
          </a:xfrm>
          <a:prstGeom prst="ellipse">
            <a:avLst/>
          </a:prstGeom>
          <a:solidFill>
            <a:srgbClr val="FFFFFF"/>
          </a:solidFill>
          <a:ln w="12700">
            <a:solidFill>
              <a:srgbClr val="B8862B"/>
            </a:solidFill>
            <a:prstDash val="solid"/>
          </a:ln>
        </p:spPr>
      </p:sp>
      <p:sp>
        <p:nvSpPr>
          <p:cNvPr id="22" name="Shape 19"/>
          <p:cNvSpPr/>
          <p:nvPr/>
        </p:nvSpPr>
        <p:spPr>
          <a:xfrm>
            <a:off x="6199632" y="2514600"/>
            <a:ext cx="128016" cy="128016"/>
          </a:xfrm>
          <a:prstGeom prst="ellipse">
            <a:avLst/>
          </a:prstGeom>
          <a:solidFill>
            <a:srgbClr val="FFFFFF"/>
          </a:solidFill>
          <a:ln w="12700">
            <a:solidFill>
              <a:srgbClr val="B8862B"/>
            </a:solidFill>
            <a:prstDash val="solid"/>
          </a:ln>
        </p:spPr>
      </p:sp>
      <p:sp>
        <p:nvSpPr>
          <p:cNvPr id="23" name="Shape 20"/>
          <p:cNvSpPr/>
          <p:nvPr/>
        </p:nvSpPr>
        <p:spPr>
          <a:xfrm>
            <a:off x="7502652" y="2514600"/>
            <a:ext cx="128016" cy="128016"/>
          </a:xfrm>
          <a:prstGeom prst="ellipse">
            <a:avLst/>
          </a:prstGeom>
          <a:solidFill>
            <a:srgbClr val="FFFFFF"/>
          </a:solidFill>
          <a:ln w="12700">
            <a:solidFill>
              <a:srgbClr val="B8862B"/>
            </a:solidFill>
            <a:prstDash val="solid"/>
          </a:ln>
        </p:spPr>
      </p:sp>
      <p:sp>
        <p:nvSpPr>
          <p:cNvPr id="24" name="Shape 21"/>
          <p:cNvSpPr/>
          <p:nvPr/>
        </p:nvSpPr>
        <p:spPr>
          <a:xfrm>
            <a:off x="8805672" y="2514600"/>
            <a:ext cx="128016" cy="128016"/>
          </a:xfrm>
          <a:prstGeom prst="ellipse">
            <a:avLst/>
          </a:prstGeom>
          <a:solidFill>
            <a:srgbClr val="FFFFFF"/>
          </a:solidFill>
          <a:ln w="12700">
            <a:solidFill>
              <a:srgbClr val="B8862B"/>
            </a:solidFill>
            <a:prstDash val="solid"/>
          </a:ln>
        </p:spPr>
      </p:sp>
      <p:sp>
        <p:nvSpPr>
          <p:cNvPr id="25" name="Shape 22"/>
          <p:cNvSpPr/>
          <p:nvPr/>
        </p:nvSpPr>
        <p:spPr>
          <a:xfrm>
            <a:off x="3657600" y="2532888"/>
            <a:ext cx="5212080" cy="91440"/>
          </a:xfrm>
          <a:prstGeom prst="rect">
            <a:avLst/>
          </a:prstGeom>
          <a:solidFill>
            <a:srgbClr val="B8862B"/>
          </a:solidFill>
          <a:ln/>
        </p:spPr>
      </p:sp>
      <p:sp>
        <p:nvSpPr>
          <p:cNvPr id="26" name="Shape 23"/>
          <p:cNvSpPr/>
          <p:nvPr/>
        </p:nvSpPr>
        <p:spPr>
          <a:xfrm>
            <a:off x="8668512" y="2377440"/>
            <a:ext cx="402336" cy="402336"/>
          </a:xfrm>
          <a:prstGeom prst="ellipse">
            <a:avLst/>
          </a:prstGeom>
          <a:solidFill>
            <a:srgbClr val="45356B"/>
          </a:solidFill>
          <a:ln w="25400">
            <a:solidFill>
              <a:srgbClr val="FFFFFF"/>
            </a:solidFill>
            <a:prstDash val="solid"/>
          </a:ln>
          <a:effectLst>
            <a:outerShdw sx="100000" sy="100000" kx="0" ky="0" algn="bl" rotWithShape="0" blurRad="101600" dist="38100" dir="2700000">
              <a:srgbClr val="5C4430">
                <a:alpha val="30000"/>
              </a:srgbClr>
            </a:outerShdw>
          </a:effectLst>
        </p:spPr>
      </p:sp>
      <p:sp>
        <p:nvSpPr>
          <p:cNvPr id="27" name="Text 24"/>
          <p:cNvSpPr/>
          <p:nvPr/>
        </p:nvSpPr>
        <p:spPr>
          <a:xfrm>
            <a:off x="8668512" y="23774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5</a:t>
            </a:r>
            <a:endParaRPr lang="en-US" sz="1100" dirty="0"/>
          </a:p>
        </p:txBody>
      </p:sp>
      <p:sp>
        <p:nvSpPr>
          <p:cNvPr id="28" name="Shape 25"/>
          <p:cNvSpPr/>
          <p:nvPr/>
        </p:nvSpPr>
        <p:spPr>
          <a:xfrm>
            <a:off x="548640" y="3026664"/>
            <a:ext cx="2880360" cy="658368"/>
          </a:xfrm>
          <a:prstGeom prst="roundRect">
            <a:avLst>
              <a:gd name="adj" fmla="val 11111"/>
            </a:avLst>
          </a:prstGeom>
          <a:solidFill>
            <a:srgbClr val="FFFCF4"/>
          </a:solidFill>
          <a:ln w="15875">
            <a:solidFill>
              <a:srgbClr val="5C4430"/>
            </a:solidFill>
            <a:prstDash val="solid"/>
          </a:ln>
        </p:spPr>
      </p:sp>
      <p:sp>
        <p:nvSpPr>
          <p:cNvPr id="29" name="Text 26"/>
          <p:cNvSpPr/>
          <p:nvPr/>
        </p:nvSpPr>
        <p:spPr>
          <a:xfrm>
            <a:off x="731520" y="3081528"/>
            <a:ext cx="2651760" cy="310896"/>
          </a:xfrm>
          <a:prstGeom prst="rect">
            <a:avLst/>
          </a:prstGeom>
          <a:noFill/>
          <a:ln/>
        </p:spPr>
        <p:txBody>
          <a:bodyPr wrap="square" lIns="0" tIns="0" rIns="0" bIns="0" rtlCol="0" anchor="t"/>
          <a:lstStyle/>
          <a:p>
            <a:pPr indent="0" marL="0">
              <a:buNone/>
            </a:pPr>
            <a:r>
              <a:rPr lang="en-US" sz="1400" b="1" dirty="0">
                <a:solidFill>
                  <a:srgbClr val="45356B"/>
                </a:solidFill>
                <a:latin typeface="BIZ UDPゴシック" pitchFamily="34" charset="0"/>
                <a:ea typeface="BIZ UDPゴシック" pitchFamily="34" charset="-122"/>
                <a:cs typeface="BIZ UDPゴシック" pitchFamily="34" charset="-120"/>
              </a:rPr>
              <a:t>使いやすさ</a:t>
            </a:r>
            <a:endParaRPr lang="en-US" sz="1400" dirty="0"/>
          </a:p>
        </p:txBody>
      </p:sp>
      <p:sp>
        <p:nvSpPr>
          <p:cNvPr id="30" name="Text 27"/>
          <p:cNvSpPr/>
          <p:nvPr/>
        </p:nvSpPr>
        <p:spPr>
          <a:xfrm>
            <a:off x="731520" y="3374136"/>
            <a:ext cx="2651760" cy="274320"/>
          </a:xfrm>
          <a:prstGeom prst="rect">
            <a:avLst/>
          </a:prstGeom>
          <a:noFill/>
          <a:ln/>
        </p:spPr>
        <p:txBody>
          <a:bodyPr wrap="square" lIns="0" tIns="0" rIns="0" bIns="0" rtlCol="0" anchor="t"/>
          <a:lstStyle/>
          <a:p>
            <a:pPr indent="0" marL="0">
              <a:buNone/>
            </a:pPr>
            <a:r>
              <a:rPr lang="en-US" sz="1000" dirty="0">
                <a:solidFill>
                  <a:srgbClr val="6B5B46"/>
                </a:solidFill>
                <a:latin typeface="BIZ UDPゴシック" pitchFamily="34" charset="0"/>
                <a:ea typeface="BIZ UDPゴシック" pitchFamily="34" charset="-122"/>
                <a:cs typeface="BIZ UDPゴシック" pitchFamily="34" charset="-120"/>
              </a:rPr>
              <a:t>散歩しながら迷わず使える</a:t>
            </a:r>
            <a:endParaRPr lang="en-US" sz="1000" dirty="0"/>
          </a:p>
        </p:txBody>
      </p:sp>
      <p:sp>
        <p:nvSpPr>
          <p:cNvPr id="31" name="Shape 28"/>
          <p:cNvSpPr/>
          <p:nvPr/>
        </p:nvSpPr>
        <p:spPr>
          <a:xfrm>
            <a:off x="3657600" y="3319272"/>
            <a:ext cx="5212080" cy="91440"/>
          </a:xfrm>
          <a:prstGeom prst="rect">
            <a:avLst/>
          </a:prstGeom>
          <a:solidFill>
            <a:srgbClr val="DCC48A"/>
          </a:solidFill>
          <a:ln/>
        </p:spPr>
      </p:sp>
      <p:sp>
        <p:nvSpPr>
          <p:cNvPr id="32" name="Shape 29"/>
          <p:cNvSpPr/>
          <p:nvPr/>
        </p:nvSpPr>
        <p:spPr>
          <a:xfrm>
            <a:off x="3593592" y="3300984"/>
            <a:ext cx="128016" cy="128016"/>
          </a:xfrm>
          <a:prstGeom prst="ellipse">
            <a:avLst/>
          </a:prstGeom>
          <a:solidFill>
            <a:srgbClr val="FFFFFF"/>
          </a:solidFill>
          <a:ln w="12700">
            <a:solidFill>
              <a:srgbClr val="B8862B"/>
            </a:solidFill>
            <a:prstDash val="solid"/>
          </a:ln>
        </p:spPr>
      </p:sp>
      <p:sp>
        <p:nvSpPr>
          <p:cNvPr id="33" name="Shape 30"/>
          <p:cNvSpPr/>
          <p:nvPr/>
        </p:nvSpPr>
        <p:spPr>
          <a:xfrm>
            <a:off x="4896612" y="3300984"/>
            <a:ext cx="128016" cy="128016"/>
          </a:xfrm>
          <a:prstGeom prst="ellipse">
            <a:avLst/>
          </a:prstGeom>
          <a:solidFill>
            <a:srgbClr val="FFFFFF"/>
          </a:solidFill>
          <a:ln w="12700">
            <a:solidFill>
              <a:srgbClr val="B8862B"/>
            </a:solidFill>
            <a:prstDash val="solid"/>
          </a:ln>
        </p:spPr>
      </p:sp>
      <p:sp>
        <p:nvSpPr>
          <p:cNvPr id="34" name="Shape 31"/>
          <p:cNvSpPr/>
          <p:nvPr/>
        </p:nvSpPr>
        <p:spPr>
          <a:xfrm>
            <a:off x="6199632" y="3300984"/>
            <a:ext cx="128016" cy="128016"/>
          </a:xfrm>
          <a:prstGeom prst="ellipse">
            <a:avLst/>
          </a:prstGeom>
          <a:solidFill>
            <a:srgbClr val="FFFFFF"/>
          </a:solidFill>
          <a:ln w="12700">
            <a:solidFill>
              <a:srgbClr val="B8862B"/>
            </a:solidFill>
            <a:prstDash val="solid"/>
          </a:ln>
        </p:spPr>
      </p:sp>
      <p:sp>
        <p:nvSpPr>
          <p:cNvPr id="35" name="Shape 32"/>
          <p:cNvSpPr/>
          <p:nvPr/>
        </p:nvSpPr>
        <p:spPr>
          <a:xfrm>
            <a:off x="7502652" y="3300984"/>
            <a:ext cx="128016" cy="128016"/>
          </a:xfrm>
          <a:prstGeom prst="ellipse">
            <a:avLst/>
          </a:prstGeom>
          <a:solidFill>
            <a:srgbClr val="FFFFFF"/>
          </a:solidFill>
          <a:ln w="12700">
            <a:solidFill>
              <a:srgbClr val="B8862B"/>
            </a:solidFill>
            <a:prstDash val="solid"/>
          </a:ln>
        </p:spPr>
      </p:sp>
      <p:sp>
        <p:nvSpPr>
          <p:cNvPr id="36" name="Shape 33"/>
          <p:cNvSpPr/>
          <p:nvPr/>
        </p:nvSpPr>
        <p:spPr>
          <a:xfrm>
            <a:off x="8805672" y="3300984"/>
            <a:ext cx="128016" cy="128016"/>
          </a:xfrm>
          <a:prstGeom prst="ellipse">
            <a:avLst/>
          </a:prstGeom>
          <a:solidFill>
            <a:srgbClr val="FFFFFF"/>
          </a:solidFill>
          <a:ln w="12700">
            <a:solidFill>
              <a:srgbClr val="B8862B"/>
            </a:solidFill>
            <a:prstDash val="solid"/>
          </a:ln>
        </p:spPr>
      </p:sp>
      <p:sp>
        <p:nvSpPr>
          <p:cNvPr id="37" name="Shape 34"/>
          <p:cNvSpPr/>
          <p:nvPr/>
        </p:nvSpPr>
        <p:spPr>
          <a:xfrm>
            <a:off x="3657600" y="3319272"/>
            <a:ext cx="3909060" cy="91440"/>
          </a:xfrm>
          <a:prstGeom prst="rect">
            <a:avLst/>
          </a:prstGeom>
          <a:solidFill>
            <a:srgbClr val="B8862B"/>
          </a:solidFill>
          <a:ln/>
        </p:spPr>
      </p:sp>
      <p:sp>
        <p:nvSpPr>
          <p:cNvPr id="38" name="Shape 35"/>
          <p:cNvSpPr/>
          <p:nvPr/>
        </p:nvSpPr>
        <p:spPr>
          <a:xfrm>
            <a:off x="7365492" y="3163824"/>
            <a:ext cx="402336" cy="402336"/>
          </a:xfrm>
          <a:prstGeom prst="ellipse">
            <a:avLst/>
          </a:prstGeom>
          <a:solidFill>
            <a:srgbClr val="45356B"/>
          </a:solidFill>
          <a:ln w="25400">
            <a:solidFill>
              <a:srgbClr val="FFFFFF"/>
            </a:solidFill>
            <a:prstDash val="solid"/>
          </a:ln>
          <a:effectLst>
            <a:outerShdw sx="100000" sy="100000" kx="0" ky="0" algn="bl" rotWithShape="0" blurRad="101600" dist="38100" dir="2700000">
              <a:srgbClr val="5C4430">
                <a:alpha val="30000"/>
              </a:srgbClr>
            </a:outerShdw>
          </a:effectLst>
        </p:spPr>
      </p:sp>
      <p:sp>
        <p:nvSpPr>
          <p:cNvPr id="39" name="Text 36"/>
          <p:cNvSpPr/>
          <p:nvPr/>
        </p:nvSpPr>
        <p:spPr>
          <a:xfrm>
            <a:off x="7365492" y="316382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4</a:t>
            </a:r>
            <a:endParaRPr lang="en-US" sz="1100" dirty="0"/>
          </a:p>
        </p:txBody>
      </p:sp>
      <p:sp>
        <p:nvSpPr>
          <p:cNvPr id="40" name="Shape 37"/>
          <p:cNvSpPr/>
          <p:nvPr/>
        </p:nvSpPr>
        <p:spPr>
          <a:xfrm>
            <a:off x="548640" y="3813048"/>
            <a:ext cx="2880360" cy="658368"/>
          </a:xfrm>
          <a:prstGeom prst="roundRect">
            <a:avLst>
              <a:gd name="adj" fmla="val 11111"/>
            </a:avLst>
          </a:prstGeom>
          <a:solidFill>
            <a:srgbClr val="FFFCF4"/>
          </a:solidFill>
          <a:ln w="15875">
            <a:solidFill>
              <a:srgbClr val="5C4430"/>
            </a:solidFill>
            <a:prstDash val="solid"/>
          </a:ln>
        </p:spPr>
      </p:sp>
      <p:sp>
        <p:nvSpPr>
          <p:cNvPr id="41" name="Text 38"/>
          <p:cNvSpPr/>
          <p:nvPr/>
        </p:nvSpPr>
        <p:spPr>
          <a:xfrm>
            <a:off x="731520" y="3867912"/>
            <a:ext cx="2651760" cy="310896"/>
          </a:xfrm>
          <a:prstGeom prst="rect">
            <a:avLst/>
          </a:prstGeom>
          <a:noFill/>
          <a:ln/>
        </p:spPr>
        <p:txBody>
          <a:bodyPr wrap="square" lIns="0" tIns="0" rIns="0" bIns="0" rtlCol="0" anchor="t"/>
          <a:lstStyle/>
          <a:p>
            <a:pPr indent="0" marL="0">
              <a:buNone/>
            </a:pPr>
            <a:r>
              <a:rPr lang="en-US" sz="1400" b="1" dirty="0">
                <a:solidFill>
                  <a:srgbClr val="45356B"/>
                </a:solidFill>
                <a:latin typeface="BIZ UDPゴシック" pitchFamily="34" charset="0"/>
                <a:ea typeface="BIZ UDPゴシック" pitchFamily="34" charset="-122"/>
                <a:cs typeface="BIZ UDPゴシック" pitchFamily="34" charset="-120"/>
              </a:rPr>
              <a:t>品質</a:t>
            </a:r>
            <a:endParaRPr lang="en-US" sz="1400" dirty="0"/>
          </a:p>
        </p:txBody>
      </p:sp>
      <p:sp>
        <p:nvSpPr>
          <p:cNvPr id="42" name="Text 39"/>
          <p:cNvSpPr/>
          <p:nvPr/>
        </p:nvSpPr>
        <p:spPr>
          <a:xfrm>
            <a:off x="731520" y="4160520"/>
            <a:ext cx="2651760" cy="274320"/>
          </a:xfrm>
          <a:prstGeom prst="rect">
            <a:avLst/>
          </a:prstGeom>
          <a:noFill/>
          <a:ln/>
        </p:spPr>
        <p:txBody>
          <a:bodyPr wrap="square" lIns="0" tIns="0" rIns="0" bIns="0" rtlCol="0" anchor="t"/>
          <a:lstStyle/>
          <a:p>
            <a:pPr indent="0" marL="0">
              <a:buNone/>
            </a:pPr>
            <a:r>
              <a:rPr lang="en-US" sz="1000" dirty="0">
                <a:solidFill>
                  <a:srgbClr val="6B5B46"/>
                </a:solidFill>
                <a:latin typeface="BIZ UDPゴシック" pitchFamily="34" charset="0"/>
                <a:ea typeface="BIZ UDPゴシック" pitchFamily="34" charset="-122"/>
                <a:cs typeface="BIZ UDPゴシック" pitchFamily="34" charset="-120"/>
              </a:rPr>
              <a:t>バグが少なく安定して動く</a:t>
            </a:r>
            <a:endParaRPr lang="en-US" sz="1000" dirty="0"/>
          </a:p>
        </p:txBody>
      </p:sp>
      <p:sp>
        <p:nvSpPr>
          <p:cNvPr id="43" name="Shape 40"/>
          <p:cNvSpPr/>
          <p:nvPr/>
        </p:nvSpPr>
        <p:spPr>
          <a:xfrm>
            <a:off x="3657600" y="4105656"/>
            <a:ext cx="5212080" cy="91440"/>
          </a:xfrm>
          <a:prstGeom prst="rect">
            <a:avLst/>
          </a:prstGeom>
          <a:solidFill>
            <a:srgbClr val="DCC48A"/>
          </a:solidFill>
          <a:ln/>
        </p:spPr>
      </p:sp>
      <p:sp>
        <p:nvSpPr>
          <p:cNvPr id="44" name="Shape 41"/>
          <p:cNvSpPr/>
          <p:nvPr/>
        </p:nvSpPr>
        <p:spPr>
          <a:xfrm>
            <a:off x="3593592" y="4087368"/>
            <a:ext cx="128016" cy="128016"/>
          </a:xfrm>
          <a:prstGeom prst="ellipse">
            <a:avLst/>
          </a:prstGeom>
          <a:solidFill>
            <a:srgbClr val="FFFFFF"/>
          </a:solidFill>
          <a:ln w="12700">
            <a:solidFill>
              <a:srgbClr val="B8862B"/>
            </a:solidFill>
            <a:prstDash val="solid"/>
          </a:ln>
        </p:spPr>
      </p:sp>
      <p:sp>
        <p:nvSpPr>
          <p:cNvPr id="45" name="Shape 42"/>
          <p:cNvSpPr/>
          <p:nvPr/>
        </p:nvSpPr>
        <p:spPr>
          <a:xfrm>
            <a:off x="4896612" y="4087368"/>
            <a:ext cx="128016" cy="128016"/>
          </a:xfrm>
          <a:prstGeom prst="ellipse">
            <a:avLst/>
          </a:prstGeom>
          <a:solidFill>
            <a:srgbClr val="FFFFFF"/>
          </a:solidFill>
          <a:ln w="12700">
            <a:solidFill>
              <a:srgbClr val="B8862B"/>
            </a:solidFill>
            <a:prstDash val="solid"/>
          </a:ln>
        </p:spPr>
      </p:sp>
      <p:sp>
        <p:nvSpPr>
          <p:cNvPr id="46" name="Shape 43"/>
          <p:cNvSpPr/>
          <p:nvPr/>
        </p:nvSpPr>
        <p:spPr>
          <a:xfrm>
            <a:off x="6199632" y="4087368"/>
            <a:ext cx="128016" cy="128016"/>
          </a:xfrm>
          <a:prstGeom prst="ellipse">
            <a:avLst/>
          </a:prstGeom>
          <a:solidFill>
            <a:srgbClr val="FFFFFF"/>
          </a:solidFill>
          <a:ln w="12700">
            <a:solidFill>
              <a:srgbClr val="B8862B"/>
            </a:solidFill>
            <a:prstDash val="solid"/>
          </a:ln>
        </p:spPr>
      </p:sp>
      <p:sp>
        <p:nvSpPr>
          <p:cNvPr id="47" name="Shape 44"/>
          <p:cNvSpPr/>
          <p:nvPr/>
        </p:nvSpPr>
        <p:spPr>
          <a:xfrm>
            <a:off x="7502652" y="4087368"/>
            <a:ext cx="128016" cy="128016"/>
          </a:xfrm>
          <a:prstGeom prst="ellipse">
            <a:avLst/>
          </a:prstGeom>
          <a:solidFill>
            <a:srgbClr val="FFFFFF"/>
          </a:solidFill>
          <a:ln w="12700">
            <a:solidFill>
              <a:srgbClr val="B8862B"/>
            </a:solidFill>
            <a:prstDash val="solid"/>
          </a:ln>
        </p:spPr>
      </p:sp>
      <p:sp>
        <p:nvSpPr>
          <p:cNvPr id="48" name="Shape 45"/>
          <p:cNvSpPr/>
          <p:nvPr/>
        </p:nvSpPr>
        <p:spPr>
          <a:xfrm>
            <a:off x="8805672" y="4087368"/>
            <a:ext cx="128016" cy="128016"/>
          </a:xfrm>
          <a:prstGeom prst="ellipse">
            <a:avLst/>
          </a:prstGeom>
          <a:solidFill>
            <a:srgbClr val="FFFFFF"/>
          </a:solidFill>
          <a:ln w="12700">
            <a:solidFill>
              <a:srgbClr val="B8862B"/>
            </a:solidFill>
            <a:prstDash val="solid"/>
          </a:ln>
        </p:spPr>
      </p:sp>
      <p:sp>
        <p:nvSpPr>
          <p:cNvPr id="49" name="Shape 46"/>
          <p:cNvSpPr/>
          <p:nvPr/>
        </p:nvSpPr>
        <p:spPr>
          <a:xfrm>
            <a:off x="3657600" y="4105656"/>
            <a:ext cx="2606040" cy="91440"/>
          </a:xfrm>
          <a:prstGeom prst="rect">
            <a:avLst/>
          </a:prstGeom>
          <a:solidFill>
            <a:srgbClr val="B8862B"/>
          </a:solidFill>
          <a:ln/>
        </p:spPr>
      </p:sp>
      <p:sp>
        <p:nvSpPr>
          <p:cNvPr id="50" name="Shape 47"/>
          <p:cNvSpPr/>
          <p:nvPr/>
        </p:nvSpPr>
        <p:spPr>
          <a:xfrm>
            <a:off x="6062472" y="3950208"/>
            <a:ext cx="402336" cy="402336"/>
          </a:xfrm>
          <a:prstGeom prst="ellipse">
            <a:avLst/>
          </a:prstGeom>
          <a:solidFill>
            <a:srgbClr val="45356B"/>
          </a:solidFill>
          <a:ln w="25400">
            <a:solidFill>
              <a:srgbClr val="FFFFFF"/>
            </a:solidFill>
            <a:prstDash val="solid"/>
          </a:ln>
          <a:effectLst>
            <a:outerShdw sx="100000" sy="100000" kx="0" ky="0" algn="bl" rotWithShape="0" blurRad="101600" dist="38100" dir="2700000">
              <a:srgbClr val="5C4430">
                <a:alpha val="30000"/>
              </a:srgbClr>
            </a:outerShdw>
          </a:effectLst>
        </p:spPr>
      </p:sp>
      <p:sp>
        <p:nvSpPr>
          <p:cNvPr id="51" name="Text 48"/>
          <p:cNvSpPr/>
          <p:nvPr/>
        </p:nvSpPr>
        <p:spPr>
          <a:xfrm>
            <a:off x="6062472" y="395020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3</a:t>
            </a:r>
            <a:endParaRPr lang="en-US" sz="1100" dirty="0"/>
          </a:p>
        </p:txBody>
      </p:sp>
      <p:sp>
        <p:nvSpPr>
          <p:cNvPr id="52" name="Shape 49"/>
          <p:cNvSpPr/>
          <p:nvPr/>
        </p:nvSpPr>
        <p:spPr>
          <a:xfrm>
            <a:off x="548640" y="4599432"/>
            <a:ext cx="2880360" cy="658368"/>
          </a:xfrm>
          <a:prstGeom prst="roundRect">
            <a:avLst>
              <a:gd name="adj" fmla="val 11111"/>
            </a:avLst>
          </a:prstGeom>
          <a:solidFill>
            <a:srgbClr val="FFFCF4"/>
          </a:solidFill>
          <a:ln w="15875">
            <a:solidFill>
              <a:srgbClr val="5C4430"/>
            </a:solidFill>
            <a:prstDash val="solid"/>
          </a:ln>
        </p:spPr>
      </p:sp>
      <p:sp>
        <p:nvSpPr>
          <p:cNvPr id="53" name="Text 50"/>
          <p:cNvSpPr/>
          <p:nvPr/>
        </p:nvSpPr>
        <p:spPr>
          <a:xfrm>
            <a:off x="731520" y="4654296"/>
            <a:ext cx="2651760" cy="310896"/>
          </a:xfrm>
          <a:prstGeom prst="rect">
            <a:avLst/>
          </a:prstGeom>
          <a:noFill/>
          <a:ln/>
        </p:spPr>
        <p:txBody>
          <a:bodyPr wrap="square" lIns="0" tIns="0" rIns="0" bIns="0" rtlCol="0" anchor="t"/>
          <a:lstStyle/>
          <a:p>
            <a:pPr indent="0" marL="0">
              <a:buNone/>
            </a:pPr>
            <a:r>
              <a:rPr lang="en-US" sz="1400" b="1" dirty="0">
                <a:solidFill>
                  <a:srgbClr val="45356B"/>
                </a:solidFill>
                <a:latin typeface="BIZ UDPゴシック" pitchFamily="34" charset="0"/>
                <a:ea typeface="BIZ UDPゴシック" pitchFamily="34" charset="-122"/>
                <a:cs typeface="BIZ UDPゴシック" pitchFamily="34" charset="-120"/>
              </a:rPr>
              <a:t>機能の数</a:t>
            </a:r>
            <a:endParaRPr lang="en-US" sz="1400" dirty="0"/>
          </a:p>
        </p:txBody>
      </p:sp>
      <p:sp>
        <p:nvSpPr>
          <p:cNvPr id="54" name="Text 51"/>
          <p:cNvSpPr/>
          <p:nvPr/>
        </p:nvSpPr>
        <p:spPr>
          <a:xfrm>
            <a:off x="731520" y="4946904"/>
            <a:ext cx="2651760" cy="274320"/>
          </a:xfrm>
          <a:prstGeom prst="rect">
            <a:avLst/>
          </a:prstGeom>
          <a:noFill/>
          <a:ln/>
        </p:spPr>
        <p:txBody>
          <a:bodyPr wrap="square" lIns="0" tIns="0" rIns="0" bIns="0" rtlCol="0" anchor="t"/>
          <a:lstStyle/>
          <a:p>
            <a:pPr indent="0" marL="0">
              <a:buNone/>
            </a:pPr>
            <a:r>
              <a:rPr lang="en-US" sz="1000" dirty="0">
                <a:solidFill>
                  <a:srgbClr val="6B5B46"/>
                </a:solidFill>
                <a:latin typeface="BIZ UDPゴシック" pitchFamily="34" charset="0"/>
                <a:ea typeface="BIZ UDPゴシック" pitchFamily="34" charset="-122"/>
                <a:cs typeface="BIZ UDPゴシック" pitchFamily="34" charset="-120"/>
              </a:rPr>
              <a:t>追加機能をどこまで入れるか</a:t>
            </a:r>
            <a:endParaRPr lang="en-US" sz="1000" dirty="0"/>
          </a:p>
        </p:txBody>
      </p:sp>
      <p:sp>
        <p:nvSpPr>
          <p:cNvPr id="55" name="Shape 52"/>
          <p:cNvSpPr/>
          <p:nvPr/>
        </p:nvSpPr>
        <p:spPr>
          <a:xfrm>
            <a:off x="3657600" y="4892040"/>
            <a:ext cx="5212080" cy="91440"/>
          </a:xfrm>
          <a:prstGeom prst="rect">
            <a:avLst/>
          </a:prstGeom>
          <a:solidFill>
            <a:srgbClr val="DCC48A"/>
          </a:solidFill>
          <a:ln/>
        </p:spPr>
      </p:sp>
      <p:sp>
        <p:nvSpPr>
          <p:cNvPr id="56" name="Shape 53"/>
          <p:cNvSpPr/>
          <p:nvPr/>
        </p:nvSpPr>
        <p:spPr>
          <a:xfrm>
            <a:off x="3593592" y="4873752"/>
            <a:ext cx="128016" cy="128016"/>
          </a:xfrm>
          <a:prstGeom prst="ellipse">
            <a:avLst/>
          </a:prstGeom>
          <a:solidFill>
            <a:srgbClr val="FFFFFF"/>
          </a:solidFill>
          <a:ln w="12700">
            <a:solidFill>
              <a:srgbClr val="B8862B"/>
            </a:solidFill>
            <a:prstDash val="solid"/>
          </a:ln>
        </p:spPr>
      </p:sp>
      <p:sp>
        <p:nvSpPr>
          <p:cNvPr id="57" name="Shape 54"/>
          <p:cNvSpPr/>
          <p:nvPr/>
        </p:nvSpPr>
        <p:spPr>
          <a:xfrm>
            <a:off x="4896612" y="4873752"/>
            <a:ext cx="128016" cy="128016"/>
          </a:xfrm>
          <a:prstGeom prst="ellipse">
            <a:avLst/>
          </a:prstGeom>
          <a:solidFill>
            <a:srgbClr val="FFFFFF"/>
          </a:solidFill>
          <a:ln w="12700">
            <a:solidFill>
              <a:srgbClr val="B8862B"/>
            </a:solidFill>
            <a:prstDash val="solid"/>
          </a:ln>
        </p:spPr>
      </p:sp>
      <p:sp>
        <p:nvSpPr>
          <p:cNvPr id="58" name="Shape 55"/>
          <p:cNvSpPr/>
          <p:nvPr/>
        </p:nvSpPr>
        <p:spPr>
          <a:xfrm>
            <a:off x="6199632" y="4873752"/>
            <a:ext cx="128016" cy="128016"/>
          </a:xfrm>
          <a:prstGeom prst="ellipse">
            <a:avLst/>
          </a:prstGeom>
          <a:solidFill>
            <a:srgbClr val="FFFFFF"/>
          </a:solidFill>
          <a:ln w="12700">
            <a:solidFill>
              <a:srgbClr val="B8862B"/>
            </a:solidFill>
            <a:prstDash val="solid"/>
          </a:ln>
        </p:spPr>
      </p:sp>
      <p:sp>
        <p:nvSpPr>
          <p:cNvPr id="59" name="Shape 56"/>
          <p:cNvSpPr/>
          <p:nvPr/>
        </p:nvSpPr>
        <p:spPr>
          <a:xfrm>
            <a:off x="7502652" y="4873752"/>
            <a:ext cx="128016" cy="128016"/>
          </a:xfrm>
          <a:prstGeom prst="ellipse">
            <a:avLst/>
          </a:prstGeom>
          <a:solidFill>
            <a:srgbClr val="FFFFFF"/>
          </a:solidFill>
          <a:ln w="12700">
            <a:solidFill>
              <a:srgbClr val="B8862B"/>
            </a:solidFill>
            <a:prstDash val="solid"/>
          </a:ln>
        </p:spPr>
      </p:sp>
      <p:sp>
        <p:nvSpPr>
          <p:cNvPr id="60" name="Shape 57"/>
          <p:cNvSpPr/>
          <p:nvPr/>
        </p:nvSpPr>
        <p:spPr>
          <a:xfrm>
            <a:off x="8805672" y="4873752"/>
            <a:ext cx="128016" cy="128016"/>
          </a:xfrm>
          <a:prstGeom prst="ellipse">
            <a:avLst/>
          </a:prstGeom>
          <a:solidFill>
            <a:srgbClr val="FFFFFF"/>
          </a:solidFill>
          <a:ln w="12700">
            <a:solidFill>
              <a:srgbClr val="B8862B"/>
            </a:solidFill>
            <a:prstDash val="solid"/>
          </a:ln>
        </p:spPr>
      </p:sp>
      <p:sp>
        <p:nvSpPr>
          <p:cNvPr id="61" name="Shape 58"/>
          <p:cNvSpPr/>
          <p:nvPr/>
        </p:nvSpPr>
        <p:spPr>
          <a:xfrm>
            <a:off x="3657600" y="4892040"/>
            <a:ext cx="1303020" cy="91440"/>
          </a:xfrm>
          <a:prstGeom prst="rect">
            <a:avLst/>
          </a:prstGeom>
          <a:solidFill>
            <a:srgbClr val="B8862B"/>
          </a:solidFill>
          <a:ln/>
        </p:spPr>
      </p:sp>
      <p:sp>
        <p:nvSpPr>
          <p:cNvPr id="62" name="Shape 59"/>
          <p:cNvSpPr/>
          <p:nvPr/>
        </p:nvSpPr>
        <p:spPr>
          <a:xfrm>
            <a:off x="4759452" y="4736592"/>
            <a:ext cx="402336" cy="402336"/>
          </a:xfrm>
          <a:prstGeom prst="ellipse">
            <a:avLst/>
          </a:prstGeom>
          <a:solidFill>
            <a:srgbClr val="45356B"/>
          </a:solidFill>
          <a:ln w="25400">
            <a:solidFill>
              <a:srgbClr val="FFFFFF"/>
            </a:solidFill>
            <a:prstDash val="solid"/>
          </a:ln>
          <a:effectLst>
            <a:outerShdw sx="100000" sy="100000" kx="0" ky="0" algn="bl" rotWithShape="0" blurRad="101600" dist="38100" dir="2700000">
              <a:srgbClr val="5C4430">
                <a:alpha val="30000"/>
              </a:srgbClr>
            </a:outerShdw>
          </a:effectLst>
        </p:spPr>
      </p:sp>
      <p:sp>
        <p:nvSpPr>
          <p:cNvPr id="63" name="Text 60"/>
          <p:cNvSpPr/>
          <p:nvPr/>
        </p:nvSpPr>
        <p:spPr>
          <a:xfrm>
            <a:off x="4759452" y="473659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2</a:t>
            </a:r>
            <a:endParaRPr lang="en-US" sz="1100" dirty="0"/>
          </a:p>
        </p:txBody>
      </p:sp>
      <p:sp>
        <p:nvSpPr>
          <p:cNvPr id="64" name="Shape 61"/>
          <p:cNvSpPr/>
          <p:nvPr/>
        </p:nvSpPr>
        <p:spPr>
          <a:xfrm>
            <a:off x="548640" y="5385816"/>
            <a:ext cx="2880360" cy="658368"/>
          </a:xfrm>
          <a:prstGeom prst="roundRect">
            <a:avLst>
              <a:gd name="adj" fmla="val 11111"/>
            </a:avLst>
          </a:prstGeom>
          <a:solidFill>
            <a:srgbClr val="FFFCF4"/>
          </a:solidFill>
          <a:ln w="15875">
            <a:solidFill>
              <a:srgbClr val="5C4430"/>
            </a:solidFill>
            <a:prstDash val="solid"/>
          </a:ln>
        </p:spPr>
      </p:sp>
      <p:sp>
        <p:nvSpPr>
          <p:cNvPr id="65" name="Text 62"/>
          <p:cNvSpPr/>
          <p:nvPr/>
        </p:nvSpPr>
        <p:spPr>
          <a:xfrm>
            <a:off x="731520" y="5440680"/>
            <a:ext cx="2651760" cy="310896"/>
          </a:xfrm>
          <a:prstGeom prst="rect">
            <a:avLst/>
          </a:prstGeom>
          <a:noFill/>
          <a:ln/>
        </p:spPr>
        <p:txBody>
          <a:bodyPr wrap="square" lIns="0" tIns="0" rIns="0" bIns="0" rtlCol="0" anchor="t"/>
          <a:lstStyle/>
          <a:p>
            <a:pPr indent="0" marL="0">
              <a:buNone/>
            </a:pPr>
            <a:r>
              <a:rPr lang="en-US" sz="1400" b="1" dirty="0">
                <a:solidFill>
                  <a:srgbClr val="45356B"/>
                </a:solidFill>
                <a:latin typeface="BIZ UDPゴシック" pitchFamily="34" charset="0"/>
                <a:ea typeface="BIZ UDPゴシック" pitchFamily="34" charset="-122"/>
                <a:cs typeface="BIZ UDPゴシック" pitchFamily="34" charset="-120"/>
              </a:rPr>
              <a:t>新しい技術への挑戦</a:t>
            </a:r>
            <a:endParaRPr lang="en-US" sz="1400" dirty="0"/>
          </a:p>
        </p:txBody>
      </p:sp>
      <p:sp>
        <p:nvSpPr>
          <p:cNvPr id="66" name="Text 63"/>
          <p:cNvSpPr/>
          <p:nvPr/>
        </p:nvSpPr>
        <p:spPr>
          <a:xfrm>
            <a:off x="731520" y="5733288"/>
            <a:ext cx="2651760" cy="274320"/>
          </a:xfrm>
          <a:prstGeom prst="rect">
            <a:avLst/>
          </a:prstGeom>
          <a:noFill/>
          <a:ln/>
        </p:spPr>
        <p:txBody>
          <a:bodyPr wrap="square" lIns="0" tIns="0" rIns="0" bIns="0" rtlCol="0" anchor="t"/>
          <a:lstStyle/>
          <a:p>
            <a:pPr indent="0" marL="0">
              <a:buNone/>
            </a:pPr>
            <a:r>
              <a:rPr lang="en-US" sz="1000" dirty="0">
                <a:solidFill>
                  <a:srgbClr val="6B5B46"/>
                </a:solidFill>
                <a:latin typeface="BIZ UDPゴシック" pitchFamily="34" charset="0"/>
                <a:ea typeface="BIZ UDPゴシック" pitchFamily="34" charset="-122"/>
                <a:cs typeface="BIZ UDPゴシック" pitchFamily="34" charset="-120"/>
              </a:rPr>
              <a:t>未経験の技術を試す</a:t>
            </a:r>
            <a:endParaRPr lang="en-US" sz="1000" dirty="0"/>
          </a:p>
        </p:txBody>
      </p:sp>
      <p:sp>
        <p:nvSpPr>
          <p:cNvPr id="67" name="Shape 64"/>
          <p:cNvSpPr/>
          <p:nvPr/>
        </p:nvSpPr>
        <p:spPr>
          <a:xfrm>
            <a:off x="3657600" y="5678424"/>
            <a:ext cx="5212080" cy="91440"/>
          </a:xfrm>
          <a:prstGeom prst="rect">
            <a:avLst/>
          </a:prstGeom>
          <a:solidFill>
            <a:srgbClr val="DCC48A"/>
          </a:solidFill>
          <a:ln/>
        </p:spPr>
      </p:sp>
      <p:sp>
        <p:nvSpPr>
          <p:cNvPr id="68" name="Shape 65"/>
          <p:cNvSpPr/>
          <p:nvPr/>
        </p:nvSpPr>
        <p:spPr>
          <a:xfrm>
            <a:off x="3593592" y="5660136"/>
            <a:ext cx="128016" cy="128016"/>
          </a:xfrm>
          <a:prstGeom prst="ellipse">
            <a:avLst/>
          </a:prstGeom>
          <a:solidFill>
            <a:srgbClr val="FFFFFF"/>
          </a:solidFill>
          <a:ln w="12700">
            <a:solidFill>
              <a:srgbClr val="B8862B"/>
            </a:solidFill>
            <a:prstDash val="solid"/>
          </a:ln>
        </p:spPr>
      </p:sp>
      <p:sp>
        <p:nvSpPr>
          <p:cNvPr id="69" name="Shape 66"/>
          <p:cNvSpPr/>
          <p:nvPr/>
        </p:nvSpPr>
        <p:spPr>
          <a:xfrm>
            <a:off x="4896612" y="5660136"/>
            <a:ext cx="128016" cy="128016"/>
          </a:xfrm>
          <a:prstGeom prst="ellipse">
            <a:avLst/>
          </a:prstGeom>
          <a:solidFill>
            <a:srgbClr val="FFFFFF"/>
          </a:solidFill>
          <a:ln w="12700">
            <a:solidFill>
              <a:srgbClr val="B8862B"/>
            </a:solidFill>
            <a:prstDash val="solid"/>
          </a:ln>
        </p:spPr>
      </p:sp>
      <p:sp>
        <p:nvSpPr>
          <p:cNvPr id="70" name="Shape 67"/>
          <p:cNvSpPr/>
          <p:nvPr/>
        </p:nvSpPr>
        <p:spPr>
          <a:xfrm>
            <a:off x="6199632" y="5660136"/>
            <a:ext cx="128016" cy="128016"/>
          </a:xfrm>
          <a:prstGeom prst="ellipse">
            <a:avLst/>
          </a:prstGeom>
          <a:solidFill>
            <a:srgbClr val="FFFFFF"/>
          </a:solidFill>
          <a:ln w="12700">
            <a:solidFill>
              <a:srgbClr val="B8862B"/>
            </a:solidFill>
            <a:prstDash val="solid"/>
          </a:ln>
        </p:spPr>
      </p:sp>
      <p:sp>
        <p:nvSpPr>
          <p:cNvPr id="71" name="Shape 68"/>
          <p:cNvSpPr/>
          <p:nvPr/>
        </p:nvSpPr>
        <p:spPr>
          <a:xfrm>
            <a:off x="7502652" y="5660136"/>
            <a:ext cx="128016" cy="128016"/>
          </a:xfrm>
          <a:prstGeom prst="ellipse">
            <a:avLst/>
          </a:prstGeom>
          <a:solidFill>
            <a:srgbClr val="FFFFFF"/>
          </a:solidFill>
          <a:ln w="12700">
            <a:solidFill>
              <a:srgbClr val="B8862B"/>
            </a:solidFill>
            <a:prstDash val="solid"/>
          </a:ln>
        </p:spPr>
      </p:sp>
      <p:sp>
        <p:nvSpPr>
          <p:cNvPr id="72" name="Shape 69"/>
          <p:cNvSpPr/>
          <p:nvPr/>
        </p:nvSpPr>
        <p:spPr>
          <a:xfrm>
            <a:off x="8805672" y="5660136"/>
            <a:ext cx="128016" cy="128016"/>
          </a:xfrm>
          <a:prstGeom prst="ellipse">
            <a:avLst/>
          </a:prstGeom>
          <a:solidFill>
            <a:srgbClr val="FFFFFF"/>
          </a:solidFill>
          <a:ln w="12700">
            <a:solidFill>
              <a:srgbClr val="B8862B"/>
            </a:solidFill>
            <a:prstDash val="solid"/>
          </a:ln>
        </p:spPr>
      </p:sp>
      <p:sp>
        <p:nvSpPr>
          <p:cNvPr id="73" name="Shape 70"/>
          <p:cNvSpPr/>
          <p:nvPr/>
        </p:nvSpPr>
        <p:spPr>
          <a:xfrm>
            <a:off x="3657600" y="5678424"/>
            <a:ext cx="0" cy="91440"/>
          </a:xfrm>
          <a:prstGeom prst="rect">
            <a:avLst/>
          </a:prstGeom>
          <a:solidFill>
            <a:srgbClr val="B8862B"/>
          </a:solidFill>
          <a:ln/>
        </p:spPr>
      </p:sp>
      <p:sp>
        <p:nvSpPr>
          <p:cNvPr id="74" name="Shape 71"/>
          <p:cNvSpPr/>
          <p:nvPr/>
        </p:nvSpPr>
        <p:spPr>
          <a:xfrm>
            <a:off x="3456432" y="5522976"/>
            <a:ext cx="402336" cy="402336"/>
          </a:xfrm>
          <a:prstGeom prst="ellipse">
            <a:avLst/>
          </a:prstGeom>
          <a:solidFill>
            <a:srgbClr val="45356B"/>
          </a:solidFill>
          <a:ln w="25400">
            <a:solidFill>
              <a:srgbClr val="FFFFFF"/>
            </a:solidFill>
            <a:prstDash val="solid"/>
          </a:ln>
          <a:effectLst>
            <a:outerShdw sx="100000" sy="100000" kx="0" ky="0" algn="bl" rotWithShape="0" blurRad="101600" dist="38100" dir="2700000">
              <a:srgbClr val="5C4430">
                <a:alpha val="30000"/>
              </a:srgbClr>
            </a:outerShdw>
          </a:effectLst>
        </p:spPr>
      </p:sp>
      <p:sp>
        <p:nvSpPr>
          <p:cNvPr id="75" name="Text 72"/>
          <p:cNvSpPr/>
          <p:nvPr/>
        </p:nvSpPr>
        <p:spPr>
          <a:xfrm>
            <a:off x="3456432" y="552297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BIZ UDPゴシック" pitchFamily="34" charset="0"/>
                <a:ea typeface="BIZ UDPゴシック" pitchFamily="34" charset="-122"/>
                <a:cs typeface="BIZ UDPゴシック" pitchFamily="34" charset="-120"/>
              </a:rPr>
              <a:t>1</a:t>
            </a:r>
            <a:endParaRPr lang="en-US" sz="1100" dirty="0"/>
          </a:p>
        </p:txBody>
      </p:sp>
      <p:sp>
        <p:nvSpPr>
          <p:cNvPr id="76" name="Shape 73"/>
          <p:cNvSpPr/>
          <p:nvPr/>
        </p:nvSpPr>
        <p:spPr>
          <a:xfrm>
            <a:off x="9281160" y="2240280"/>
            <a:ext cx="2359152" cy="3840480"/>
          </a:xfrm>
          <a:prstGeom prst="roundRect">
            <a:avLst>
              <a:gd name="adj" fmla="val 3101"/>
            </a:avLst>
          </a:prstGeom>
          <a:solidFill>
            <a:srgbClr val="ECE7F5"/>
          </a:solidFill>
          <a:ln w="15875">
            <a:solidFill>
              <a:srgbClr val="45356B"/>
            </a:solidFill>
            <a:prstDash val="solid"/>
          </a:ln>
          <a:effectLst>
            <a:outerShdw sx="100000" sy="100000" kx="0" ky="0" algn="bl" rotWithShape="0" blurRad="101600" dist="38100" dir="2700000">
              <a:srgbClr val="5C4430">
                <a:alpha val="30000"/>
              </a:srgbClr>
            </a:outerShdw>
          </a:effectLst>
        </p:spPr>
      </p:sp>
      <p:sp>
        <p:nvSpPr>
          <p:cNvPr id="77" name="Text 74"/>
          <p:cNvSpPr/>
          <p:nvPr/>
        </p:nvSpPr>
        <p:spPr>
          <a:xfrm>
            <a:off x="9464040" y="2377440"/>
            <a:ext cx="2011680" cy="320040"/>
          </a:xfrm>
          <a:prstGeom prst="rect">
            <a:avLst/>
          </a:prstGeom>
          <a:noFill/>
          <a:ln/>
        </p:spPr>
        <p:txBody>
          <a:bodyPr wrap="square" lIns="0" tIns="0" rIns="0" bIns="0" rtlCol="0" anchor="t"/>
          <a:lstStyle/>
          <a:p>
            <a:pPr indent="0" marL="0">
              <a:buNone/>
            </a:pPr>
            <a:r>
              <a:rPr lang="en-US" sz="1500" b="1" dirty="0">
                <a:solidFill>
                  <a:srgbClr val="45356B"/>
                </a:solidFill>
                <a:latin typeface="BIZ UDPゴシック" pitchFamily="34" charset="0"/>
                <a:ea typeface="BIZ UDPゴシック" pitchFamily="34" charset="-122"/>
                <a:cs typeface="BIZ UDPゴシック" pitchFamily="34" charset="-120"/>
              </a:rPr>
              <a:t>使い方</a:t>
            </a:r>
            <a:endParaRPr lang="en-US" sz="1500" dirty="0"/>
          </a:p>
        </p:txBody>
      </p:sp>
      <p:sp>
        <p:nvSpPr>
          <p:cNvPr id="78" name="Text 75"/>
          <p:cNvSpPr/>
          <p:nvPr/>
        </p:nvSpPr>
        <p:spPr>
          <a:xfrm>
            <a:off x="9464040" y="2788920"/>
            <a:ext cx="2057400" cy="3200400"/>
          </a:xfrm>
          <a:prstGeom prst="rect">
            <a:avLst/>
          </a:prstGeom>
          <a:noFill/>
          <a:ln/>
        </p:spPr>
        <p:txBody>
          <a:bodyPr wrap="square" lIns="0" tIns="0" rIns="0" bIns="0" rtlCol="0" anchor="t"/>
          <a:lstStyle/>
          <a:p>
            <a:pPr marL="177800" indent="-177800">
              <a:lnSpc>
                <a:spcPct val="105000"/>
              </a:lnSpc>
              <a:spcAft>
                <a:spcPts val="1000"/>
              </a:spcAft>
              <a:buSzPct val="100000"/>
              <a:buChar char="•"/>
            </a:pPr>
            <a:r>
              <a:rPr lang="en-US" sz="1200" dirty="0">
                <a:solidFill>
                  <a:srgbClr val="3A2E20"/>
                </a:solidFill>
                <a:latin typeface="BIZ UDPゴシック" pitchFamily="34" charset="0"/>
                <a:ea typeface="BIZ UDPゴシック" pitchFamily="34" charset="-122"/>
                <a:cs typeface="BIZ UDPゴシック" pitchFamily="34" charset="-120"/>
              </a:rPr>
              <a:t>同じ位置に2つ置かない（全部を最優先にはできない）</a:t>
            </a:r>
            <a:endParaRPr lang="en-US" sz="1200" dirty="0"/>
          </a:p>
          <a:p>
            <a:pPr marL="177800" indent="-177800">
              <a:lnSpc>
                <a:spcPct val="105000"/>
              </a:lnSpc>
              <a:spcAft>
                <a:spcPts val="1000"/>
              </a:spcAft>
              <a:buSzPct val="100000"/>
              <a:buChar char="•"/>
            </a:pPr>
            <a:r>
              <a:rPr lang="en-US" sz="1200" dirty="0">
                <a:solidFill>
                  <a:srgbClr val="3A2E20"/>
                </a:solidFill>
                <a:latin typeface="BIZ UDPゴシック" pitchFamily="34" charset="0"/>
                <a:ea typeface="BIZ UDPゴシック" pitchFamily="34" charset="-122"/>
                <a:cs typeface="BIZ UDPゴシック" pitchFamily="34" charset="-120"/>
              </a:rPr>
              <a:t>1つを上げたら、どれかを下げる</a:t>
            </a:r>
            <a:endParaRPr lang="en-US" sz="1200" dirty="0"/>
          </a:p>
          <a:p>
            <a:pPr marL="177800" indent="-177800">
              <a:lnSpc>
                <a:spcPct val="105000"/>
              </a:lnSpc>
              <a:spcAft>
                <a:spcPts val="1000"/>
              </a:spcAft>
              <a:buSzPct val="100000"/>
              <a:buChar char="•"/>
            </a:pPr>
            <a:r>
              <a:rPr lang="en-US" sz="1200" dirty="0">
                <a:solidFill>
                  <a:srgbClr val="3A2E20"/>
                </a:solidFill>
                <a:latin typeface="BIZ UDPゴシック" pitchFamily="34" charset="0"/>
                <a:ea typeface="BIZ UDPゴシック" pitchFamily="34" charset="-122"/>
                <a:cs typeface="BIZ UDPゴシック" pitchFamily="34" charset="-120"/>
              </a:rPr>
              <a:t>迷ったらスライダーに立ち返って決める</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02 PROCESS ｜ SPRINT</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スプリントごとの成長（全10スプリント）</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02 開発プロセス・協働</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17</a:t>
            </a:r>
            <a:endParaRPr lang="en-US" sz="900" dirty="0"/>
          </a:p>
        </p:txBody>
      </p:sp>
      <p:sp>
        <p:nvSpPr>
          <p:cNvPr id="11" name="Shape 8"/>
          <p:cNvSpPr/>
          <p:nvPr/>
        </p:nvSpPr>
        <p:spPr>
          <a:xfrm>
            <a:off x="822960" y="3401568"/>
            <a:ext cx="10607040" cy="128016"/>
          </a:xfrm>
          <a:prstGeom prst="rect">
            <a:avLst/>
          </a:prstGeom>
          <a:solidFill>
            <a:srgbClr val="DCC48A"/>
          </a:solidFill>
          <a:ln/>
        </p:spPr>
      </p:sp>
      <p:pic>
        <p:nvPicPr>
          <p:cNvPr id="12" name="Image 0" descr="C:\Users\ltosuser\AppData\Local\Temp\michishiru-ppt\img\lv01.png">    </p:cNvPr>
          <p:cNvPicPr>
            <a:picLocks noChangeAspect="1"/>
          </p:cNvPicPr>
          <p:nvPr/>
        </p:nvPicPr>
        <p:blipFill>
          <a:blip r:embed="rId1"/>
          <a:stretch>
            <a:fillRect/>
          </a:stretch>
        </p:blipFill>
        <p:spPr>
          <a:xfrm>
            <a:off x="1465780" y="1417320"/>
            <a:ext cx="945496" cy="1133856"/>
          </a:xfrm>
          <a:prstGeom prst="rect">
            <a:avLst/>
          </a:prstGeom>
        </p:spPr>
      </p:pic>
      <p:sp>
        <p:nvSpPr>
          <p:cNvPr id="13" name="Text 9"/>
          <p:cNvSpPr/>
          <p:nvPr/>
        </p:nvSpPr>
        <p:spPr>
          <a:xfrm>
            <a:off x="1389888" y="2578608"/>
            <a:ext cx="1097280" cy="256032"/>
          </a:xfrm>
          <a:prstGeom prst="rect">
            <a:avLst/>
          </a:prstGeom>
          <a:noFill/>
          <a:ln/>
        </p:spPr>
        <p:txBody>
          <a:bodyPr wrap="square" lIns="0" tIns="0" rIns="0" bIns="0" rtlCol="0" anchor="t"/>
          <a:lstStyle/>
          <a:p>
            <a:pPr algn="ctr" indent="0" marL="0">
              <a:buNone/>
            </a:pPr>
            <a:r>
              <a:rPr lang="en-US" sz="1100" b="1" dirty="0">
                <a:solidFill>
                  <a:srgbClr val="B8862B"/>
                </a:solidFill>
                <a:latin typeface="Georgia" pitchFamily="34" charset="0"/>
                <a:ea typeface="Georgia" pitchFamily="34" charset="-122"/>
                <a:cs typeface="Georgia" pitchFamily="34" charset="-120"/>
              </a:rPr>
              <a:t>Lv.1</a:t>
            </a:r>
            <a:endParaRPr lang="en-US" sz="1100" dirty="0"/>
          </a:p>
        </p:txBody>
      </p:sp>
      <p:sp>
        <p:nvSpPr>
          <p:cNvPr id="14" name="Shape 10"/>
          <p:cNvSpPr/>
          <p:nvPr/>
        </p:nvSpPr>
        <p:spPr>
          <a:xfrm>
            <a:off x="1719072" y="3246120"/>
            <a:ext cx="438912" cy="438912"/>
          </a:xfrm>
          <a:prstGeom prst="ellipse">
            <a:avLst/>
          </a:prstGeom>
          <a:solidFill>
            <a:srgbClr val="6B5B46"/>
          </a:solidFill>
          <a:ln w="38100">
            <a:solidFill>
              <a:srgbClr val="FFFFFF"/>
            </a:solidFill>
            <a:prstDash val="solid"/>
          </a:ln>
        </p:spPr>
      </p:sp>
      <p:sp>
        <p:nvSpPr>
          <p:cNvPr id="15" name="Text 11"/>
          <p:cNvSpPr/>
          <p:nvPr/>
        </p:nvSpPr>
        <p:spPr>
          <a:xfrm>
            <a:off x="749808" y="2852928"/>
            <a:ext cx="2377440" cy="320040"/>
          </a:xfrm>
          <a:prstGeom prst="rect">
            <a:avLst/>
          </a:prstGeom>
          <a:noFill/>
          <a:ln/>
        </p:spPr>
        <p:txBody>
          <a:bodyPr wrap="square" lIns="0" tIns="0" rIns="0" bIns="0" rtlCol="0" anchor="t"/>
          <a:lstStyle/>
          <a:p>
            <a:pPr algn="ctr" indent="0" marL="0">
              <a:buNone/>
            </a:pPr>
            <a:r>
              <a:rPr lang="en-US" sz="1400" b="1" dirty="0">
                <a:solidFill>
                  <a:srgbClr val="6B5B46"/>
                </a:solidFill>
                <a:latin typeface="BIZ UDPゴシック" pitchFamily="34" charset="0"/>
                <a:ea typeface="BIZ UDPゴシック" pitchFamily="34" charset="-122"/>
                <a:cs typeface="BIZ UDPゴシック" pitchFamily="34" charset="-120"/>
              </a:rPr>
              <a:t>Sprint 1–2</a:t>
            </a:r>
            <a:endParaRPr lang="en-US" sz="1400" dirty="0"/>
          </a:p>
        </p:txBody>
      </p:sp>
      <p:sp>
        <p:nvSpPr>
          <p:cNvPr id="16" name="Shape 12"/>
          <p:cNvSpPr/>
          <p:nvPr/>
        </p:nvSpPr>
        <p:spPr>
          <a:xfrm>
            <a:off x="640080" y="3886200"/>
            <a:ext cx="2596896" cy="2267712"/>
          </a:xfrm>
          <a:prstGeom prst="roundRect">
            <a:avLst>
              <a:gd name="adj" fmla="val 3226"/>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7" name="Shape 13"/>
          <p:cNvSpPr/>
          <p:nvPr/>
        </p:nvSpPr>
        <p:spPr>
          <a:xfrm>
            <a:off x="640080" y="3886200"/>
            <a:ext cx="2596896" cy="91440"/>
          </a:xfrm>
          <a:prstGeom prst="rect">
            <a:avLst/>
          </a:prstGeom>
          <a:solidFill>
            <a:srgbClr val="6B5B46"/>
          </a:solidFill>
          <a:ln/>
        </p:spPr>
      </p:sp>
      <p:sp>
        <p:nvSpPr>
          <p:cNvPr id="18" name="Text 14"/>
          <p:cNvSpPr/>
          <p:nvPr/>
        </p:nvSpPr>
        <p:spPr>
          <a:xfrm>
            <a:off x="749808" y="4041648"/>
            <a:ext cx="2377440" cy="384048"/>
          </a:xfrm>
          <a:prstGeom prst="rect">
            <a:avLst/>
          </a:prstGeom>
          <a:noFill/>
          <a:ln/>
        </p:spPr>
        <p:txBody>
          <a:bodyPr wrap="square" lIns="0" tIns="0" rIns="0" bIns="0" rtlCol="0" anchor="ctr"/>
          <a:lstStyle/>
          <a:p>
            <a:pPr algn="ctr" indent="0" marL="0">
              <a:buNone/>
            </a:pPr>
            <a:r>
              <a:rPr lang="en-US" sz="1450" b="1" dirty="0">
                <a:solidFill>
                  <a:srgbClr val="3A2E20"/>
                </a:solidFill>
                <a:latin typeface="BIZ UDPゴシック" pitchFamily="34" charset="0"/>
                <a:ea typeface="BIZ UDPゴシック" pitchFamily="34" charset="-122"/>
                <a:cs typeface="BIZ UDPゴシック" pitchFamily="34" charset="-120"/>
              </a:rPr>
              <a:t>環境構築</a:t>
            </a:r>
            <a:endParaRPr lang="en-US" sz="1450" dirty="0"/>
          </a:p>
        </p:txBody>
      </p:sp>
      <p:sp>
        <p:nvSpPr>
          <p:cNvPr id="19" name="Shape 15"/>
          <p:cNvSpPr/>
          <p:nvPr/>
        </p:nvSpPr>
        <p:spPr>
          <a:xfrm>
            <a:off x="841248" y="4498848"/>
            <a:ext cx="2194560" cy="0"/>
          </a:xfrm>
          <a:prstGeom prst="line">
            <a:avLst/>
          </a:prstGeom>
          <a:noFill/>
          <a:ln w="12700">
            <a:solidFill>
              <a:srgbClr val="DCC48A"/>
            </a:solidFill>
            <a:prstDash val="solid"/>
          </a:ln>
        </p:spPr>
      </p:sp>
      <p:sp>
        <p:nvSpPr>
          <p:cNvPr id="20" name="Text 16"/>
          <p:cNvSpPr/>
          <p:nvPr/>
        </p:nvSpPr>
        <p:spPr>
          <a:xfrm>
            <a:off x="795528" y="4572000"/>
            <a:ext cx="2286000" cy="685800"/>
          </a:xfrm>
          <a:prstGeom prst="rect">
            <a:avLst/>
          </a:prstGeom>
          <a:noFill/>
          <a:ln/>
        </p:spPr>
        <p:txBody>
          <a:bodyPr wrap="square" lIns="0" tIns="0" rIns="0" bIns="0" rtlCol="0" anchor="t"/>
          <a:lstStyle/>
          <a:p>
            <a:pPr indent="0" marL="0">
              <a:buNone/>
            </a:pPr>
            <a:r>
              <a:rPr lang="en-US" sz="1000" b="1" dirty="0">
                <a:solidFill>
                  <a:srgbClr val="B3372B"/>
                </a:solidFill>
                <a:latin typeface="BIZ UDPゴシック" pitchFamily="34" charset="0"/>
                <a:ea typeface="BIZ UDPゴシック" pitchFamily="34" charset="-122"/>
                <a:cs typeface="BIZ UDPゴシック" pitchFamily="34" charset="-120"/>
              </a:rPr>
              <a:t>課題</a:t>
            </a:r>
            <a:endParaRPr lang="en-US" sz="1250" dirty="0"/>
          </a:p>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見せたいものが見せられない</a:t>
            </a:r>
            <a:endParaRPr lang="en-US" sz="1250" dirty="0"/>
          </a:p>
        </p:txBody>
      </p:sp>
      <p:sp>
        <p:nvSpPr>
          <p:cNvPr id="21" name="Text 17"/>
          <p:cNvSpPr/>
          <p:nvPr/>
        </p:nvSpPr>
        <p:spPr>
          <a:xfrm>
            <a:off x="795528" y="5303520"/>
            <a:ext cx="2286000" cy="777240"/>
          </a:xfrm>
          <a:prstGeom prst="rect">
            <a:avLst/>
          </a:prstGeom>
          <a:noFill/>
          <a:ln/>
        </p:spPr>
        <p:txBody>
          <a:bodyPr wrap="square" lIns="0" tIns="0" rIns="0" bIns="0" rtlCol="0" anchor="t"/>
          <a:lstStyle/>
          <a:p>
            <a:pPr indent="0" marL="0">
              <a:buNone/>
            </a:pPr>
            <a:r>
              <a:rPr lang="en-US" sz="1000" b="1" dirty="0">
                <a:solidFill>
                  <a:srgbClr val="3F7A5C"/>
                </a:solidFill>
                <a:latin typeface="BIZ UDPゴシック" pitchFamily="34" charset="0"/>
                <a:ea typeface="BIZ UDPゴシック" pitchFamily="34" charset="-122"/>
                <a:cs typeface="BIZ UDPゴシック" pitchFamily="34" charset="-120"/>
              </a:rPr>
              <a:t>解決策</a:t>
            </a:r>
            <a:endParaRPr lang="en-US" sz="1250" dirty="0"/>
          </a:p>
          <a:p>
            <a:pPr indent="0" marL="0">
              <a:buNone/>
            </a:pPr>
            <a:r>
              <a:rPr lang="en-US" sz="1250" b="1" dirty="0">
                <a:solidFill>
                  <a:srgbClr val="3A2E20"/>
                </a:solidFill>
                <a:latin typeface="BIZ UDPゴシック" pitchFamily="34" charset="0"/>
                <a:ea typeface="BIZ UDPゴシック" pitchFamily="34" charset="-122"/>
                <a:cs typeface="BIZ UDPゴシック" pitchFamily="34" charset="-120"/>
              </a:rPr>
              <a:t>本番と開発の環境を分離</a:t>
            </a:r>
            <a:endParaRPr lang="en-US" sz="1250" dirty="0"/>
          </a:p>
        </p:txBody>
      </p:sp>
      <p:pic>
        <p:nvPicPr>
          <p:cNvPr id="22" name="Image 1" descr="C:\Users\ltosuser\AppData\Local\Temp\michishiru-ppt\img\lv03.png">    </p:cNvPr>
          <p:cNvPicPr>
            <a:picLocks noChangeAspect="1"/>
          </p:cNvPicPr>
          <p:nvPr/>
        </p:nvPicPr>
        <p:blipFill>
          <a:blip r:embed="rId2"/>
          <a:stretch>
            <a:fillRect/>
          </a:stretch>
        </p:blipFill>
        <p:spPr>
          <a:xfrm>
            <a:off x="4151376" y="1417320"/>
            <a:ext cx="1133856" cy="1133856"/>
          </a:xfrm>
          <a:prstGeom prst="rect">
            <a:avLst/>
          </a:prstGeom>
        </p:spPr>
      </p:pic>
      <p:sp>
        <p:nvSpPr>
          <p:cNvPr id="23" name="Text 18"/>
          <p:cNvSpPr/>
          <p:nvPr/>
        </p:nvSpPr>
        <p:spPr>
          <a:xfrm>
            <a:off x="4169664" y="2578608"/>
            <a:ext cx="1097280" cy="256032"/>
          </a:xfrm>
          <a:prstGeom prst="rect">
            <a:avLst/>
          </a:prstGeom>
          <a:noFill/>
          <a:ln/>
        </p:spPr>
        <p:txBody>
          <a:bodyPr wrap="square" lIns="0" tIns="0" rIns="0" bIns="0" rtlCol="0" anchor="t"/>
          <a:lstStyle/>
          <a:p>
            <a:pPr algn="ctr" indent="0" marL="0">
              <a:buNone/>
            </a:pPr>
            <a:r>
              <a:rPr lang="en-US" sz="1100" b="1" dirty="0">
                <a:solidFill>
                  <a:srgbClr val="B8862B"/>
                </a:solidFill>
                <a:latin typeface="Georgia" pitchFamily="34" charset="0"/>
                <a:ea typeface="Georgia" pitchFamily="34" charset="-122"/>
                <a:cs typeface="Georgia" pitchFamily="34" charset="-120"/>
              </a:rPr>
              <a:t>Lv.3</a:t>
            </a:r>
            <a:endParaRPr lang="en-US" sz="1100" dirty="0"/>
          </a:p>
        </p:txBody>
      </p:sp>
      <p:sp>
        <p:nvSpPr>
          <p:cNvPr id="24" name="Shape 19"/>
          <p:cNvSpPr/>
          <p:nvPr/>
        </p:nvSpPr>
        <p:spPr>
          <a:xfrm>
            <a:off x="4498848" y="3246120"/>
            <a:ext cx="438912" cy="438912"/>
          </a:xfrm>
          <a:prstGeom prst="ellipse">
            <a:avLst/>
          </a:prstGeom>
          <a:solidFill>
            <a:srgbClr val="3F7A5C"/>
          </a:solidFill>
          <a:ln w="38100">
            <a:solidFill>
              <a:srgbClr val="FFFFFF"/>
            </a:solidFill>
            <a:prstDash val="solid"/>
          </a:ln>
        </p:spPr>
      </p:sp>
      <p:sp>
        <p:nvSpPr>
          <p:cNvPr id="25" name="Text 20"/>
          <p:cNvSpPr/>
          <p:nvPr/>
        </p:nvSpPr>
        <p:spPr>
          <a:xfrm>
            <a:off x="3529584" y="2852928"/>
            <a:ext cx="2377440" cy="320040"/>
          </a:xfrm>
          <a:prstGeom prst="rect">
            <a:avLst/>
          </a:prstGeom>
          <a:noFill/>
          <a:ln/>
        </p:spPr>
        <p:txBody>
          <a:bodyPr wrap="square" lIns="0" tIns="0" rIns="0" bIns="0" rtlCol="0" anchor="t"/>
          <a:lstStyle/>
          <a:p>
            <a:pPr algn="ctr" indent="0" marL="0">
              <a:buNone/>
            </a:pPr>
            <a:r>
              <a:rPr lang="en-US" sz="1400" b="1" dirty="0">
                <a:solidFill>
                  <a:srgbClr val="3F7A5C"/>
                </a:solidFill>
                <a:latin typeface="BIZ UDPゴシック" pitchFamily="34" charset="0"/>
                <a:ea typeface="BIZ UDPゴシック" pitchFamily="34" charset="-122"/>
                <a:cs typeface="BIZ UDPゴシック" pitchFamily="34" charset="-120"/>
              </a:rPr>
              <a:t>Sprint 3–4</a:t>
            </a:r>
            <a:endParaRPr lang="en-US" sz="1400" dirty="0"/>
          </a:p>
        </p:txBody>
      </p:sp>
      <p:sp>
        <p:nvSpPr>
          <p:cNvPr id="26" name="Shape 21"/>
          <p:cNvSpPr/>
          <p:nvPr/>
        </p:nvSpPr>
        <p:spPr>
          <a:xfrm>
            <a:off x="3419856" y="3886200"/>
            <a:ext cx="2596896" cy="2267712"/>
          </a:xfrm>
          <a:prstGeom prst="roundRect">
            <a:avLst>
              <a:gd name="adj" fmla="val 3226"/>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7" name="Shape 22"/>
          <p:cNvSpPr/>
          <p:nvPr/>
        </p:nvSpPr>
        <p:spPr>
          <a:xfrm>
            <a:off x="3419856" y="3886200"/>
            <a:ext cx="2596896" cy="91440"/>
          </a:xfrm>
          <a:prstGeom prst="rect">
            <a:avLst/>
          </a:prstGeom>
          <a:solidFill>
            <a:srgbClr val="3F7A5C"/>
          </a:solidFill>
          <a:ln/>
        </p:spPr>
      </p:sp>
      <p:sp>
        <p:nvSpPr>
          <p:cNvPr id="28" name="Text 23"/>
          <p:cNvSpPr/>
          <p:nvPr/>
        </p:nvSpPr>
        <p:spPr>
          <a:xfrm>
            <a:off x="3529584" y="4041648"/>
            <a:ext cx="2377440" cy="384048"/>
          </a:xfrm>
          <a:prstGeom prst="rect">
            <a:avLst/>
          </a:prstGeom>
          <a:noFill/>
          <a:ln/>
        </p:spPr>
        <p:txBody>
          <a:bodyPr wrap="square" lIns="0" tIns="0" rIns="0" bIns="0" rtlCol="0" anchor="ctr"/>
          <a:lstStyle/>
          <a:p>
            <a:pPr algn="ctr" indent="0" marL="0">
              <a:buNone/>
            </a:pPr>
            <a:r>
              <a:rPr lang="en-US" sz="1450" b="1" dirty="0">
                <a:solidFill>
                  <a:srgbClr val="3A2E20"/>
                </a:solidFill>
                <a:latin typeface="BIZ UDPゴシック" pitchFamily="34" charset="0"/>
                <a:ea typeface="BIZ UDPゴシック" pitchFamily="34" charset="-122"/>
                <a:cs typeface="BIZ UDPゴシック" pitchFamily="34" charset="-120"/>
              </a:rPr>
              <a:t>AI・地図連携とMVP</a:t>
            </a:r>
            <a:endParaRPr lang="en-US" sz="1450" dirty="0"/>
          </a:p>
        </p:txBody>
      </p:sp>
      <p:sp>
        <p:nvSpPr>
          <p:cNvPr id="29" name="Shape 24"/>
          <p:cNvSpPr/>
          <p:nvPr/>
        </p:nvSpPr>
        <p:spPr>
          <a:xfrm>
            <a:off x="3621024" y="4498848"/>
            <a:ext cx="2194560" cy="0"/>
          </a:xfrm>
          <a:prstGeom prst="line">
            <a:avLst/>
          </a:prstGeom>
          <a:noFill/>
          <a:ln w="12700">
            <a:solidFill>
              <a:srgbClr val="DCC48A"/>
            </a:solidFill>
            <a:prstDash val="solid"/>
          </a:ln>
        </p:spPr>
      </p:sp>
      <p:sp>
        <p:nvSpPr>
          <p:cNvPr id="30" name="Text 25"/>
          <p:cNvSpPr/>
          <p:nvPr/>
        </p:nvSpPr>
        <p:spPr>
          <a:xfrm>
            <a:off x="3575304" y="4572000"/>
            <a:ext cx="2286000" cy="685800"/>
          </a:xfrm>
          <a:prstGeom prst="rect">
            <a:avLst/>
          </a:prstGeom>
          <a:noFill/>
          <a:ln/>
        </p:spPr>
        <p:txBody>
          <a:bodyPr wrap="square" lIns="0" tIns="0" rIns="0" bIns="0" rtlCol="0" anchor="t"/>
          <a:lstStyle/>
          <a:p>
            <a:pPr indent="0" marL="0">
              <a:buNone/>
            </a:pPr>
            <a:r>
              <a:rPr lang="en-US" sz="1000" b="1" dirty="0">
                <a:solidFill>
                  <a:srgbClr val="B3372B"/>
                </a:solidFill>
                <a:latin typeface="BIZ UDPゴシック" pitchFamily="34" charset="0"/>
                <a:ea typeface="BIZ UDPゴシック" pitchFamily="34" charset="-122"/>
                <a:cs typeface="BIZ UDPゴシック" pitchFamily="34" charset="-120"/>
              </a:rPr>
              <a:t>課題</a:t>
            </a:r>
            <a:endParaRPr lang="en-US" sz="1250" dirty="0"/>
          </a:p>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知識の偏り</a:t>
            </a:r>
            <a:endParaRPr lang="en-US" sz="1250" dirty="0"/>
          </a:p>
        </p:txBody>
      </p:sp>
      <p:sp>
        <p:nvSpPr>
          <p:cNvPr id="31" name="Text 26"/>
          <p:cNvSpPr/>
          <p:nvPr/>
        </p:nvSpPr>
        <p:spPr>
          <a:xfrm>
            <a:off x="3575304" y="5303520"/>
            <a:ext cx="2286000" cy="777240"/>
          </a:xfrm>
          <a:prstGeom prst="rect">
            <a:avLst/>
          </a:prstGeom>
          <a:noFill/>
          <a:ln/>
        </p:spPr>
        <p:txBody>
          <a:bodyPr wrap="square" lIns="0" tIns="0" rIns="0" bIns="0" rtlCol="0" anchor="t"/>
          <a:lstStyle/>
          <a:p>
            <a:pPr indent="0" marL="0">
              <a:buNone/>
            </a:pPr>
            <a:r>
              <a:rPr lang="en-US" sz="1000" b="1" dirty="0">
                <a:solidFill>
                  <a:srgbClr val="3F7A5C"/>
                </a:solidFill>
                <a:latin typeface="BIZ UDPゴシック" pitchFamily="34" charset="0"/>
                <a:ea typeface="BIZ UDPゴシック" pitchFamily="34" charset="-122"/>
                <a:cs typeface="BIZ UDPゴシック" pitchFamily="34" charset="-120"/>
              </a:rPr>
              <a:t>解決策</a:t>
            </a:r>
            <a:endParaRPr lang="en-US" sz="1250" dirty="0"/>
          </a:p>
          <a:p>
            <a:pPr indent="0" marL="0">
              <a:buNone/>
            </a:pPr>
            <a:r>
              <a:rPr lang="en-US" sz="1250" b="1" dirty="0">
                <a:solidFill>
                  <a:srgbClr val="3A2E20"/>
                </a:solidFill>
                <a:latin typeface="BIZ UDPゴシック" pitchFamily="34" charset="0"/>
                <a:ea typeface="BIZ UDPゴシック" pitchFamily="34" charset="-122"/>
                <a:cs typeface="BIZ UDPゴシック" pitchFamily="34" charset="-120"/>
              </a:rPr>
              <a:t>都度、チーム編成</a:t>
            </a:r>
            <a:endParaRPr lang="en-US" sz="1250" dirty="0"/>
          </a:p>
        </p:txBody>
      </p:sp>
      <p:pic>
        <p:nvPicPr>
          <p:cNvPr id="32" name="Image 2" descr="C:\Users\ltosuser\AppData\Local\Temp\michishiru-ppt\img\lv05.png">    </p:cNvPr>
          <p:cNvPicPr>
            <a:picLocks noChangeAspect="1"/>
          </p:cNvPicPr>
          <p:nvPr/>
        </p:nvPicPr>
        <p:blipFill>
          <a:blip r:embed="rId3"/>
          <a:stretch>
            <a:fillRect/>
          </a:stretch>
        </p:blipFill>
        <p:spPr>
          <a:xfrm>
            <a:off x="6931152" y="1417320"/>
            <a:ext cx="1133856" cy="1133856"/>
          </a:xfrm>
          <a:prstGeom prst="rect">
            <a:avLst/>
          </a:prstGeom>
        </p:spPr>
      </p:pic>
      <p:sp>
        <p:nvSpPr>
          <p:cNvPr id="33" name="Text 27"/>
          <p:cNvSpPr/>
          <p:nvPr/>
        </p:nvSpPr>
        <p:spPr>
          <a:xfrm>
            <a:off x="6949440" y="2578608"/>
            <a:ext cx="1097280" cy="256032"/>
          </a:xfrm>
          <a:prstGeom prst="rect">
            <a:avLst/>
          </a:prstGeom>
          <a:noFill/>
          <a:ln/>
        </p:spPr>
        <p:txBody>
          <a:bodyPr wrap="square" lIns="0" tIns="0" rIns="0" bIns="0" rtlCol="0" anchor="t"/>
          <a:lstStyle/>
          <a:p>
            <a:pPr algn="ctr" indent="0" marL="0">
              <a:buNone/>
            </a:pPr>
            <a:r>
              <a:rPr lang="en-US" sz="1100" b="1" dirty="0">
                <a:solidFill>
                  <a:srgbClr val="B8862B"/>
                </a:solidFill>
                <a:latin typeface="Georgia" pitchFamily="34" charset="0"/>
                <a:ea typeface="Georgia" pitchFamily="34" charset="-122"/>
                <a:cs typeface="Georgia" pitchFamily="34" charset="-120"/>
              </a:rPr>
              <a:t>Lv.5</a:t>
            </a:r>
            <a:endParaRPr lang="en-US" sz="1100" dirty="0"/>
          </a:p>
        </p:txBody>
      </p:sp>
      <p:sp>
        <p:nvSpPr>
          <p:cNvPr id="34" name="Shape 28"/>
          <p:cNvSpPr/>
          <p:nvPr/>
        </p:nvSpPr>
        <p:spPr>
          <a:xfrm>
            <a:off x="7278624" y="3246120"/>
            <a:ext cx="438912" cy="438912"/>
          </a:xfrm>
          <a:prstGeom prst="ellipse">
            <a:avLst/>
          </a:prstGeom>
          <a:solidFill>
            <a:srgbClr val="5F4C91"/>
          </a:solidFill>
          <a:ln w="38100">
            <a:solidFill>
              <a:srgbClr val="FFFFFF"/>
            </a:solidFill>
            <a:prstDash val="solid"/>
          </a:ln>
        </p:spPr>
      </p:sp>
      <p:sp>
        <p:nvSpPr>
          <p:cNvPr id="35" name="Text 29"/>
          <p:cNvSpPr/>
          <p:nvPr/>
        </p:nvSpPr>
        <p:spPr>
          <a:xfrm>
            <a:off x="6309360" y="2852928"/>
            <a:ext cx="2377440" cy="320040"/>
          </a:xfrm>
          <a:prstGeom prst="rect">
            <a:avLst/>
          </a:prstGeom>
          <a:noFill/>
          <a:ln/>
        </p:spPr>
        <p:txBody>
          <a:bodyPr wrap="square" lIns="0" tIns="0" rIns="0" bIns="0" rtlCol="0" anchor="t"/>
          <a:lstStyle/>
          <a:p>
            <a:pPr algn="ctr" indent="0" marL="0">
              <a:buNone/>
            </a:pPr>
            <a:r>
              <a:rPr lang="en-US" sz="1400" b="1" dirty="0">
                <a:solidFill>
                  <a:srgbClr val="5F4C91"/>
                </a:solidFill>
                <a:latin typeface="BIZ UDPゴシック" pitchFamily="34" charset="0"/>
                <a:ea typeface="BIZ UDPゴシック" pitchFamily="34" charset="-122"/>
                <a:cs typeface="BIZ UDPゴシック" pitchFamily="34" charset="-120"/>
              </a:rPr>
              <a:t>Sprint 5–7</a:t>
            </a:r>
            <a:endParaRPr lang="en-US" sz="1400" dirty="0"/>
          </a:p>
        </p:txBody>
      </p:sp>
      <p:sp>
        <p:nvSpPr>
          <p:cNvPr id="36" name="Shape 30"/>
          <p:cNvSpPr/>
          <p:nvPr/>
        </p:nvSpPr>
        <p:spPr>
          <a:xfrm>
            <a:off x="6199632" y="3886200"/>
            <a:ext cx="2596896" cy="2267712"/>
          </a:xfrm>
          <a:prstGeom prst="roundRect">
            <a:avLst>
              <a:gd name="adj" fmla="val 3226"/>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7" name="Shape 31"/>
          <p:cNvSpPr/>
          <p:nvPr/>
        </p:nvSpPr>
        <p:spPr>
          <a:xfrm>
            <a:off x="6199632" y="3886200"/>
            <a:ext cx="2596896" cy="91440"/>
          </a:xfrm>
          <a:prstGeom prst="rect">
            <a:avLst/>
          </a:prstGeom>
          <a:solidFill>
            <a:srgbClr val="5F4C91"/>
          </a:solidFill>
          <a:ln/>
        </p:spPr>
      </p:sp>
      <p:sp>
        <p:nvSpPr>
          <p:cNvPr id="38" name="Text 32"/>
          <p:cNvSpPr/>
          <p:nvPr/>
        </p:nvSpPr>
        <p:spPr>
          <a:xfrm>
            <a:off x="6309360" y="4041648"/>
            <a:ext cx="2377440" cy="384048"/>
          </a:xfrm>
          <a:prstGeom prst="rect">
            <a:avLst/>
          </a:prstGeom>
          <a:noFill/>
          <a:ln/>
        </p:spPr>
        <p:txBody>
          <a:bodyPr wrap="square" lIns="0" tIns="0" rIns="0" bIns="0" rtlCol="0" anchor="ctr"/>
          <a:lstStyle/>
          <a:p>
            <a:pPr algn="ctr" indent="0" marL="0">
              <a:buNone/>
            </a:pPr>
            <a:r>
              <a:rPr lang="en-US" sz="1450" b="1" dirty="0">
                <a:solidFill>
                  <a:srgbClr val="3A2E20"/>
                </a:solidFill>
                <a:latin typeface="BIZ UDPゴシック" pitchFamily="34" charset="0"/>
                <a:ea typeface="BIZ UDPゴシック" pitchFamily="34" charset="-122"/>
                <a:cs typeface="BIZ UDPゴシック" pitchFamily="34" charset="-120"/>
              </a:rPr>
              <a:t>MVP完成・追加機能</a:t>
            </a:r>
            <a:endParaRPr lang="en-US" sz="1450" dirty="0"/>
          </a:p>
        </p:txBody>
      </p:sp>
      <p:sp>
        <p:nvSpPr>
          <p:cNvPr id="39" name="Shape 33"/>
          <p:cNvSpPr/>
          <p:nvPr/>
        </p:nvSpPr>
        <p:spPr>
          <a:xfrm>
            <a:off x="6400800" y="4498848"/>
            <a:ext cx="2194560" cy="0"/>
          </a:xfrm>
          <a:prstGeom prst="line">
            <a:avLst/>
          </a:prstGeom>
          <a:noFill/>
          <a:ln w="12700">
            <a:solidFill>
              <a:srgbClr val="DCC48A"/>
            </a:solidFill>
            <a:prstDash val="solid"/>
          </a:ln>
        </p:spPr>
      </p:sp>
      <p:sp>
        <p:nvSpPr>
          <p:cNvPr id="40" name="Text 34"/>
          <p:cNvSpPr/>
          <p:nvPr/>
        </p:nvSpPr>
        <p:spPr>
          <a:xfrm>
            <a:off x="6355080" y="4572000"/>
            <a:ext cx="2286000" cy="685800"/>
          </a:xfrm>
          <a:prstGeom prst="rect">
            <a:avLst/>
          </a:prstGeom>
          <a:noFill/>
          <a:ln/>
        </p:spPr>
        <p:txBody>
          <a:bodyPr wrap="square" lIns="0" tIns="0" rIns="0" bIns="0" rtlCol="0" anchor="t"/>
          <a:lstStyle/>
          <a:p>
            <a:pPr indent="0" marL="0">
              <a:buNone/>
            </a:pPr>
            <a:r>
              <a:rPr lang="en-US" sz="1000" b="1" dirty="0">
                <a:solidFill>
                  <a:srgbClr val="B3372B"/>
                </a:solidFill>
                <a:latin typeface="BIZ UDPゴシック" pitchFamily="34" charset="0"/>
                <a:ea typeface="BIZ UDPゴシック" pitchFamily="34" charset="-122"/>
                <a:cs typeface="BIZ UDPゴシック" pitchFamily="34" charset="-120"/>
              </a:rPr>
              <a:t>課題</a:t>
            </a:r>
            <a:endParaRPr lang="en-US" sz="1250" dirty="0"/>
          </a:p>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優先順位があやふや</a:t>
            </a:r>
            <a:endParaRPr lang="en-US" sz="1250" dirty="0"/>
          </a:p>
        </p:txBody>
      </p:sp>
      <p:sp>
        <p:nvSpPr>
          <p:cNvPr id="41" name="Text 35"/>
          <p:cNvSpPr/>
          <p:nvPr/>
        </p:nvSpPr>
        <p:spPr>
          <a:xfrm>
            <a:off x="6355080" y="5303520"/>
            <a:ext cx="2286000" cy="777240"/>
          </a:xfrm>
          <a:prstGeom prst="rect">
            <a:avLst/>
          </a:prstGeom>
          <a:noFill/>
          <a:ln/>
        </p:spPr>
        <p:txBody>
          <a:bodyPr wrap="square" lIns="0" tIns="0" rIns="0" bIns="0" rtlCol="0" anchor="t"/>
          <a:lstStyle/>
          <a:p>
            <a:pPr indent="0" marL="0">
              <a:buNone/>
            </a:pPr>
            <a:r>
              <a:rPr lang="en-US" sz="1000" b="1" dirty="0">
                <a:solidFill>
                  <a:srgbClr val="3F7A5C"/>
                </a:solidFill>
                <a:latin typeface="BIZ UDPゴシック" pitchFamily="34" charset="0"/>
                <a:ea typeface="BIZ UDPゴシック" pitchFamily="34" charset="-122"/>
                <a:cs typeface="BIZ UDPゴシック" pitchFamily="34" charset="-120"/>
              </a:rPr>
              <a:t>解決策</a:t>
            </a:r>
            <a:endParaRPr lang="en-US" sz="1250" dirty="0"/>
          </a:p>
          <a:p>
            <a:pPr indent="0" marL="0">
              <a:buNone/>
            </a:pPr>
            <a:r>
              <a:rPr lang="en-US" sz="1250" b="1" dirty="0">
                <a:solidFill>
                  <a:srgbClr val="3A2E20"/>
                </a:solidFill>
                <a:latin typeface="BIZ UDPゴシック" pitchFamily="34" charset="0"/>
                <a:ea typeface="BIZ UDPゴシック" pitchFamily="34" charset="-122"/>
                <a:cs typeface="BIZ UDPゴシック" pitchFamily="34" charset="-120"/>
              </a:rPr>
              <a:t>バックログを整備</a:t>
            </a:r>
            <a:endParaRPr lang="en-US" sz="1250" dirty="0"/>
          </a:p>
        </p:txBody>
      </p:sp>
      <p:pic>
        <p:nvPicPr>
          <p:cNvPr id="42" name="Image 3" descr="C:\Users\ltosuser\AppData\Local\Temp\michishiru-ppt\img\lv08.png">    </p:cNvPr>
          <p:cNvPicPr>
            <a:picLocks noChangeAspect="1"/>
          </p:cNvPicPr>
          <p:nvPr/>
        </p:nvPicPr>
        <p:blipFill>
          <a:blip r:embed="rId4"/>
          <a:stretch>
            <a:fillRect/>
          </a:stretch>
        </p:blipFill>
        <p:spPr>
          <a:xfrm>
            <a:off x="9710928" y="1417320"/>
            <a:ext cx="1133856" cy="1133856"/>
          </a:xfrm>
          <a:prstGeom prst="rect">
            <a:avLst/>
          </a:prstGeom>
        </p:spPr>
      </p:pic>
      <p:sp>
        <p:nvSpPr>
          <p:cNvPr id="43" name="Text 36"/>
          <p:cNvSpPr/>
          <p:nvPr/>
        </p:nvSpPr>
        <p:spPr>
          <a:xfrm>
            <a:off x="9729216" y="2578608"/>
            <a:ext cx="1097280" cy="256032"/>
          </a:xfrm>
          <a:prstGeom prst="rect">
            <a:avLst/>
          </a:prstGeom>
          <a:noFill/>
          <a:ln/>
        </p:spPr>
        <p:txBody>
          <a:bodyPr wrap="square" lIns="0" tIns="0" rIns="0" bIns="0" rtlCol="0" anchor="t"/>
          <a:lstStyle/>
          <a:p>
            <a:pPr algn="ctr" indent="0" marL="0">
              <a:buNone/>
            </a:pPr>
            <a:r>
              <a:rPr lang="en-US" sz="1100" b="1" dirty="0">
                <a:solidFill>
                  <a:srgbClr val="B8862B"/>
                </a:solidFill>
                <a:latin typeface="Georgia" pitchFamily="34" charset="0"/>
                <a:ea typeface="Georgia" pitchFamily="34" charset="-122"/>
                <a:cs typeface="Georgia" pitchFamily="34" charset="-120"/>
              </a:rPr>
              <a:t>Lv.8</a:t>
            </a:r>
            <a:endParaRPr lang="en-US" sz="1100" dirty="0"/>
          </a:p>
        </p:txBody>
      </p:sp>
      <p:sp>
        <p:nvSpPr>
          <p:cNvPr id="44" name="Shape 37"/>
          <p:cNvSpPr/>
          <p:nvPr/>
        </p:nvSpPr>
        <p:spPr>
          <a:xfrm>
            <a:off x="10058400" y="3246120"/>
            <a:ext cx="438912" cy="438912"/>
          </a:xfrm>
          <a:prstGeom prst="ellipse">
            <a:avLst/>
          </a:prstGeom>
          <a:solidFill>
            <a:srgbClr val="45356B"/>
          </a:solidFill>
          <a:ln w="38100">
            <a:solidFill>
              <a:srgbClr val="FFFFFF"/>
            </a:solidFill>
            <a:prstDash val="solid"/>
          </a:ln>
        </p:spPr>
      </p:sp>
      <p:sp>
        <p:nvSpPr>
          <p:cNvPr id="45" name="Text 38"/>
          <p:cNvSpPr/>
          <p:nvPr/>
        </p:nvSpPr>
        <p:spPr>
          <a:xfrm>
            <a:off x="9089136" y="2852928"/>
            <a:ext cx="2377440" cy="320040"/>
          </a:xfrm>
          <a:prstGeom prst="rect">
            <a:avLst/>
          </a:prstGeom>
          <a:noFill/>
          <a:ln/>
        </p:spPr>
        <p:txBody>
          <a:bodyPr wrap="square" lIns="0" tIns="0" rIns="0" bIns="0" rtlCol="0" anchor="t"/>
          <a:lstStyle/>
          <a:p>
            <a:pPr algn="ctr" indent="0" marL="0">
              <a:buNone/>
            </a:pPr>
            <a:r>
              <a:rPr lang="en-US" sz="1400" b="1" dirty="0">
                <a:solidFill>
                  <a:srgbClr val="45356B"/>
                </a:solidFill>
                <a:latin typeface="BIZ UDPゴシック" pitchFamily="34" charset="0"/>
                <a:ea typeface="BIZ UDPゴシック" pitchFamily="34" charset="-122"/>
                <a:cs typeface="BIZ UDPゴシック" pitchFamily="34" charset="-120"/>
              </a:rPr>
              <a:t>Sprint 8–10</a:t>
            </a:r>
            <a:endParaRPr lang="en-US" sz="1400" dirty="0"/>
          </a:p>
        </p:txBody>
      </p:sp>
      <p:sp>
        <p:nvSpPr>
          <p:cNvPr id="46" name="Shape 39"/>
          <p:cNvSpPr/>
          <p:nvPr/>
        </p:nvSpPr>
        <p:spPr>
          <a:xfrm>
            <a:off x="8979408" y="3886200"/>
            <a:ext cx="2596896" cy="2267712"/>
          </a:xfrm>
          <a:prstGeom prst="roundRect">
            <a:avLst>
              <a:gd name="adj" fmla="val 3226"/>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47" name="Shape 40"/>
          <p:cNvSpPr/>
          <p:nvPr/>
        </p:nvSpPr>
        <p:spPr>
          <a:xfrm>
            <a:off x="8979408" y="3886200"/>
            <a:ext cx="2596896" cy="91440"/>
          </a:xfrm>
          <a:prstGeom prst="rect">
            <a:avLst/>
          </a:prstGeom>
          <a:solidFill>
            <a:srgbClr val="45356B"/>
          </a:solidFill>
          <a:ln/>
        </p:spPr>
      </p:sp>
      <p:sp>
        <p:nvSpPr>
          <p:cNvPr id="48" name="Text 41"/>
          <p:cNvSpPr/>
          <p:nvPr/>
        </p:nvSpPr>
        <p:spPr>
          <a:xfrm>
            <a:off x="9089136" y="4041648"/>
            <a:ext cx="2377440" cy="384048"/>
          </a:xfrm>
          <a:prstGeom prst="rect">
            <a:avLst/>
          </a:prstGeom>
          <a:noFill/>
          <a:ln/>
        </p:spPr>
        <p:txBody>
          <a:bodyPr wrap="square" lIns="0" tIns="0" rIns="0" bIns="0" rtlCol="0" anchor="ctr"/>
          <a:lstStyle/>
          <a:p>
            <a:pPr algn="ctr" indent="0" marL="0">
              <a:buNone/>
            </a:pPr>
            <a:r>
              <a:rPr lang="en-US" sz="1450" b="1" dirty="0">
                <a:solidFill>
                  <a:srgbClr val="3A2E20"/>
                </a:solidFill>
                <a:latin typeface="BIZ UDPゴシック" pitchFamily="34" charset="0"/>
                <a:ea typeface="BIZ UDPゴシック" pitchFamily="34" charset="-122"/>
                <a:cs typeface="BIZ UDPゴシック" pitchFamily="34" charset="-120"/>
              </a:rPr>
              <a:t>追加機能・使用感UP</a:t>
            </a:r>
            <a:endParaRPr lang="en-US" sz="1450" dirty="0"/>
          </a:p>
        </p:txBody>
      </p:sp>
      <p:sp>
        <p:nvSpPr>
          <p:cNvPr id="49" name="Shape 42"/>
          <p:cNvSpPr/>
          <p:nvPr/>
        </p:nvSpPr>
        <p:spPr>
          <a:xfrm>
            <a:off x="9180576" y="4498848"/>
            <a:ext cx="2194560" cy="0"/>
          </a:xfrm>
          <a:prstGeom prst="line">
            <a:avLst/>
          </a:prstGeom>
          <a:noFill/>
          <a:ln w="12700">
            <a:solidFill>
              <a:srgbClr val="DCC48A"/>
            </a:solidFill>
            <a:prstDash val="solid"/>
          </a:ln>
        </p:spPr>
      </p:sp>
      <p:sp>
        <p:nvSpPr>
          <p:cNvPr id="50" name="Text 43"/>
          <p:cNvSpPr/>
          <p:nvPr/>
        </p:nvSpPr>
        <p:spPr>
          <a:xfrm>
            <a:off x="9134856" y="4572000"/>
            <a:ext cx="2286000" cy="685800"/>
          </a:xfrm>
          <a:prstGeom prst="rect">
            <a:avLst/>
          </a:prstGeom>
          <a:noFill/>
          <a:ln/>
        </p:spPr>
        <p:txBody>
          <a:bodyPr wrap="square" lIns="0" tIns="0" rIns="0" bIns="0" rtlCol="0" anchor="t"/>
          <a:lstStyle/>
          <a:p>
            <a:pPr indent="0" marL="0">
              <a:buNone/>
            </a:pPr>
            <a:r>
              <a:rPr lang="en-US" sz="1000" b="1" dirty="0">
                <a:solidFill>
                  <a:srgbClr val="6B5B46"/>
                </a:solidFill>
                <a:latin typeface="BIZ UDPゴシック" pitchFamily="34" charset="0"/>
                <a:ea typeface="BIZ UDPゴシック" pitchFamily="34" charset="-122"/>
                <a:cs typeface="BIZ UDPゴシック" pitchFamily="34" charset="-120"/>
              </a:rPr>
              <a:t>テーマ</a:t>
            </a:r>
            <a:endParaRPr lang="en-US" sz="1250" dirty="0"/>
          </a:p>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仕上げの時期</a:t>
            </a:r>
            <a:endParaRPr lang="en-US" sz="1250" dirty="0"/>
          </a:p>
        </p:txBody>
      </p:sp>
      <p:sp>
        <p:nvSpPr>
          <p:cNvPr id="51" name="Text 44"/>
          <p:cNvSpPr/>
          <p:nvPr/>
        </p:nvSpPr>
        <p:spPr>
          <a:xfrm>
            <a:off x="9134856" y="5303520"/>
            <a:ext cx="2286000" cy="777240"/>
          </a:xfrm>
          <a:prstGeom prst="rect">
            <a:avLst/>
          </a:prstGeom>
          <a:noFill/>
          <a:ln/>
        </p:spPr>
        <p:txBody>
          <a:bodyPr wrap="square" lIns="0" tIns="0" rIns="0" bIns="0" rtlCol="0" anchor="t"/>
          <a:lstStyle/>
          <a:p>
            <a:pPr indent="0" marL="0">
              <a:buNone/>
            </a:pPr>
            <a:r>
              <a:rPr lang="en-US" sz="1000" b="1" dirty="0">
                <a:solidFill>
                  <a:srgbClr val="3F7A5C"/>
                </a:solidFill>
                <a:latin typeface="BIZ UDPゴシック" pitchFamily="34" charset="0"/>
                <a:ea typeface="BIZ UDPゴシック" pitchFamily="34" charset="-122"/>
                <a:cs typeface="BIZ UDPゴシック" pitchFamily="34" charset="-120"/>
              </a:rPr>
              <a:t>やったこと</a:t>
            </a:r>
            <a:endParaRPr lang="en-US" sz="1250" dirty="0"/>
          </a:p>
          <a:p>
            <a:pPr indent="0" marL="0">
              <a:buNone/>
            </a:pPr>
            <a:r>
              <a:rPr lang="en-US" sz="1250" b="1" dirty="0">
                <a:solidFill>
                  <a:srgbClr val="3A2E20"/>
                </a:solidFill>
                <a:latin typeface="BIZ UDPゴシック" pitchFamily="34" charset="0"/>
                <a:ea typeface="BIZ UDPゴシック" pitchFamily="34" charset="-122"/>
                <a:cs typeface="BIZ UDPゴシック" pitchFamily="34" charset="-120"/>
              </a:rPr>
              <a:t>微調整で使い心地を向上</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02 PROCESS ｜ SPRINT 1–2</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Sprint 1–2：環境構築</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02 開発プロセス・協働</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18</a:t>
            </a:r>
            <a:endParaRPr lang="en-US" sz="900" dirty="0"/>
          </a:p>
        </p:txBody>
      </p:sp>
      <p:sp>
        <p:nvSpPr>
          <p:cNvPr id="11" name="Shape 8"/>
          <p:cNvSpPr/>
          <p:nvPr/>
        </p:nvSpPr>
        <p:spPr>
          <a:xfrm>
            <a:off x="548640" y="1463040"/>
            <a:ext cx="3429000" cy="3794760"/>
          </a:xfrm>
          <a:prstGeom prst="roundRect">
            <a:avLst>
              <a:gd name="adj" fmla="val 213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2" name="Shape 9"/>
          <p:cNvSpPr/>
          <p:nvPr/>
        </p:nvSpPr>
        <p:spPr>
          <a:xfrm>
            <a:off x="548640" y="1463040"/>
            <a:ext cx="3429000" cy="502920"/>
          </a:xfrm>
          <a:prstGeom prst="rect">
            <a:avLst/>
          </a:prstGeom>
          <a:solidFill>
            <a:srgbClr val="3F7A5C"/>
          </a:solidFill>
          <a:ln/>
        </p:spPr>
      </p:sp>
      <p:sp>
        <p:nvSpPr>
          <p:cNvPr id="13" name="Text 10"/>
          <p:cNvSpPr/>
          <p:nvPr/>
        </p:nvSpPr>
        <p:spPr>
          <a:xfrm>
            <a:off x="548640" y="1463040"/>
            <a:ext cx="34290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やったこと</a:t>
            </a:r>
            <a:endParaRPr lang="en-US" sz="1600" dirty="0"/>
          </a:p>
        </p:txBody>
      </p:sp>
      <p:sp>
        <p:nvSpPr>
          <p:cNvPr id="14" name="Shape 11"/>
          <p:cNvSpPr/>
          <p:nvPr/>
        </p:nvSpPr>
        <p:spPr>
          <a:xfrm>
            <a:off x="731520" y="2148840"/>
            <a:ext cx="3063240" cy="914400"/>
          </a:xfrm>
          <a:prstGeom prst="roundRect">
            <a:avLst>
              <a:gd name="adj" fmla="val 8000"/>
            </a:avLst>
          </a:prstGeom>
          <a:solidFill>
            <a:srgbClr val="E4EFE8"/>
          </a:solidFill>
          <a:ln/>
        </p:spPr>
      </p:sp>
      <p:sp>
        <p:nvSpPr>
          <p:cNvPr id="15" name="Text 12"/>
          <p:cNvSpPr/>
          <p:nvPr/>
        </p:nvSpPr>
        <p:spPr>
          <a:xfrm>
            <a:off x="822960" y="2148840"/>
            <a:ext cx="2880360" cy="914400"/>
          </a:xfrm>
          <a:prstGeom prst="rect">
            <a:avLst/>
          </a:prstGeom>
          <a:noFill/>
          <a:ln/>
        </p:spPr>
        <p:txBody>
          <a:bodyPr wrap="square" lIns="0" tIns="0" rIns="0" bIns="0" rtlCol="0" anchor="ctr"/>
          <a:lstStyle/>
          <a:p>
            <a:pPr algn="ctr" indent="0" marL="0">
              <a:buNone/>
            </a:pPr>
            <a:r>
              <a:rPr lang="en-US" sz="1650" b="1" dirty="0">
                <a:solidFill>
                  <a:srgbClr val="3F7A5C"/>
                </a:solidFill>
                <a:latin typeface="BIZ UDPゴシック" pitchFamily="34" charset="0"/>
                <a:ea typeface="BIZ UDPゴシック" pitchFamily="34" charset="-122"/>
                <a:cs typeface="BIZ UDPゴシック" pitchFamily="34" charset="-120"/>
              </a:rPr>
              <a:t>開発の土台づくり</a:t>
            </a:r>
            <a:endParaRPr lang="en-US" sz="1650" dirty="0"/>
          </a:p>
        </p:txBody>
      </p:sp>
      <p:sp>
        <p:nvSpPr>
          <p:cNvPr id="16" name="Text 13"/>
          <p:cNvSpPr/>
          <p:nvPr/>
        </p:nvSpPr>
        <p:spPr>
          <a:xfrm>
            <a:off x="777240" y="3246120"/>
            <a:ext cx="3017520" cy="192024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AWS CDK でインフラをコード化</a:t>
            </a:r>
            <a:endParaRPr lang="en-US" sz="1250" dirty="0"/>
          </a:p>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GitHub Actions で CI/CD を構築</a:t>
            </a:r>
            <a:endParaRPr lang="en-US" sz="1250" dirty="0"/>
          </a:p>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開発規約（md）を整備</a:t>
            </a:r>
            <a:endParaRPr lang="en-US" sz="1250" dirty="0"/>
          </a:p>
        </p:txBody>
      </p:sp>
      <p:sp>
        <p:nvSpPr>
          <p:cNvPr id="17" name="Shape 14"/>
          <p:cNvSpPr/>
          <p:nvPr/>
        </p:nvSpPr>
        <p:spPr>
          <a:xfrm>
            <a:off x="4041648" y="3108960"/>
            <a:ext cx="292608" cy="411480"/>
          </a:xfrm>
          <a:prstGeom prst="rightArrow">
            <a:avLst/>
          </a:prstGeom>
          <a:solidFill>
            <a:srgbClr val="B8862B"/>
          </a:solidFill>
          <a:ln/>
        </p:spPr>
      </p:sp>
      <p:sp>
        <p:nvSpPr>
          <p:cNvPr id="18" name="Shape 15"/>
          <p:cNvSpPr/>
          <p:nvPr/>
        </p:nvSpPr>
        <p:spPr>
          <a:xfrm>
            <a:off x="4379976" y="1463040"/>
            <a:ext cx="3429000" cy="3794760"/>
          </a:xfrm>
          <a:prstGeom prst="roundRect">
            <a:avLst>
              <a:gd name="adj" fmla="val 213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9" name="Shape 16"/>
          <p:cNvSpPr/>
          <p:nvPr/>
        </p:nvSpPr>
        <p:spPr>
          <a:xfrm>
            <a:off x="4379976" y="1463040"/>
            <a:ext cx="3429000" cy="502920"/>
          </a:xfrm>
          <a:prstGeom prst="rect">
            <a:avLst/>
          </a:prstGeom>
          <a:solidFill>
            <a:srgbClr val="B3372B"/>
          </a:solidFill>
          <a:ln/>
        </p:spPr>
      </p:sp>
      <p:sp>
        <p:nvSpPr>
          <p:cNvPr id="20" name="Text 17"/>
          <p:cNvSpPr/>
          <p:nvPr/>
        </p:nvSpPr>
        <p:spPr>
          <a:xfrm>
            <a:off x="4379976" y="1463040"/>
            <a:ext cx="34290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課題</a:t>
            </a:r>
            <a:endParaRPr lang="en-US" sz="1600" dirty="0"/>
          </a:p>
        </p:txBody>
      </p:sp>
      <p:sp>
        <p:nvSpPr>
          <p:cNvPr id="21" name="Shape 18"/>
          <p:cNvSpPr/>
          <p:nvPr/>
        </p:nvSpPr>
        <p:spPr>
          <a:xfrm>
            <a:off x="4562856" y="2148840"/>
            <a:ext cx="3063240" cy="914400"/>
          </a:xfrm>
          <a:prstGeom prst="roundRect">
            <a:avLst>
              <a:gd name="adj" fmla="val 8000"/>
            </a:avLst>
          </a:prstGeom>
          <a:solidFill>
            <a:srgbClr val="F8E3E0"/>
          </a:solidFill>
          <a:ln/>
        </p:spPr>
      </p:sp>
      <p:sp>
        <p:nvSpPr>
          <p:cNvPr id="22" name="Text 19"/>
          <p:cNvSpPr/>
          <p:nvPr/>
        </p:nvSpPr>
        <p:spPr>
          <a:xfrm>
            <a:off x="4654296" y="2148840"/>
            <a:ext cx="2880360" cy="914400"/>
          </a:xfrm>
          <a:prstGeom prst="rect">
            <a:avLst/>
          </a:prstGeom>
          <a:noFill/>
          <a:ln/>
        </p:spPr>
        <p:txBody>
          <a:bodyPr wrap="square" lIns="0" tIns="0" rIns="0" bIns="0" rtlCol="0" anchor="ctr"/>
          <a:lstStyle/>
          <a:p>
            <a:pPr algn="ctr" indent="0" marL="0">
              <a:buNone/>
            </a:pPr>
            <a:r>
              <a:rPr lang="en-US" sz="1650" b="1" dirty="0">
                <a:solidFill>
                  <a:srgbClr val="B3372B"/>
                </a:solidFill>
                <a:latin typeface="BIZ UDPゴシック" pitchFamily="34" charset="0"/>
                <a:ea typeface="BIZ UDPゴシック" pitchFamily="34" charset="-122"/>
                <a:cs typeface="BIZ UDPゴシック" pitchFamily="34" charset="-120"/>
              </a:rPr>
              <a:t>レビューで見せる予定のものが</a:t>
            </a:r>
            <a:endParaRPr lang="en-US" sz="1650" dirty="0"/>
          </a:p>
          <a:p>
            <a:pPr algn="ctr" indent="0" marL="0">
              <a:buNone/>
            </a:pPr>
            <a:r>
              <a:rPr lang="en-US" sz="1650" b="1" dirty="0">
                <a:solidFill>
                  <a:srgbClr val="B3372B"/>
                </a:solidFill>
                <a:latin typeface="BIZ UDPゴシック" pitchFamily="34" charset="0"/>
                <a:ea typeface="BIZ UDPゴシック" pitchFamily="34" charset="-122"/>
                <a:cs typeface="BIZ UDPゴシック" pitchFamily="34" charset="-120"/>
              </a:rPr>
              <a:t>見せられなくなった</a:t>
            </a:r>
            <a:endParaRPr lang="en-US" sz="1650" dirty="0"/>
          </a:p>
        </p:txBody>
      </p:sp>
      <p:sp>
        <p:nvSpPr>
          <p:cNvPr id="23" name="Text 20"/>
          <p:cNvSpPr/>
          <p:nvPr/>
        </p:nvSpPr>
        <p:spPr>
          <a:xfrm>
            <a:off x="4608576" y="3246120"/>
            <a:ext cx="3017520" cy="192024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開発中の変更が、レビューで見せる画面にもそのまま反映される</a:t>
            </a:r>
            <a:endParaRPr lang="en-US" sz="1250" dirty="0"/>
          </a:p>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作業途中の状態で発表を迎えてしまう</a:t>
            </a:r>
            <a:endParaRPr lang="en-US" sz="1250" dirty="0"/>
          </a:p>
        </p:txBody>
      </p:sp>
      <p:sp>
        <p:nvSpPr>
          <p:cNvPr id="24" name="Shape 21"/>
          <p:cNvSpPr/>
          <p:nvPr/>
        </p:nvSpPr>
        <p:spPr>
          <a:xfrm>
            <a:off x="7872984" y="3108960"/>
            <a:ext cx="292608" cy="411480"/>
          </a:xfrm>
          <a:prstGeom prst="rightArrow">
            <a:avLst/>
          </a:prstGeom>
          <a:solidFill>
            <a:srgbClr val="B8862B"/>
          </a:solidFill>
          <a:ln/>
        </p:spPr>
      </p:sp>
      <p:sp>
        <p:nvSpPr>
          <p:cNvPr id="25" name="Shape 22"/>
          <p:cNvSpPr/>
          <p:nvPr/>
        </p:nvSpPr>
        <p:spPr>
          <a:xfrm>
            <a:off x="8211312" y="1463040"/>
            <a:ext cx="3429000" cy="3794760"/>
          </a:xfrm>
          <a:prstGeom prst="roundRect">
            <a:avLst>
              <a:gd name="adj" fmla="val 213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6" name="Shape 23"/>
          <p:cNvSpPr/>
          <p:nvPr/>
        </p:nvSpPr>
        <p:spPr>
          <a:xfrm>
            <a:off x="8211312" y="1463040"/>
            <a:ext cx="3429000" cy="502920"/>
          </a:xfrm>
          <a:prstGeom prst="rect">
            <a:avLst/>
          </a:prstGeom>
          <a:solidFill>
            <a:srgbClr val="45356B"/>
          </a:solidFill>
          <a:ln/>
        </p:spPr>
      </p:sp>
      <p:sp>
        <p:nvSpPr>
          <p:cNvPr id="27" name="Text 24"/>
          <p:cNvSpPr/>
          <p:nvPr/>
        </p:nvSpPr>
        <p:spPr>
          <a:xfrm>
            <a:off x="8211312" y="1463040"/>
            <a:ext cx="34290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解決策</a:t>
            </a:r>
            <a:endParaRPr lang="en-US" sz="1600" dirty="0"/>
          </a:p>
        </p:txBody>
      </p:sp>
      <p:sp>
        <p:nvSpPr>
          <p:cNvPr id="28" name="Shape 25"/>
          <p:cNvSpPr/>
          <p:nvPr/>
        </p:nvSpPr>
        <p:spPr>
          <a:xfrm>
            <a:off x="8394192" y="2148840"/>
            <a:ext cx="3063240" cy="914400"/>
          </a:xfrm>
          <a:prstGeom prst="roundRect">
            <a:avLst>
              <a:gd name="adj" fmla="val 8000"/>
            </a:avLst>
          </a:prstGeom>
          <a:solidFill>
            <a:srgbClr val="ECE7F5"/>
          </a:solidFill>
          <a:ln/>
        </p:spPr>
      </p:sp>
      <p:sp>
        <p:nvSpPr>
          <p:cNvPr id="29" name="Text 26"/>
          <p:cNvSpPr/>
          <p:nvPr/>
        </p:nvSpPr>
        <p:spPr>
          <a:xfrm>
            <a:off x="8485632" y="2148840"/>
            <a:ext cx="2880360" cy="914400"/>
          </a:xfrm>
          <a:prstGeom prst="rect">
            <a:avLst/>
          </a:prstGeom>
          <a:noFill/>
          <a:ln/>
        </p:spPr>
        <p:txBody>
          <a:bodyPr wrap="square" lIns="0" tIns="0" rIns="0" bIns="0" rtlCol="0" anchor="ctr"/>
          <a:lstStyle/>
          <a:p>
            <a:pPr algn="ctr" indent="0" marL="0">
              <a:buNone/>
            </a:pPr>
            <a:r>
              <a:rPr lang="en-US" sz="1650" b="1" dirty="0">
                <a:solidFill>
                  <a:srgbClr val="45356B"/>
                </a:solidFill>
                <a:latin typeface="BIZ UDPゴシック" pitchFamily="34" charset="0"/>
                <a:ea typeface="BIZ UDPゴシック" pitchFamily="34" charset="-122"/>
                <a:cs typeface="BIZ UDPゴシック" pitchFamily="34" charset="-120"/>
              </a:rPr>
              <a:t>本番環境と開発環境を</a:t>
            </a:r>
            <a:endParaRPr lang="en-US" sz="1650" dirty="0"/>
          </a:p>
          <a:p>
            <a:pPr algn="ctr" indent="0" marL="0">
              <a:buNone/>
            </a:pPr>
            <a:r>
              <a:rPr lang="en-US" sz="1650" b="1" dirty="0">
                <a:solidFill>
                  <a:srgbClr val="45356B"/>
                </a:solidFill>
                <a:latin typeface="BIZ UDPゴシック" pitchFamily="34" charset="0"/>
                <a:ea typeface="BIZ UDPゴシック" pitchFamily="34" charset="-122"/>
                <a:cs typeface="BIZ UDPゴシック" pitchFamily="34" charset="-120"/>
              </a:rPr>
              <a:t>分けて作成</a:t>
            </a:r>
            <a:endParaRPr lang="en-US" sz="1650" dirty="0"/>
          </a:p>
        </p:txBody>
      </p:sp>
      <p:sp>
        <p:nvSpPr>
          <p:cNvPr id="30" name="Text 27"/>
          <p:cNvSpPr/>
          <p:nvPr/>
        </p:nvSpPr>
        <p:spPr>
          <a:xfrm>
            <a:off x="8439912" y="3246120"/>
            <a:ext cx="3017520" cy="192024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develop → 開発環境（dev）</a:t>
            </a:r>
            <a:endParaRPr lang="en-US" sz="1250" dirty="0"/>
          </a:p>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main → 本番環境（prod）</a:t>
            </a:r>
            <a:endParaRPr lang="en-US" sz="1250" dirty="0"/>
          </a:p>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CDK のスタックごと分離（Michishiru-dev / -prod）</a:t>
            </a:r>
            <a:endParaRPr lang="en-US" sz="1250" dirty="0"/>
          </a:p>
        </p:txBody>
      </p:sp>
      <p:pic>
        <p:nvPicPr>
          <p:cNvPr id="31" name="Image 0" descr="C:\Users\ltosuser\AppData\Local\Temp\michishiru-ppt\img\lv01.png">    </p:cNvPr>
          <p:cNvPicPr>
            <a:picLocks noChangeAspect="1"/>
          </p:cNvPicPr>
          <p:nvPr/>
        </p:nvPicPr>
        <p:blipFill>
          <a:blip r:embed="rId1"/>
          <a:stretch>
            <a:fillRect/>
          </a:stretch>
        </p:blipFill>
        <p:spPr>
          <a:xfrm>
            <a:off x="674109" y="5349240"/>
            <a:ext cx="800621" cy="960120"/>
          </a:xfrm>
          <a:prstGeom prst="rect">
            <a:avLst/>
          </a:prstGeom>
        </p:spPr>
      </p:pic>
      <p:sp>
        <p:nvSpPr>
          <p:cNvPr id="32" name="Shape 28"/>
          <p:cNvSpPr/>
          <p:nvPr/>
        </p:nvSpPr>
        <p:spPr>
          <a:xfrm>
            <a:off x="1783080" y="5486400"/>
            <a:ext cx="9857232" cy="713232"/>
          </a:xfrm>
          <a:prstGeom prst="roundRect">
            <a:avLst>
              <a:gd name="adj" fmla="val 15385"/>
            </a:avLst>
          </a:prstGeom>
          <a:solidFill>
            <a:srgbClr val="FFFFFF"/>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3" name="Shape 29"/>
          <p:cNvSpPr/>
          <p:nvPr/>
        </p:nvSpPr>
        <p:spPr>
          <a:xfrm rot="16200000">
            <a:off x="1627632" y="5751576"/>
            <a:ext cx="182880" cy="182880"/>
          </a:xfrm>
          <a:prstGeom prst="triangle">
            <a:avLst/>
          </a:prstGeom>
          <a:solidFill>
            <a:srgbClr val="FFFFFF"/>
          </a:solidFill>
          <a:ln w="15875">
            <a:solidFill>
              <a:srgbClr val="5C4430"/>
            </a:solidFill>
            <a:prstDash val="solid"/>
          </a:ln>
        </p:spPr>
      </p:sp>
      <p:sp>
        <p:nvSpPr>
          <p:cNvPr id="34" name="Shape 30"/>
          <p:cNvSpPr/>
          <p:nvPr/>
        </p:nvSpPr>
        <p:spPr>
          <a:xfrm>
            <a:off x="1773936" y="5765292"/>
            <a:ext cx="36576" cy="155448"/>
          </a:xfrm>
          <a:prstGeom prst="rect">
            <a:avLst/>
          </a:prstGeom>
          <a:solidFill>
            <a:srgbClr val="FFFFFF"/>
          </a:solidFill>
          <a:ln/>
        </p:spPr>
      </p:sp>
      <p:sp>
        <p:nvSpPr>
          <p:cNvPr id="35" name="Text 31"/>
          <p:cNvSpPr/>
          <p:nvPr/>
        </p:nvSpPr>
        <p:spPr>
          <a:xfrm>
            <a:off x="1920240" y="5486400"/>
            <a:ext cx="9582912" cy="713232"/>
          </a:xfrm>
          <a:prstGeom prst="rect">
            <a:avLst/>
          </a:prstGeom>
          <a:noFill/>
          <a:ln/>
        </p:spPr>
        <p:txBody>
          <a:bodyPr wrap="square" lIns="0" tIns="0" rIns="0" bIns="0" rtlCol="0" anchor="ctr"/>
          <a:lstStyle/>
          <a:p>
            <a:pPr indent="0" marL="0">
              <a:buNone/>
            </a:pPr>
            <a:r>
              <a:rPr lang="en-US" sz="1350" b="1" dirty="0">
                <a:solidFill>
                  <a:srgbClr val="3A2E20"/>
                </a:solidFill>
                <a:latin typeface="BIZ UDPゴシック" pitchFamily="34" charset="0"/>
                <a:ea typeface="BIZ UDPゴシック" pitchFamily="34" charset="-122"/>
                <a:cs typeface="BIZ UDPゴシック" pitchFamily="34" charset="-120"/>
              </a:rPr>
              <a:t>「作る場所」と「見せる場所」を分けたことで、開発を止めずに安定した画面でレビューできるようになった</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02 PROCESS ｜ SPRINT 3–4</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Sprint 3–4：AI・地図サービス連携と MVP</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02 開発プロセス・協働</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19</a:t>
            </a:r>
            <a:endParaRPr lang="en-US" sz="900" dirty="0"/>
          </a:p>
        </p:txBody>
      </p:sp>
      <p:sp>
        <p:nvSpPr>
          <p:cNvPr id="11" name="Shape 8"/>
          <p:cNvSpPr/>
          <p:nvPr/>
        </p:nvSpPr>
        <p:spPr>
          <a:xfrm>
            <a:off x="548640" y="1463040"/>
            <a:ext cx="3429000" cy="3794760"/>
          </a:xfrm>
          <a:prstGeom prst="roundRect">
            <a:avLst>
              <a:gd name="adj" fmla="val 213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2" name="Shape 9"/>
          <p:cNvSpPr/>
          <p:nvPr/>
        </p:nvSpPr>
        <p:spPr>
          <a:xfrm>
            <a:off x="548640" y="1463040"/>
            <a:ext cx="3429000" cy="502920"/>
          </a:xfrm>
          <a:prstGeom prst="rect">
            <a:avLst/>
          </a:prstGeom>
          <a:solidFill>
            <a:srgbClr val="3F7A5C"/>
          </a:solidFill>
          <a:ln/>
        </p:spPr>
      </p:sp>
      <p:sp>
        <p:nvSpPr>
          <p:cNvPr id="13" name="Text 10"/>
          <p:cNvSpPr/>
          <p:nvPr/>
        </p:nvSpPr>
        <p:spPr>
          <a:xfrm>
            <a:off x="548640" y="1463040"/>
            <a:ext cx="34290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やったこと</a:t>
            </a:r>
            <a:endParaRPr lang="en-US" sz="1600" dirty="0"/>
          </a:p>
        </p:txBody>
      </p:sp>
      <p:sp>
        <p:nvSpPr>
          <p:cNvPr id="14" name="Shape 11"/>
          <p:cNvSpPr/>
          <p:nvPr/>
        </p:nvSpPr>
        <p:spPr>
          <a:xfrm>
            <a:off x="731520" y="2148840"/>
            <a:ext cx="3063240" cy="914400"/>
          </a:xfrm>
          <a:prstGeom prst="roundRect">
            <a:avLst>
              <a:gd name="adj" fmla="val 8000"/>
            </a:avLst>
          </a:prstGeom>
          <a:solidFill>
            <a:srgbClr val="E4EFE8"/>
          </a:solidFill>
          <a:ln/>
        </p:spPr>
      </p:sp>
      <p:sp>
        <p:nvSpPr>
          <p:cNvPr id="15" name="Text 12"/>
          <p:cNvSpPr/>
          <p:nvPr/>
        </p:nvSpPr>
        <p:spPr>
          <a:xfrm>
            <a:off x="822960" y="2148840"/>
            <a:ext cx="2880360" cy="914400"/>
          </a:xfrm>
          <a:prstGeom prst="rect">
            <a:avLst/>
          </a:prstGeom>
          <a:noFill/>
          <a:ln/>
        </p:spPr>
        <p:txBody>
          <a:bodyPr wrap="square" lIns="0" tIns="0" rIns="0" bIns="0" rtlCol="0" anchor="ctr"/>
          <a:lstStyle/>
          <a:p>
            <a:pPr algn="ctr" indent="0" marL="0">
              <a:buNone/>
            </a:pPr>
            <a:r>
              <a:rPr lang="en-US" sz="1650" b="1" dirty="0">
                <a:solidFill>
                  <a:srgbClr val="3F7A5C"/>
                </a:solidFill>
                <a:latin typeface="BIZ UDPゴシック" pitchFamily="34" charset="0"/>
                <a:ea typeface="BIZ UDPゴシック" pitchFamily="34" charset="-122"/>
                <a:cs typeface="BIZ UDPゴシック" pitchFamily="34" charset="-120"/>
              </a:rPr>
              <a:t>AI と地図をつなぎ</a:t>
            </a:r>
            <a:endParaRPr lang="en-US" sz="1650" dirty="0"/>
          </a:p>
          <a:p>
            <a:pPr algn="ctr" indent="0" marL="0">
              <a:buNone/>
            </a:pPr>
            <a:r>
              <a:rPr lang="en-US" sz="1650" b="1" dirty="0">
                <a:solidFill>
                  <a:srgbClr val="3F7A5C"/>
                </a:solidFill>
                <a:latin typeface="BIZ UDPゴシック" pitchFamily="34" charset="0"/>
                <a:ea typeface="BIZ UDPゴシック" pitchFamily="34" charset="-122"/>
                <a:cs typeface="BIZ UDPゴシック" pitchFamily="34" charset="-120"/>
              </a:rPr>
              <a:t>MVP を作る</a:t>
            </a:r>
            <a:endParaRPr lang="en-US" sz="1650" dirty="0"/>
          </a:p>
        </p:txBody>
      </p:sp>
      <p:sp>
        <p:nvSpPr>
          <p:cNvPr id="16" name="Text 13"/>
          <p:cNvSpPr/>
          <p:nvPr/>
        </p:nvSpPr>
        <p:spPr>
          <a:xfrm>
            <a:off x="777240" y="3246120"/>
            <a:ext cx="3017520" cy="192024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Bedrock・Location Service と連携</a:t>
            </a:r>
            <a:endParaRPr lang="en-US" sz="1250" dirty="0"/>
          </a:p>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条件入力 → ルート作成 → 提案 → 案内 → 結果</a:t>
            </a:r>
            <a:endParaRPr lang="en-US" sz="1250" dirty="0"/>
          </a:p>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MapLibre GL で地図を描画</a:t>
            </a:r>
            <a:endParaRPr lang="en-US" sz="1250" dirty="0"/>
          </a:p>
        </p:txBody>
      </p:sp>
      <p:sp>
        <p:nvSpPr>
          <p:cNvPr id="17" name="Shape 14"/>
          <p:cNvSpPr/>
          <p:nvPr/>
        </p:nvSpPr>
        <p:spPr>
          <a:xfrm>
            <a:off x="4041648" y="3108960"/>
            <a:ext cx="292608" cy="411480"/>
          </a:xfrm>
          <a:prstGeom prst="rightArrow">
            <a:avLst/>
          </a:prstGeom>
          <a:solidFill>
            <a:srgbClr val="B8862B"/>
          </a:solidFill>
          <a:ln/>
        </p:spPr>
      </p:sp>
      <p:sp>
        <p:nvSpPr>
          <p:cNvPr id="18" name="Shape 15"/>
          <p:cNvSpPr/>
          <p:nvPr/>
        </p:nvSpPr>
        <p:spPr>
          <a:xfrm>
            <a:off x="4379976" y="1463040"/>
            <a:ext cx="3429000" cy="3794760"/>
          </a:xfrm>
          <a:prstGeom prst="roundRect">
            <a:avLst>
              <a:gd name="adj" fmla="val 213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9" name="Shape 16"/>
          <p:cNvSpPr/>
          <p:nvPr/>
        </p:nvSpPr>
        <p:spPr>
          <a:xfrm>
            <a:off x="4379976" y="1463040"/>
            <a:ext cx="3429000" cy="502920"/>
          </a:xfrm>
          <a:prstGeom prst="rect">
            <a:avLst/>
          </a:prstGeom>
          <a:solidFill>
            <a:srgbClr val="B3372B"/>
          </a:solidFill>
          <a:ln/>
        </p:spPr>
      </p:sp>
      <p:sp>
        <p:nvSpPr>
          <p:cNvPr id="20" name="Text 17"/>
          <p:cNvSpPr/>
          <p:nvPr/>
        </p:nvSpPr>
        <p:spPr>
          <a:xfrm>
            <a:off x="4379976" y="1463040"/>
            <a:ext cx="34290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課題</a:t>
            </a:r>
            <a:endParaRPr lang="en-US" sz="1600" dirty="0"/>
          </a:p>
        </p:txBody>
      </p:sp>
      <p:sp>
        <p:nvSpPr>
          <p:cNvPr id="21" name="Shape 18"/>
          <p:cNvSpPr/>
          <p:nvPr/>
        </p:nvSpPr>
        <p:spPr>
          <a:xfrm>
            <a:off x="4562856" y="2148840"/>
            <a:ext cx="3063240" cy="914400"/>
          </a:xfrm>
          <a:prstGeom prst="roundRect">
            <a:avLst>
              <a:gd name="adj" fmla="val 8000"/>
            </a:avLst>
          </a:prstGeom>
          <a:solidFill>
            <a:srgbClr val="F8E3E0"/>
          </a:solidFill>
          <a:ln/>
        </p:spPr>
      </p:sp>
      <p:sp>
        <p:nvSpPr>
          <p:cNvPr id="22" name="Text 19"/>
          <p:cNvSpPr/>
          <p:nvPr/>
        </p:nvSpPr>
        <p:spPr>
          <a:xfrm>
            <a:off x="4654296" y="2148840"/>
            <a:ext cx="2880360" cy="914400"/>
          </a:xfrm>
          <a:prstGeom prst="rect">
            <a:avLst/>
          </a:prstGeom>
          <a:noFill/>
          <a:ln/>
        </p:spPr>
        <p:txBody>
          <a:bodyPr wrap="square" lIns="0" tIns="0" rIns="0" bIns="0" rtlCol="0" anchor="ctr"/>
          <a:lstStyle/>
          <a:p>
            <a:pPr algn="ctr" indent="0" marL="0">
              <a:buNone/>
            </a:pPr>
            <a:r>
              <a:rPr lang="en-US" sz="1650" b="1" dirty="0">
                <a:solidFill>
                  <a:srgbClr val="B3372B"/>
                </a:solidFill>
                <a:latin typeface="BIZ UDPゴシック" pitchFamily="34" charset="0"/>
                <a:ea typeface="BIZ UDPゴシック" pitchFamily="34" charset="-122"/>
                <a:cs typeface="BIZ UDPゴシック" pitchFamily="34" charset="-120"/>
              </a:rPr>
              <a:t>知識の偏り</a:t>
            </a:r>
            <a:endParaRPr lang="en-US" sz="1650" dirty="0"/>
          </a:p>
        </p:txBody>
      </p:sp>
      <p:sp>
        <p:nvSpPr>
          <p:cNvPr id="23" name="Text 20"/>
          <p:cNvSpPr/>
          <p:nvPr/>
        </p:nvSpPr>
        <p:spPr>
          <a:xfrm>
            <a:off x="4608576" y="3246120"/>
            <a:ext cx="3017520" cy="192024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AI・地図・AWS など、担当ごとに知識が分かれた</a:t>
            </a:r>
            <a:endParaRPr lang="en-US" sz="1250" dirty="0"/>
          </a:p>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特定の人しか分からない部分ができた</a:t>
            </a:r>
            <a:endParaRPr lang="en-US" sz="1250" dirty="0"/>
          </a:p>
        </p:txBody>
      </p:sp>
      <p:sp>
        <p:nvSpPr>
          <p:cNvPr id="24" name="Shape 21"/>
          <p:cNvSpPr/>
          <p:nvPr/>
        </p:nvSpPr>
        <p:spPr>
          <a:xfrm>
            <a:off x="7872984" y="3108960"/>
            <a:ext cx="292608" cy="411480"/>
          </a:xfrm>
          <a:prstGeom prst="rightArrow">
            <a:avLst/>
          </a:prstGeom>
          <a:solidFill>
            <a:srgbClr val="B8862B"/>
          </a:solidFill>
          <a:ln/>
        </p:spPr>
      </p:sp>
      <p:sp>
        <p:nvSpPr>
          <p:cNvPr id="25" name="Shape 22"/>
          <p:cNvSpPr/>
          <p:nvPr/>
        </p:nvSpPr>
        <p:spPr>
          <a:xfrm>
            <a:off x="8211312" y="1463040"/>
            <a:ext cx="3429000" cy="3794760"/>
          </a:xfrm>
          <a:prstGeom prst="roundRect">
            <a:avLst>
              <a:gd name="adj" fmla="val 213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6" name="Shape 23"/>
          <p:cNvSpPr/>
          <p:nvPr/>
        </p:nvSpPr>
        <p:spPr>
          <a:xfrm>
            <a:off x="8211312" y="1463040"/>
            <a:ext cx="3429000" cy="502920"/>
          </a:xfrm>
          <a:prstGeom prst="rect">
            <a:avLst/>
          </a:prstGeom>
          <a:solidFill>
            <a:srgbClr val="45356B"/>
          </a:solidFill>
          <a:ln/>
        </p:spPr>
      </p:sp>
      <p:sp>
        <p:nvSpPr>
          <p:cNvPr id="27" name="Text 24"/>
          <p:cNvSpPr/>
          <p:nvPr/>
        </p:nvSpPr>
        <p:spPr>
          <a:xfrm>
            <a:off x="8211312" y="1463040"/>
            <a:ext cx="34290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解決策</a:t>
            </a:r>
            <a:endParaRPr lang="en-US" sz="1600" dirty="0"/>
          </a:p>
        </p:txBody>
      </p:sp>
      <p:sp>
        <p:nvSpPr>
          <p:cNvPr id="28" name="Shape 25"/>
          <p:cNvSpPr/>
          <p:nvPr/>
        </p:nvSpPr>
        <p:spPr>
          <a:xfrm>
            <a:off x="8394192" y="2148840"/>
            <a:ext cx="3063240" cy="914400"/>
          </a:xfrm>
          <a:prstGeom prst="roundRect">
            <a:avLst>
              <a:gd name="adj" fmla="val 8000"/>
            </a:avLst>
          </a:prstGeom>
          <a:solidFill>
            <a:srgbClr val="ECE7F5"/>
          </a:solidFill>
          <a:ln/>
        </p:spPr>
      </p:sp>
      <p:sp>
        <p:nvSpPr>
          <p:cNvPr id="29" name="Text 26"/>
          <p:cNvSpPr/>
          <p:nvPr/>
        </p:nvSpPr>
        <p:spPr>
          <a:xfrm>
            <a:off x="8485632" y="2148840"/>
            <a:ext cx="2880360" cy="914400"/>
          </a:xfrm>
          <a:prstGeom prst="rect">
            <a:avLst/>
          </a:prstGeom>
          <a:noFill/>
          <a:ln/>
        </p:spPr>
        <p:txBody>
          <a:bodyPr wrap="square" lIns="0" tIns="0" rIns="0" bIns="0" rtlCol="0" anchor="ctr"/>
          <a:lstStyle/>
          <a:p>
            <a:pPr algn="ctr" indent="0" marL="0">
              <a:buNone/>
            </a:pPr>
            <a:r>
              <a:rPr lang="en-US" sz="1650" b="1" dirty="0">
                <a:solidFill>
                  <a:srgbClr val="45356B"/>
                </a:solidFill>
                <a:latin typeface="BIZ UDPゴシック" pitchFamily="34" charset="0"/>
                <a:ea typeface="BIZ UDPゴシック" pitchFamily="34" charset="-122"/>
                <a:cs typeface="BIZ UDPゴシック" pitchFamily="34" charset="-120"/>
              </a:rPr>
              <a:t>都度、チーム編成</a:t>
            </a:r>
            <a:endParaRPr lang="en-US" sz="1650" dirty="0"/>
          </a:p>
        </p:txBody>
      </p:sp>
      <p:sp>
        <p:nvSpPr>
          <p:cNvPr id="30" name="Text 27"/>
          <p:cNvSpPr/>
          <p:nvPr/>
        </p:nvSpPr>
        <p:spPr>
          <a:xfrm>
            <a:off x="8439912" y="3246120"/>
            <a:ext cx="3017520" cy="192024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タスクごとにメンバーの組み合わせを変える</a:t>
            </a:r>
            <a:endParaRPr lang="en-US" sz="1250" dirty="0"/>
          </a:p>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分かる人と分からない人で組み、知識を共有する</a:t>
            </a:r>
            <a:endParaRPr lang="en-US" sz="1250" dirty="0"/>
          </a:p>
        </p:txBody>
      </p:sp>
      <p:pic>
        <p:nvPicPr>
          <p:cNvPr id="31" name="Image 0" descr="C:\Users\ltosuser\AppData\Local\Temp\michishiru-ppt\img\lv03.png">    </p:cNvPr>
          <p:cNvPicPr>
            <a:picLocks noChangeAspect="1"/>
          </p:cNvPicPr>
          <p:nvPr/>
        </p:nvPicPr>
        <p:blipFill>
          <a:blip r:embed="rId1"/>
          <a:stretch>
            <a:fillRect/>
          </a:stretch>
        </p:blipFill>
        <p:spPr>
          <a:xfrm>
            <a:off x="594360" y="5349240"/>
            <a:ext cx="960120" cy="960120"/>
          </a:xfrm>
          <a:prstGeom prst="rect">
            <a:avLst/>
          </a:prstGeom>
        </p:spPr>
      </p:pic>
      <p:sp>
        <p:nvSpPr>
          <p:cNvPr id="32" name="Shape 28"/>
          <p:cNvSpPr/>
          <p:nvPr/>
        </p:nvSpPr>
        <p:spPr>
          <a:xfrm>
            <a:off x="1783080" y="5486400"/>
            <a:ext cx="9857232" cy="713232"/>
          </a:xfrm>
          <a:prstGeom prst="roundRect">
            <a:avLst>
              <a:gd name="adj" fmla="val 15385"/>
            </a:avLst>
          </a:prstGeom>
          <a:solidFill>
            <a:srgbClr val="FFFFFF"/>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3" name="Shape 29"/>
          <p:cNvSpPr/>
          <p:nvPr/>
        </p:nvSpPr>
        <p:spPr>
          <a:xfrm rot="16200000">
            <a:off x="1627632" y="5751576"/>
            <a:ext cx="182880" cy="182880"/>
          </a:xfrm>
          <a:prstGeom prst="triangle">
            <a:avLst/>
          </a:prstGeom>
          <a:solidFill>
            <a:srgbClr val="FFFFFF"/>
          </a:solidFill>
          <a:ln w="15875">
            <a:solidFill>
              <a:srgbClr val="5C4430"/>
            </a:solidFill>
            <a:prstDash val="solid"/>
          </a:ln>
        </p:spPr>
      </p:sp>
      <p:sp>
        <p:nvSpPr>
          <p:cNvPr id="34" name="Shape 30"/>
          <p:cNvSpPr/>
          <p:nvPr/>
        </p:nvSpPr>
        <p:spPr>
          <a:xfrm>
            <a:off x="1773936" y="5765292"/>
            <a:ext cx="36576" cy="155448"/>
          </a:xfrm>
          <a:prstGeom prst="rect">
            <a:avLst/>
          </a:prstGeom>
          <a:solidFill>
            <a:srgbClr val="FFFFFF"/>
          </a:solidFill>
          <a:ln/>
        </p:spPr>
      </p:sp>
      <p:sp>
        <p:nvSpPr>
          <p:cNvPr id="35" name="Text 31"/>
          <p:cNvSpPr/>
          <p:nvPr/>
        </p:nvSpPr>
        <p:spPr>
          <a:xfrm>
            <a:off x="1920240" y="5486400"/>
            <a:ext cx="9582912" cy="713232"/>
          </a:xfrm>
          <a:prstGeom prst="rect">
            <a:avLst/>
          </a:prstGeom>
          <a:noFill/>
          <a:ln/>
        </p:spPr>
        <p:txBody>
          <a:bodyPr wrap="square" lIns="0" tIns="0" rIns="0" bIns="0" rtlCol="0" anchor="ctr"/>
          <a:lstStyle/>
          <a:p>
            <a:pPr indent="0" marL="0">
              <a:buNone/>
            </a:pPr>
            <a:r>
              <a:rPr lang="en-US" sz="1350" b="1" dirty="0">
                <a:solidFill>
                  <a:srgbClr val="3A2E20"/>
                </a:solidFill>
                <a:latin typeface="BIZ UDPゴシック" pitchFamily="34" charset="0"/>
                <a:ea typeface="BIZ UDPゴシック" pitchFamily="34" charset="-122"/>
                <a:cs typeface="BIZ UDPゴシック" pitchFamily="34" charset="-120"/>
              </a:rPr>
              <a:t>組み合わせを変えながら進めることで、「あの人しか分からない」をなくしていった</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02 PROCESS ｜ SPRINT 5–7</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Sprint 5–7：MVP 機能の完成と追加機能</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02 開発プロセス・協働</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20</a:t>
            </a:r>
            <a:endParaRPr lang="en-US" sz="900" dirty="0"/>
          </a:p>
        </p:txBody>
      </p:sp>
      <p:sp>
        <p:nvSpPr>
          <p:cNvPr id="11" name="Shape 8"/>
          <p:cNvSpPr/>
          <p:nvPr/>
        </p:nvSpPr>
        <p:spPr>
          <a:xfrm>
            <a:off x="548640" y="1463040"/>
            <a:ext cx="3429000" cy="3794760"/>
          </a:xfrm>
          <a:prstGeom prst="roundRect">
            <a:avLst>
              <a:gd name="adj" fmla="val 213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2" name="Shape 9"/>
          <p:cNvSpPr/>
          <p:nvPr/>
        </p:nvSpPr>
        <p:spPr>
          <a:xfrm>
            <a:off x="548640" y="1463040"/>
            <a:ext cx="3429000" cy="502920"/>
          </a:xfrm>
          <a:prstGeom prst="rect">
            <a:avLst/>
          </a:prstGeom>
          <a:solidFill>
            <a:srgbClr val="3F7A5C"/>
          </a:solidFill>
          <a:ln/>
        </p:spPr>
      </p:sp>
      <p:sp>
        <p:nvSpPr>
          <p:cNvPr id="13" name="Text 10"/>
          <p:cNvSpPr/>
          <p:nvPr/>
        </p:nvSpPr>
        <p:spPr>
          <a:xfrm>
            <a:off x="548640" y="1463040"/>
            <a:ext cx="34290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やったこと</a:t>
            </a:r>
            <a:endParaRPr lang="en-US" sz="1600" dirty="0"/>
          </a:p>
        </p:txBody>
      </p:sp>
      <p:sp>
        <p:nvSpPr>
          <p:cNvPr id="14" name="Shape 11"/>
          <p:cNvSpPr/>
          <p:nvPr/>
        </p:nvSpPr>
        <p:spPr>
          <a:xfrm>
            <a:off x="731520" y="2148840"/>
            <a:ext cx="3063240" cy="914400"/>
          </a:xfrm>
          <a:prstGeom prst="roundRect">
            <a:avLst>
              <a:gd name="adj" fmla="val 8000"/>
            </a:avLst>
          </a:prstGeom>
          <a:solidFill>
            <a:srgbClr val="E4EFE8"/>
          </a:solidFill>
          <a:ln/>
        </p:spPr>
      </p:sp>
      <p:sp>
        <p:nvSpPr>
          <p:cNvPr id="15" name="Text 12"/>
          <p:cNvSpPr/>
          <p:nvPr/>
        </p:nvSpPr>
        <p:spPr>
          <a:xfrm>
            <a:off x="822960" y="2148840"/>
            <a:ext cx="2880360" cy="914400"/>
          </a:xfrm>
          <a:prstGeom prst="rect">
            <a:avLst/>
          </a:prstGeom>
          <a:noFill/>
          <a:ln/>
        </p:spPr>
        <p:txBody>
          <a:bodyPr wrap="square" lIns="0" tIns="0" rIns="0" bIns="0" rtlCol="0" anchor="ctr"/>
          <a:lstStyle/>
          <a:p>
            <a:pPr algn="ctr" indent="0" marL="0">
              <a:buNone/>
            </a:pPr>
            <a:r>
              <a:rPr lang="en-US" sz="1650" b="1" dirty="0">
                <a:solidFill>
                  <a:srgbClr val="3F7A5C"/>
                </a:solidFill>
                <a:latin typeface="BIZ UDPゴシック" pitchFamily="34" charset="0"/>
                <a:ea typeface="BIZ UDPゴシック" pitchFamily="34" charset="-122"/>
                <a:cs typeface="BIZ UDPゴシック" pitchFamily="34" charset="-120"/>
              </a:rPr>
              <a:t>MVP を仕上げ</a:t>
            </a:r>
            <a:endParaRPr lang="en-US" sz="1650" dirty="0"/>
          </a:p>
          <a:p>
            <a:pPr algn="ctr" indent="0" marL="0">
              <a:buNone/>
            </a:pPr>
            <a:r>
              <a:rPr lang="en-US" sz="1650" b="1" dirty="0">
                <a:solidFill>
                  <a:srgbClr val="3F7A5C"/>
                </a:solidFill>
                <a:latin typeface="BIZ UDPゴシック" pitchFamily="34" charset="0"/>
                <a:ea typeface="BIZ UDPゴシック" pitchFamily="34" charset="-122"/>
                <a:cs typeface="BIZ UDPゴシック" pitchFamily="34" charset="-120"/>
              </a:rPr>
              <a:t>追加機能へ</a:t>
            </a:r>
            <a:endParaRPr lang="en-US" sz="1650" dirty="0"/>
          </a:p>
        </p:txBody>
      </p:sp>
      <p:sp>
        <p:nvSpPr>
          <p:cNvPr id="16" name="Text 13"/>
          <p:cNvSpPr/>
          <p:nvPr/>
        </p:nvSpPr>
        <p:spPr>
          <a:xfrm>
            <a:off x="777240" y="3246120"/>
            <a:ext cx="3017520" cy="192024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MVP 機能の作成</a:t>
            </a:r>
            <a:endParaRPr lang="en-US" sz="1250" dirty="0"/>
          </a:p>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ログイン・ユーザー登録</a:t>
            </a:r>
            <a:endParaRPr lang="en-US" sz="1250" dirty="0"/>
          </a:p>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口コミ投稿・散歩実績・マスコット</a:t>
            </a:r>
            <a:endParaRPr lang="en-US" sz="1250" dirty="0"/>
          </a:p>
        </p:txBody>
      </p:sp>
      <p:sp>
        <p:nvSpPr>
          <p:cNvPr id="17" name="Shape 14"/>
          <p:cNvSpPr/>
          <p:nvPr/>
        </p:nvSpPr>
        <p:spPr>
          <a:xfrm>
            <a:off x="4041648" y="3108960"/>
            <a:ext cx="292608" cy="411480"/>
          </a:xfrm>
          <a:prstGeom prst="rightArrow">
            <a:avLst/>
          </a:prstGeom>
          <a:solidFill>
            <a:srgbClr val="B8862B"/>
          </a:solidFill>
          <a:ln/>
        </p:spPr>
      </p:sp>
      <p:sp>
        <p:nvSpPr>
          <p:cNvPr id="18" name="Shape 15"/>
          <p:cNvSpPr/>
          <p:nvPr/>
        </p:nvSpPr>
        <p:spPr>
          <a:xfrm>
            <a:off x="4379976" y="1463040"/>
            <a:ext cx="3429000" cy="3794760"/>
          </a:xfrm>
          <a:prstGeom prst="roundRect">
            <a:avLst>
              <a:gd name="adj" fmla="val 213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9" name="Shape 16"/>
          <p:cNvSpPr/>
          <p:nvPr/>
        </p:nvSpPr>
        <p:spPr>
          <a:xfrm>
            <a:off x="4379976" y="1463040"/>
            <a:ext cx="3429000" cy="502920"/>
          </a:xfrm>
          <a:prstGeom prst="rect">
            <a:avLst/>
          </a:prstGeom>
          <a:solidFill>
            <a:srgbClr val="B3372B"/>
          </a:solidFill>
          <a:ln/>
        </p:spPr>
      </p:sp>
      <p:sp>
        <p:nvSpPr>
          <p:cNvPr id="20" name="Text 17"/>
          <p:cNvSpPr/>
          <p:nvPr/>
        </p:nvSpPr>
        <p:spPr>
          <a:xfrm>
            <a:off x="4379976" y="1463040"/>
            <a:ext cx="34290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課題</a:t>
            </a:r>
            <a:endParaRPr lang="en-US" sz="1600" dirty="0"/>
          </a:p>
        </p:txBody>
      </p:sp>
      <p:sp>
        <p:nvSpPr>
          <p:cNvPr id="21" name="Shape 18"/>
          <p:cNvSpPr/>
          <p:nvPr/>
        </p:nvSpPr>
        <p:spPr>
          <a:xfrm>
            <a:off x="4562856" y="2148840"/>
            <a:ext cx="3063240" cy="914400"/>
          </a:xfrm>
          <a:prstGeom prst="roundRect">
            <a:avLst>
              <a:gd name="adj" fmla="val 8000"/>
            </a:avLst>
          </a:prstGeom>
          <a:solidFill>
            <a:srgbClr val="F8E3E0"/>
          </a:solidFill>
          <a:ln/>
        </p:spPr>
      </p:sp>
      <p:sp>
        <p:nvSpPr>
          <p:cNvPr id="22" name="Text 19"/>
          <p:cNvSpPr/>
          <p:nvPr/>
        </p:nvSpPr>
        <p:spPr>
          <a:xfrm>
            <a:off x="4654296" y="2148840"/>
            <a:ext cx="2880360" cy="914400"/>
          </a:xfrm>
          <a:prstGeom prst="rect">
            <a:avLst/>
          </a:prstGeom>
          <a:noFill/>
          <a:ln/>
        </p:spPr>
        <p:txBody>
          <a:bodyPr wrap="square" lIns="0" tIns="0" rIns="0" bIns="0" rtlCol="0" anchor="ctr"/>
          <a:lstStyle/>
          <a:p>
            <a:pPr algn="ctr" indent="0" marL="0">
              <a:buNone/>
            </a:pPr>
            <a:r>
              <a:rPr lang="en-US" sz="1650" b="1" dirty="0">
                <a:solidFill>
                  <a:srgbClr val="B3372B"/>
                </a:solidFill>
                <a:latin typeface="BIZ UDPゴシック" pitchFamily="34" charset="0"/>
                <a:ea typeface="BIZ UDPゴシック" pitchFamily="34" charset="-122"/>
                <a:cs typeface="BIZ UDPゴシック" pitchFamily="34" charset="-120"/>
              </a:rPr>
              <a:t>優先順位の付け方が</a:t>
            </a:r>
            <a:endParaRPr lang="en-US" sz="1650" dirty="0"/>
          </a:p>
          <a:p>
            <a:pPr algn="ctr" indent="0" marL="0">
              <a:buNone/>
            </a:pPr>
            <a:r>
              <a:rPr lang="en-US" sz="1650" b="1" dirty="0">
                <a:solidFill>
                  <a:srgbClr val="B3372B"/>
                </a:solidFill>
                <a:latin typeface="BIZ UDPゴシック" pitchFamily="34" charset="0"/>
                <a:ea typeface="BIZ UDPゴシック" pitchFamily="34" charset="-122"/>
                <a:cs typeface="BIZ UDPゴシック" pitchFamily="34" charset="-120"/>
              </a:rPr>
              <a:t>あやふやになった</a:t>
            </a:r>
            <a:endParaRPr lang="en-US" sz="1650" dirty="0"/>
          </a:p>
        </p:txBody>
      </p:sp>
      <p:sp>
        <p:nvSpPr>
          <p:cNvPr id="23" name="Text 20"/>
          <p:cNvSpPr/>
          <p:nvPr/>
        </p:nvSpPr>
        <p:spPr>
          <a:xfrm>
            <a:off x="4608576" y="3246120"/>
            <a:ext cx="3017520" cy="192024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作りたい機能が増え、どれから作るか判断がぶれた</a:t>
            </a:r>
            <a:endParaRPr lang="en-US" sz="1250" dirty="0"/>
          </a:p>
        </p:txBody>
      </p:sp>
      <p:sp>
        <p:nvSpPr>
          <p:cNvPr id="24" name="Shape 21"/>
          <p:cNvSpPr/>
          <p:nvPr/>
        </p:nvSpPr>
        <p:spPr>
          <a:xfrm>
            <a:off x="7872984" y="3108960"/>
            <a:ext cx="292608" cy="411480"/>
          </a:xfrm>
          <a:prstGeom prst="rightArrow">
            <a:avLst/>
          </a:prstGeom>
          <a:solidFill>
            <a:srgbClr val="B8862B"/>
          </a:solidFill>
          <a:ln/>
        </p:spPr>
      </p:sp>
      <p:sp>
        <p:nvSpPr>
          <p:cNvPr id="25" name="Shape 22"/>
          <p:cNvSpPr/>
          <p:nvPr/>
        </p:nvSpPr>
        <p:spPr>
          <a:xfrm>
            <a:off x="8211312" y="1463040"/>
            <a:ext cx="3429000" cy="3794760"/>
          </a:xfrm>
          <a:prstGeom prst="roundRect">
            <a:avLst>
              <a:gd name="adj" fmla="val 213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6" name="Shape 23"/>
          <p:cNvSpPr/>
          <p:nvPr/>
        </p:nvSpPr>
        <p:spPr>
          <a:xfrm>
            <a:off x="8211312" y="1463040"/>
            <a:ext cx="3429000" cy="502920"/>
          </a:xfrm>
          <a:prstGeom prst="rect">
            <a:avLst/>
          </a:prstGeom>
          <a:solidFill>
            <a:srgbClr val="45356B"/>
          </a:solidFill>
          <a:ln/>
        </p:spPr>
      </p:sp>
      <p:sp>
        <p:nvSpPr>
          <p:cNvPr id="27" name="Text 24"/>
          <p:cNvSpPr/>
          <p:nvPr/>
        </p:nvSpPr>
        <p:spPr>
          <a:xfrm>
            <a:off x="8211312" y="1463040"/>
            <a:ext cx="34290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解決策</a:t>
            </a:r>
            <a:endParaRPr lang="en-US" sz="1600" dirty="0"/>
          </a:p>
        </p:txBody>
      </p:sp>
      <p:sp>
        <p:nvSpPr>
          <p:cNvPr id="28" name="Shape 25"/>
          <p:cNvSpPr/>
          <p:nvPr/>
        </p:nvSpPr>
        <p:spPr>
          <a:xfrm>
            <a:off x="8394192" y="2148840"/>
            <a:ext cx="3063240" cy="914400"/>
          </a:xfrm>
          <a:prstGeom prst="roundRect">
            <a:avLst>
              <a:gd name="adj" fmla="val 8000"/>
            </a:avLst>
          </a:prstGeom>
          <a:solidFill>
            <a:srgbClr val="ECE7F5"/>
          </a:solidFill>
          <a:ln/>
        </p:spPr>
      </p:sp>
      <p:sp>
        <p:nvSpPr>
          <p:cNvPr id="29" name="Text 26"/>
          <p:cNvSpPr/>
          <p:nvPr/>
        </p:nvSpPr>
        <p:spPr>
          <a:xfrm>
            <a:off x="8485632" y="2148840"/>
            <a:ext cx="2880360" cy="914400"/>
          </a:xfrm>
          <a:prstGeom prst="rect">
            <a:avLst/>
          </a:prstGeom>
          <a:noFill/>
          <a:ln/>
        </p:spPr>
        <p:txBody>
          <a:bodyPr wrap="square" lIns="0" tIns="0" rIns="0" bIns="0" rtlCol="0" anchor="ctr"/>
          <a:lstStyle/>
          <a:p>
            <a:pPr algn="ctr" indent="0" marL="0">
              <a:buNone/>
            </a:pPr>
            <a:r>
              <a:rPr lang="en-US" sz="1650" b="1" dirty="0">
                <a:solidFill>
                  <a:srgbClr val="45356B"/>
                </a:solidFill>
                <a:latin typeface="BIZ UDPゴシック" pitchFamily="34" charset="0"/>
                <a:ea typeface="BIZ UDPゴシック" pitchFamily="34" charset="-122"/>
                <a:cs typeface="BIZ UDPゴシック" pitchFamily="34" charset="-120"/>
              </a:rPr>
              <a:t>バックログを整備</a:t>
            </a:r>
            <a:endParaRPr lang="en-US" sz="1650" dirty="0"/>
          </a:p>
        </p:txBody>
      </p:sp>
      <p:sp>
        <p:nvSpPr>
          <p:cNvPr id="30" name="Text 27"/>
          <p:cNvSpPr/>
          <p:nvPr/>
        </p:nvSpPr>
        <p:spPr>
          <a:xfrm>
            <a:off x="8439912" y="3246120"/>
            <a:ext cx="3017520" cy="192024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やることを一覧にして見える化</a:t>
            </a:r>
            <a:endParaRPr lang="en-US" sz="1250" dirty="0"/>
          </a:p>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優先度をつけて上から着手する</a:t>
            </a:r>
            <a:endParaRPr lang="en-US" sz="1250" dirty="0"/>
          </a:p>
          <a:p>
            <a:pPr marL="177800" indent="-177800">
              <a:lnSpc>
                <a:spcPct val="105000"/>
              </a:lnSpc>
              <a:spcAft>
                <a:spcPts val="700"/>
              </a:spcAft>
              <a:buSzPct val="100000"/>
              <a:buChar char="•"/>
            </a:pPr>
            <a:r>
              <a:rPr lang="en-US" sz="1250" dirty="0">
                <a:solidFill>
                  <a:srgbClr val="3A2E20"/>
                </a:solidFill>
                <a:latin typeface="BIZ UDPゴシック" pitchFamily="34" charset="0"/>
                <a:ea typeface="BIZ UDPゴシック" pitchFamily="34" charset="-122"/>
                <a:cs typeface="BIZ UDPゴシック" pitchFamily="34" charset="-120"/>
              </a:rPr>
              <a:t>MVP と追加機能を区別する</a:t>
            </a:r>
            <a:endParaRPr lang="en-US" sz="1250" dirty="0"/>
          </a:p>
        </p:txBody>
      </p:sp>
      <p:pic>
        <p:nvPicPr>
          <p:cNvPr id="31" name="Image 0" descr="C:\Users\ltosuser\AppData\Local\Temp\michishiru-ppt\img\lv05.png">    </p:cNvPr>
          <p:cNvPicPr>
            <a:picLocks noChangeAspect="1"/>
          </p:cNvPicPr>
          <p:nvPr/>
        </p:nvPicPr>
        <p:blipFill>
          <a:blip r:embed="rId1"/>
          <a:stretch>
            <a:fillRect/>
          </a:stretch>
        </p:blipFill>
        <p:spPr>
          <a:xfrm>
            <a:off x="594360" y="5349240"/>
            <a:ext cx="960120" cy="960120"/>
          </a:xfrm>
          <a:prstGeom prst="rect">
            <a:avLst/>
          </a:prstGeom>
        </p:spPr>
      </p:pic>
      <p:sp>
        <p:nvSpPr>
          <p:cNvPr id="32" name="Shape 28"/>
          <p:cNvSpPr/>
          <p:nvPr/>
        </p:nvSpPr>
        <p:spPr>
          <a:xfrm>
            <a:off x="1783080" y="5486400"/>
            <a:ext cx="9857232" cy="713232"/>
          </a:xfrm>
          <a:prstGeom prst="roundRect">
            <a:avLst>
              <a:gd name="adj" fmla="val 15385"/>
            </a:avLst>
          </a:prstGeom>
          <a:solidFill>
            <a:srgbClr val="FFFFFF"/>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3" name="Shape 29"/>
          <p:cNvSpPr/>
          <p:nvPr/>
        </p:nvSpPr>
        <p:spPr>
          <a:xfrm rot="16200000">
            <a:off x="1627632" y="5751576"/>
            <a:ext cx="182880" cy="182880"/>
          </a:xfrm>
          <a:prstGeom prst="triangle">
            <a:avLst/>
          </a:prstGeom>
          <a:solidFill>
            <a:srgbClr val="FFFFFF"/>
          </a:solidFill>
          <a:ln w="15875">
            <a:solidFill>
              <a:srgbClr val="5C4430"/>
            </a:solidFill>
            <a:prstDash val="solid"/>
          </a:ln>
        </p:spPr>
      </p:sp>
      <p:sp>
        <p:nvSpPr>
          <p:cNvPr id="34" name="Shape 30"/>
          <p:cNvSpPr/>
          <p:nvPr/>
        </p:nvSpPr>
        <p:spPr>
          <a:xfrm>
            <a:off x="1773936" y="5765292"/>
            <a:ext cx="36576" cy="155448"/>
          </a:xfrm>
          <a:prstGeom prst="rect">
            <a:avLst/>
          </a:prstGeom>
          <a:solidFill>
            <a:srgbClr val="FFFFFF"/>
          </a:solidFill>
          <a:ln/>
        </p:spPr>
      </p:sp>
      <p:sp>
        <p:nvSpPr>
          <p:cNvPr id="35" name="Text 31"/>
          <p:cNvSpPr/>
          <p:nvPr/>
        </p:nvSpPr>
        <p:spPr>
          <a:xfrm>
            <a:off x="1920240" y="5486400"/>
            <a:ext cx="9582912" cy="713232"/>
          </a:xfrm>
          <a:prstGeom prst="rect">
            <a:avLst/>
          </a:prstGeom>
          <a:noFill/>
          <a:ln/>
        </p:spPr>
        <p:txBody>
          <a:bodyPr wrap="square" lIns="0" tIns="0" rIns="0" bIns="0" rtlCol="0" anchor="ctr"/>
          <a:lstStyle/>
          <a:p>
            <a:pPr indent="0" marL="0">
              <a:buNone/>
            </a:pPr>
            <a:r>
              <a:rPr lang="en-US" sz="1350" b="1" dirty="0">
                <a:solidFill>
                  <a:srgbClr val="3A2E20"/>
                </a:solidFill>
                <a:latin typeface="BIZ UDPゴシック" pitchFamily="34" charset="0"/>
                <a:ea typeface="BIZ UDPゴシック" pitchFamily="34" charset="-122"/>
                <a:cs typeface="BIZ UDPゴシック" pitchFamily="34" charset="-120"/>
              </a:rPr>
              <a:t>バックログで優先順位を見える化し、「次に何をやるか」で迷わなくなった</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02 PROCESS ｜ SPRINT 8–10</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Sprint 8–10：追加機能の実装と使用感UPの微調整</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02 開発プロセス・協働</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21</a:t>
            </a:r>
            <a:endParaRPr lang="en-US" sz="900" dirty="0"/>
          </a:p>
        </p:txBody>
      </p:sp>
      <p:sp>
        <p:nvSpPr>
          <p:cNvPr id="11" name="Shape 8"/>
          <p:cNvSpPr/>
          <p:nvPr/>
        </p:nvSpPr>
        <p:spPr>
          <a:xfrm>
            <a:off x="548640" y="1463040"/>
            <a:ext cx="3749040" cy="3794760"/>
          </a:xfrm>
          <a:prstGeom prst="roundRect">
            <a:avLst>
              <a:gd name="adj" fmla="val 195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2" name="Shape 9"/>
          <p:cNvSpPr/>
          <p:nvPr/>
        </p:nvSpPr>
        <p:spPr>
          <a:xfrm>
            <a:off x="548640" y="1463040"/>
            <a:ext cx="3749040" cy="502920"/>
          </a:xfrm>
          <a:prstGeom prst="rect">
            <a:avLst/>
          </a:prstGeom>
          <a:solidFill>
            <a:srgbClr val="3F7A5C"/>
          </a:solidFill>
          <a:ln/>
        </p:spPr>
      </p:sp>
      <p:sp>
        <p:nvSpPr>
          <p:cNvPr id="13" name="Text 10"/>
          <p:cNvSpPr/>
          <p:nvPr/>
        </p:nvSpPr>
        <p:spPr>
          <a:xfrm>
            <a:off x="548640" y="1463040"/>
            <a:ext cx="37490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やったこと</a:t>
            </a:r>
            <a:endParaRPr lang="en-US" sz="1600" dirty="0"/>
          </a:p>
        </p:txBody>
      </p:sp>
      <p:sp>
        <p:nvSpPr>
          <p:cNvPr id="14" name="Shape 11"/>
          <p:cNvSpPr/>
          <p:nvPr/>
        </p:nvSpPr>
        <p:spPr>
          <a:xfrm>
            <a:off x="731520" y="2194560"/>
            <a:ext cx="3383280" cy="1280160"/>
          </a:xfrm>
          <a:prstGeom prst="roundRect">
            <a:avLst>
              <a:gd name="adj" fmla="val 5714"/>
            </a:avLst>
          </a:prstGeom>
          <a:solidFill>
            <a:srgbClr val="E4EFE8"/>
          </a:solidFill>
          <a:ln/>
        </p:spPr>
      </p:sp>
      <p:sp>
        <p:nvSpPr>
          <p:cNvPr id="15" name="Text 12"/>
          <p:cNvSpPr/>
          <p:nvPr/>
        </p:nvSpPr>
        <p:spPr>
          <a:xfrm>
            <a:off x="868680" y="2331720"/>
            <a:ext cx="3108960" cy="411480"/>
          </a:xfrm>
          <a:prstGeom prst="rect">
            <a:avLst/>
          </a:prstGeom>
          <a:noFill/>
          <a:ln/>
        </p:spPr>
        <p:txBody>
          <a:bodyPr wrap="square" lIns="0" tIns="0" rIns="0" bIns="0" rtlCol="0" anchor="t"/>
          <a:lstStyle/>
          <a:p>
            <a:pPr indent="0" marL="0">
              <a:buNone/>
            </a:pPr>
            <a:r>
              <a:rPr lang="en-US" sz="1700" b="1" dirty="0">
                <a:solidFill>
                  <a:srgbClr val="3F7A5C"/>
                </a:solidFill>
                <a:latin typeface="BIZ UDPゴシック" pitchFamily="34" charset="0"/>
                <a:ea typeface="BIZ UDPゴシック" pitchFamily="34" charset="-122"/>
                <a:cs typeface="BIZ UDPゴシック" pitchFamily="34" charset="-120"/>
              </a:rPr>
              <a:t>追加機能の実装</a:t>
            </a:r>
            <a:endParaRPr lang="en-US" sz="1700" dirty="0"/>
          </a:p>
        </p:txBody>
      </p:sp>
      <p:sp>
        <p:nvSpPr>
          <p:cNvPr id="16" name="Text 13"/>
          <p:cNvSpPr/>
          <p:nvPr/>
        </p:nvSpPr>
        <p:spPr>
          <a:xfrm>
            <a:off x="868680" y="2788920"/>
            <a:ext cx="3108960" cy="594360"/>
          </a:xfrm>
          <a:prstGeom prst="rect">
            <a:avLst/>
          </a:prstGeom>
          <a:noFill/>
          <a:ln/>
        </p:spPr>
        <p:txBody>
          <a:bodyPr wrap="square" lIns="0" tIns="0" rIns="0" bIns="0" rtlCol="0" anchor="t"/>
          <a:lstStyle/>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口コミ・マスコットと散歩をつなぐ機能を追加</a:t>
            </a:r>
            <a:endParaRPr lang="en-US" sz="1250" dirty="0"/>
          </a:p>
        </p:txBody>
      </p:sp>
      <p:sp>
        <p:nvSpPr>
          <p:cNvPr id="17" name="Shape 14"/>
          <p:cNvSpPr/>
          <p:nvPr/>
        </p:nvSpPr>
        <p:spPr>
          <a:xfrm>
            <a:off x="731520" y="3657600"/>
            <a:ext cx="3383280" cy="1280160"/>
          </a:xfrm>
          <a:prstGeom prst="roundRect">
            <a:avLst>
              <a:gd name="adj" fmla="val 5714"/>
            </a:avLst>
          </a:prstGeom>
          <a:solidFill>
            <a:srgbClr val="E4EFE8"/>
          </a:solidFill>
          <a:ln/>
        </p:spPr>
      </p:sp>
      <p:sp>
        <p:nvSpPr>
          <p:cNvPr id="18" name="Text 15"/>
          <p:cNvSpPr/>
          <p:nvPr/>
        </p:nvSpPr>
        <p:spPr>
          <a:xfrm>
            <a:off x="868680" y="3794760"/>
            <a:ext cx="3108960" cy="411480"/>
          </a:xfrm>
          <a:prstGeom prst="rect">
            <a:avLst/>
          </a:prstGeom>
          <a:noFill/>
          <a:ln/>
        </p:spPr>
        <p:txBody>
          <a:bodyPr wrap="square" lIns="0" tIns="0" rIns="0" bIns="0" rtlCol="0" anchor="t"/>
          <a:lstStyle/>
          <a:p>
            <a:pPr indent="0" marL="0">
              <a:buNone/>
            </a:pPr>
            <a:r>
              <a:rPr lang="en-US" sz="1700" b="1" dirty="0">
                <a:solidFill>
                  <a:srgbClr val="3F7A5C"/>
                </a:solidFill>
                <a:latin typeface="BIZ UDPゴシック" pitchFamily="34" charset="0"/>
                <a:ea typeface="BIZ UDPゴシック" pitchFamily="34" charset="-122"/>
                <a:cs typeface="BIZ UDPゴシック" pitchFamily="34" charset="-120"/>
              </a:rPr>
              <a:t>使用感UPの微調整</a:t>
            </a:r>
            <a:endParaRPr lang="en-US" sz="1700" dirty="0"/>
          </a:p>
        </p:txBody>
      </p:sp>
      <p:sp>
        <p:nvSpPr>
          <p:cNvPr id="19" name="Text 16"/>
          <p:cNvSpPr/>
          <p:nvPr/>
        </p:nvSpPr>
        <p:spPr>
          <a:xfrm>
            <a:off x="868680" y="4251960"/>
            <a:ext cx="3108960" cy="594360"/>
          </a:xfrm>
          <a:prstGeom prst="rect">
            <a:avLst/>
          </a:prstGeom>
          <a:noFill/>
          <a:ln/>
        </p:spPr>
        <p:txBody>
          <a:bodyPr wrap="square" lIns="0" tIns="0" rIns="0" bIns="0" rtlCol="0" anchor="t"/>
          <a:lstStyle/>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歩きながら使ったときの小さな不便を解消</a:t>
            </a:r>
            <a:endParaRPr lang="en-US" sz="1250" dirty="0"/>
          </a:p>
        </p:txBody>
      </p:sp>
      <p:sp>
        <p:nvSpPr>
          <p:cNvPr id="20" name="Shape 17"/>
          <p:cNvSpPr/>
          <p:nvPr/>
        </p:nvSpPr>
        <p:spPr>
          <a:xfrm>
            <a:off x="4526280" y="1463040"/>
            <a:ext cx="7114032" cy="3794760"/>
          </a:xfrm>
          <a:prstGeom prst="roundRect">
            <a:avLst>
              <a:gd name="adj" fmla="val 1928"/>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1" name="Shape 18"/>
          <p:cNvSpPr/>
          <p:nvPr/>
        </p:nvSpPr>
        <p:spPr>
          <a:xfrm>
            <a:off x="4526280" y="1463040"/>
            <a:ext cx="7114032" cy="502920"/>
          </a:xfrm>
          <a:prstGeom prst="rect">
            <a:avLst/>
          </a:prstGeom>
          <a:solidFill>
            <a:srgbClr val="45356B"/>
          </a:solidFill>
          <a:ln/>
        </p:spPr>
      </p:sp>
      <p:sp>
        <p:nvSpPr>
          <p:cNvPr id="22" name="Text 19"/>
          <p:cNvSpPr/>
          <p:nvPr/>
        </p:nvSpPr>
        <p:spPr>
          <a:xfrm>
            <a:off x="4526280" y="1463040"/>
            <a:ext cx="7114032"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主な追加・改善（例）</a:t>
            </a:r>
            <a:endParaRPr lang="en-US" sz="1600" dirty="0"/>
          </a:p>
        </p:txBody>
      </p:sp>
      <p:sp>
        <p:nvSpPr>
          <p:cNvPr id="23" name="Shape 20"/>
          <p:cNvSpPr/>
          <p:nvPr/>
        </p:nvSpPr>
        <p:spPr>
          <a:xfrm>
            <a:off x="4709160" y="2130552"/>
            <a:ext cx="3291840" cy="502920"/>
          </a:xfrm>
          <a:prstGeom prst="roundRect">
            <a:avLst>
              <a:gd name="adj" fmla="val 14545"/>
            </a:avLst>
          </a:prstGeom>
          <a:solidFill>
            <a:srgbClr val="FFFFFF"/>
          </a:solidFill>
          <a:ln w="15875">
            <a:solidFill>
              <a:srgbClr val="DCC48A"/>
            </a:solidFill>
            <a:prstDash val="solid"/>
          </a:ln>
        </p:spPr>
      </p:sp>
      <p:sp>
        <p:nvSpPr>
          <p:cNvPr id="24" name="Shape 21"/>
          <p:cNvSpPr/>
          <p:nvPr/>
        </p:nvSpPr>
        <p:spPr>
          <a:xfrm>
            <a:off x="4782312" y="2221992"/>
            <a:ext cx="548640" cy="320040"/>
          </a:xfrm>
          <a:prstGeom prst="roundRect">
            <a:avLst>
              <a:gd name="adj" fmla="val 17143"/>
            </a:avLst>
          </a:prstGeom>
          <a:solidFill>
            <a:srgbClr val="45356B"/>
          </a:solidFill>
          <a:ln/>
        </p:spPr>
      </p:sp>
      <p:sp>
        <p:nvSpPr>
          <p:cNvPr id="25" name="Text 22"/>
          <p:cNvSpPr/>
          <p:nvPr/>
        </p:nvSpPr>
        <p:spPr>
          <a:xfrm>
            <a:off x="4782312" y="2221992"/>
            <a:ext cx="5486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機能</a:t>
            </a:r>
            <a:endParaRPr lang="en-US" sz="950" dirty="0"/>
          </a:p>
        </p:txBody>
      </p:sp>
      <p:sp>
        <p:nvSpPr>
          <p:cNvPr id="26" name="Text 23"/>
          <p:cNvSpPr/>
          <p:nvPr/>
        </p:nvSpPr>
        <p:spPr>
          <a:xfrm>
            <a:off x="5422392" y="2130552"/>
            <a:ext cx="2560320" cy="502920"/>
          </a:xfrm>
          <a:prstGeom prst="rect">
            <a:avLst/>
          </a:prstGeom>
          <a:noFill/>
          <a:ln/>
        </p:spPr>
        <p:txBody>
          <a:bodyPr wrap="square" lIns="0" tIns="0" rIns="0" bIns="0" rtlCol="0" anchor="ctr"/>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口コミの場所を巡るルート</a:t>
            </a:r>
            <a:endParaRPr lang="en-US" sz="1200" dirty="0"/>
          </a:p>
        </p:txBody>
      </p:sp>
      <p:sp>
        <p:nvSpPr>
          <p:cNvPr id="27" name="Shape 24"/>
          <p:cNvSpPr/>
          <p:nvPr/>
        </p:nvSpPr>
        <p:spPr>
          <a:xfrm>
            <a:off x="8183880" y="2130552"/>
            <a:ext cx="3291840" cy="502920"/>
          </a:xfrm>
          <a:prstGeom prst="roundRect">
            <a:avLst>
              <a:gd name="adj" fmla="val 14545"/>
            </a:avLst>
          </a:prstGeom>
          <a:solidFill>
            <a:srgbClr val="FFFFFF"/>
          </a:solidFill>
          <a:ln w="15875">
            <a:solidFill>
              <a:srgbClr val="DCC48A"/>
            </a:solidFill>
            <a:prstDash val="solid"/>
          </a:ln>
        </p:spPr>
      </p:sp>
      <p:sp>
        <p:nvSpPr>
          <p:cNvPr id="28" name="Shape 25"/>
          <p:cNvSpPr/>
          <p:nvPr/>
        </p:nvSpPr>
        <p:spPr>
          <a:xfrm>
            <a:off x="8257032" y="2221992"/>
            <a:ext cx="548640" cy="320040"/>
          </a:xfrm>
          <a:prstGeom prst="roundRect">
            <a:avLst>
              <a:gd name="adj" fmla="val 17143"/>
            </a:avLst>
          </a:prstGeom>
          <a:solidFill>
            <a:srgbClr val="45356B"/>
          </a:solidFill>
          <a:ln/>
        </p:spPr>
      </p:sp>
      <p:sp>
        <p:nvSpPr>
          <p:cNvPr id="29" name="Text 26"/>
          <p:cNvSpPr/>
          <p:nvPr/>
        </p:nvSpPr>
        <p:spPr>
          <a:xfrm>
            <a:off x="8257032" y="2221992"/>
            <a:ext cx="5486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機能</a:t>
            </a:r>
            <a:endParaRPr lang="en-US" sz="950" dirty="0"/>
          </a:p>
        </p:txBody>
      </p:sp>
      <p:sp>
        <p:nvSpPr>
          <p:cNvPr id="30" name="Text 27"/>
          <p:cNvSpPr/>
          <p:nvPr/>
        </p:nvSpPr>
        <p:spPr>
          <a:xfrm>
            <a:off x="8897112" y="2130552"/>
            <a:ext cx="2560320" cy="502920"/>
          </a:xfrm>
          <a:prstGeom prst="rect">
            <a:avLst/>
          </a:prstGeom>
          <a:noFill/>
          <a:ln/>
        </p:spPr>
        <p:txBody>
          <a:bodyPr wrap="square" lIns="0" tIns="0" rIns="0" bIns="0" rtlCol="0" anchor="ctr"/>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自分／他の人の口コミを色分け</a:t>
            </a:r>
            <a:endParaRPr lang="en-US" sz="1200" dirty="0"/>
          </a:p>
        </p:txBody>
      </p:sp>
      <p:sp>
        <p:nvSpPr>
          <p:cNvPr id="31" name="Shape 28"/>
          <p:cNvSpPr/>
          <p:nvPr/>
        </p:nvSpPr>
        <p:spPr>
          <a:xfrm>
            <a:off x="4709160" y="2743200"/>
            <a:ext cx="3291840" cy="502920"/>
          </a:xfrm>
          <a:prstGeom prst="roundRect">
            <a:avLst>
              <a:gd name="adj" fmla="val 14545"/>
            </a:avLst>
          </a:prstGeom>
          <a:solidFill>
            <a:srgbClr val="FFFFFF"/>
          </a:solidFill>
          <a:ln w="15875">
            <a:solidFill>
              <a:srgbClr val="DCC48A"/>
            </a:solidFill>
            <a:prstDash val="solid"/>
          </a:ln>
        </p:spPr>
      </p:sp>
      <p:sp>
        <p:nvSpPr>
          <p:cNvPr id="32" name="Shape 29"/>
          <p:cNvSpPr/>
          <p:nvPr/>
        </p:nvSpPr>
        <p:spPr>
          <a:xfrm>
            <a:off x="4782312" y="2834640"/>
            <a:ext cx="548640" cy="320040"/>
          </a:xfrm>
          <a:prstGeom prst="roundRect">
            <a:avLst>
              <a:gd name="adj" fmla="val 17143"/>
            </a:avLst>
          </a:prstGeom>
          <a:solidFill>
            <a:srgbClr val="45356B"/>
          </a:solidFill>
          <a:ln/>
        </p:spPr>
      </p:sp>
      <p:sp>
        <p:nvSpPr>
          <p:cNvPr id="33" name="Text 30"/>
          <p:cNvSpPr/>
          <p:nvPr/>
        </p:nvSpPr>
        <p:spPr>
          <a:xfrm>
            <a:off x="4782312" y="2834640"/>
            <a:ext cx="5486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機能</a:t>
            </a:r>
            <a:endParaRPr lang="en-US" sz="950" dirty="0"/>
          </a:p>
        </p:txBody>
      </p:sp>
      <p:sp>
        <p:nvSpPr>
          <p:cNvPr id="34" name="Text 31"/>
          <p:cNvSpPr/>
          <p:nvPr/>
        </p:nvSpPr>
        <p:spPr>
          <a:xfrm>
            <a:off x="5422392" y="2743200"/>
            <a:ext cx="2560320" cy="502920"/>
          </a:xfrm>
          <a:prstGeom prst="rect">
            <a:avLst/>
          </a:prstGeom>
          <a:noFill/>
          <a:ln/>
        </p:spPr>
        <p:txBody>
          <a:bodyPr wrap="square" lIns="0" tIns="0" rIns="0" bIns="0" rtlCol="0" anchor="ctr"/>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レベルアップ演出</a:t>
            </a:r>
            <a:endParaRPr lang="en-US" sz="1200" dirty="0"/>
          </a:p>
        </p:txBody>
      </p:sp>
      <p:sp>
        <p:nvSpPr>
          <p:cNvPr id="35" name="Shape 32"/>
          <p:cNvSpPr/>
          <p:nvPr/>
        </p:nvSpPr>
        <p:spPr>
          <a:xfrm>
            <a:off x="8183880" y="2743200"/>
            <a:ext cx="3291840" cy="502920"/>
          </a:xfrm>
          <a:prstGeom prst="roundRect">
            <a:avLst>
              <a:gd name="adj" fmla="val 14545"/>
            </a:avLst>
          </a:prstGeom>
          <a:solidFill>
            <a:srgbClr val="FFFFFF"/>
          </a:solidFill>
          <a:ln w="15875">
            <a:solidFill>
              <a:srgbClr val="DCC48A"/>
            </a:solidFill>
            <a:prstDash val="solid"/>
          </a:ln>
        </p:spPr>
      </p:sp>
      <p:sp>
        <p:nvSpPr>
          <p:cNvPr id="36" name="Shape 33"/>
          <p:cNvSpPr/>
          <p:nvPr/>
        </p:nvSpPr>
        <p:spPr>
          <a:xfrm>
            <a:off x="8257032" y="2834640"/>
            <a:ext cx="548640" cy="320040"/>
          </a:xfrm>
          <a:prstGeom prst="roundRect">
            <a:avLst>
              <a:gd name="adj" fmla="val 17143"/>
            </a:avLst>
          </a:prstGeom>
          <a:solidFill>
            <a:srgbClr val="45356B"/>
          </a:solidFill>
          <a:ln/>
        </p:spPr>
      </p:sp>
      <p:sp>
        <p:nvSpPr>
          <p:cNvPr id="37" name="Text 34"/>
          <p:cNvSpPr/>
          <p:nvPr/>
        </p:nvSpPr>
        <p:spPr>
          <a:xfrm>
            <a:off x="8257032" y="2834640"/>
            <a:ext cx="5486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機能</a:t>
            </a:r>
            <a:endParaRPr lang="en-US" sz="950" dirty="0"/>
          </a:p>
        </p:txBody>
      </p:sp>
      <p:sp>
        <p:nvSpPr>
          <p:cNvPr id="38" name="Text 35"/>
          <p:cNvSpPr/>
          <p:nvPr/>
        </p:nvSpPr>
        <p:spPr>
          <a:xfrm>
            <a:off x="8897112" y="2743200"/>
            <a:ext cx="2560320" cy="502920"/>
          </a:xfrm>
          <a:prstGeom prst="rect">
            <a:avLst/>
          </a:prstGeom>
          <a:noFill/>
          <a:ln/>
        </p:spPr>
        <p:txBody>
          <a:bodyPr wrap="square" lIns="0" tIns="0" rIns="0" bIns="0" rtlCol="0" anchor="ctr"/>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前の目的地へ戻るボタン</a:t>
            </a:r>
            <a:endParaRPr lang="en-US" sz="1200" dirty="0"/>
          </a:p>
        </p:txBody>
      </p:sp>
      <p:sp>
        <p:nvSpPr>
          <p:cNvPr id="39" name="Shape 36"/>
          <p:cNvSpPr/>
          <p:nvPr/>
        </p:nvSpPr>
        <p:spPr>
          <a:xfrm>
            <a:off x="4709160" y="3355848"/>
            <a:ext cx="3291840" cy="502920"/>
          </a:xfrm>
          <a:prstGeom prst="roundRect">
            <a:avLst>
              <a:gd name="adj" fmla="val 14545"/>
            </a:avLst>
          </a:prstGeom>
          <a:solidFill>
            <a:srgbClr val="FFFFFF"/>
          </a:solidFill>
          <a:ln w="15875">
            <a:solidFill>
              <a:srgbClr val="DCC48A"/>
            </a:solidFill>
            <a:prstDash val="solid"/>
          </a:ln>
        </p:spPr>
      </p:sp>
      <p:sp>
        <p:nvSpPr>
          <p:cNvPr id="40" name="Shape 37"/>
          <p:cNvSpPr/>
          <p:nvPr/>
        </p:nvSpPr>
        <p:spPr>
          <a:xfrm>
            <a:off x="4782312" y="3447288"/>
            <a:ext cx="548640" cy="320040"/>
          </a:xfrm>
          <a:prstGeom prst="roundRect">
            <a:avLst>
              <a:gd name="adj" fmla="val 17143"/>
            </a:avLst>
          </a:prstGeom>
          <a:solidFill>
            <a:srgbClr val="B8862B"/>
          </a:solidFill>
          <a:ln/>
        </p:spPr>
      </p:sp>
      <p:sp>
        <p:nvSpPr>
          <p:cNvPr id="41" name="Text 38"/>
          <p:cNvSpPr/>
          <p:nvPr/>
        </p:nvSpPr>
        <p:spPr>
          <a:xfrm>
            <a:off x="4782312" y="3447288"/>
            <a:ext cx="5486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調整</a:t>
            </a:r>
            <a:endParaRPr lang="en-US" sz="950" dirty="0"/>
          </a:p>
        </p:txBody>
      </p:sp>
      <p:sp>
        <p:nvSpPr>
          <p:cNvPr id="42" name="Text 39"/>
          <p:cNvSpPr/>
          <p:nvPr/>
        </p:nvSpPr>
        <p:spPr>
          <a:xfrm>
            <a:off x="5422392" y="3355848"/>
            <a:ext cx="2560320" cy="502920"/>
          </a:xfrm>
          <a:prstGeom prst="rect">
            <a:avLst/>
          </a:prstGeom>
          <a:noFill/>
          <a:ln/>
        </p:spPr>
        <p:txBody>
          <a:bodyPr wrap="square" lIns="0" tIns="0" rIns="0" bIns="0" rtlCol="0" anchor="ctr"/>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案内中の区間を色で描き分け</a:t>
            </a:r>
            <a:endParaRPr lang="en-US" sz="1200" dirty="0"/>
          </a:p>
        </p:txBody>
      </p:sp>
      <p:sp>
        <p:nvSpPr>
          <p:cNvPr id="43" name="Shape 40"/>
          <p:cNvSpPr/>
          <p:nvPr/>
        </p:nvSpPr>
        <p:spPr>
          <a:xfrm>
            <a:off x="8183880" y="3355848"/>
            <a:ext cx="3291840" cy="502920"/>
          </a:xfrm>
          <a:prstGeom prst="roundRect">
            <a:avLst>
              <a:gd name="adj" fmla="val 14545"/>
            </a:avLst>
          </a:prstGeom>
          <a:solidFill>
            <a:srgbClr val="FFFFFF"/>
          </a:solidFill>
          <a:ln w="15875">
            <a:solidFill>
              <a:srgbClr val="DCC48A"/>
            </a:solidFill>
            <a:prstDash val="solid"/>
          </a:ln>
        </p:spPr>
      </p:sp>
      <p:sp>
        <p:nvSpPr>
          <p:cNvPr id="44" name="Shape 41"/>
          <p:cNvSpPr/>
          <p:nvPr/>
        </p:nvSpPr>
        <p:spPr>
          <a:xfrm>
            <a:off x="8257032" y="3447288"/>
            <a:ext cx="548640" cy="320040"/>
          </a:xfrm>
          <a:prstGeom prst="roundRect">
            <a:avLst>
              <a:gd name="adj" fmla="val 17143"/>
            </a:avLst>
          </a:prstGeom>
          <a:solidFill>
            <a:srgbClr val="B8862B"/>
          </a:solidFill>
          <a:ln/>
        </p:spPr>
      </p:sp>
      <p:sp>
        <p:nvSpPr>
          <p:cNvPr id="45" name="Text 42"/>
          <p:cNvSpPr/>
          <p:nvPr/>
        </p:nvSpPr>
        <p:spPr>
          <a:xfrm>
            <a:off x="8257032" y="3447288"/>
            <a:ext cx="5486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調整</a:t>
            </a:r>
            <a:endParaRPr lang="en-US" sz="950" dirty="0"/>
          </a:p>
        </p:txBody>
      </p:sp>
      <p:sp>
        <p:nvSpPr>
          <p:cNvPr id="46" name="Text 43"/>
          <p:cNvSpPr/>
          <p:nvPr/>
        </p:nvSpPr>
        <p:spPr>
          <a:xfrm>
            <a:off x="8897112" y="3355848"/>
            <a:ext cx="2560320" cy="502920"/>
          </a:xfrm>
          <a:prstGeom prst="rect">
            <a:avLst/>
          </a:prstGeom>
          <a:noFill/>
          <a:ln/>
        </p:spPr>
        <p:txBody>
          <a:bodyPr wrap="square" lIns="0" tIns="0" rIns="0" bIns="0" rtlCol="0" anchor="ctr"/>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現在地へ戻るボタン</a:t>
            </a:r>
            <a:endParaRPr lang="en-US" sz="1200" dirty="0"/>
          </a:p>
        </p:txBody>
      </p:sp>
      <p:sp>
        <p:nvSpPr>
          <p:cNvPr id="47" name="Shape 44"/>
          <p:cNvSpPr/>
          <p:nvPr/>
        </p:nvSpPr>
        <p:spPr>
          <a:xfrm>
            <a:off x="4709160" y="3968496"/>
            <a:ext cx="3291840" cy="502920"/>
          </a:xfrm>
          <a:prstGeom prst="roundRect">
            <a:avLst>
              <a:gd name="adj" fmla="val 14545"/>
            </a:avLst>
          </a:prstGeom>
          <a:solidFill>
            <a:srgbClr val="FFFFFF"/>
          </a:solidFill>
          <a:ln w="15875">
            <a:solidFill>
              <a:srgbClr val="DCC48A"/>
            </a:solidFill>
            <a:prstDash val="solid"/>
          </a:ln>
        </p:spPr>
      </p:sp>
      <p:sp>
        <p:nvSpPr>
          <p:cNvPr id="48" name="Shape 45"/>
          <p:cNvSpPr/>
          <p:nvPr/>
        </p:nvSpPr>
        <p:spPr>
          <a:xfrm>
            <a:off x="4782312" y="4059936"/>
            <a:ext cx="548640" cy="320040"/>
          </a:xfrm>
          <a:prstGeom prst="roundRect">
            <a:avLst>
              <a:gd name="adj" fmla="val 17143"/>
            </a:avLst>
          </a:prstGeom>
          <a:solidFill>
            <a:srgbClr val="B8862B"/>
          </a:solidFill>
          <a:ln/>
        </p:spPr>
      </p:sp>
      <p:sp>
        <p:nvSpPr>
          <p:cNvPr id="49" name="Text 46"/>
          <p:cNvSpPr/>
          <p:nvPr/>
        </p:nvSpPr>
        <p:spPr>
          <a:xfrm>
            <a:off x="4782312" y="4059936"/>
            <a:ext cx="5486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調整</a:t>
            </a:r>
            <a:endParaRPr lang="en-US" sz="950" dirty="0"/>
          </a:p>
        </p:txBody>
      </p:sp>
      <p:sp>
        <p:nvSpPr>
          <p:cNvPr id="50" name="Text 47"/>
          <p:cNvSpPr/>
          <p:nvPr/>
        </p:nvSpPr>
        <p:spPr>
          <a:xfrm>
            <a:off x="5422392" y="3968496"/>
            <a:ext cx="2560320" cy="502920"/>
          </a:xfrm>
          <a:prstGeom prst="rect">
            <a:avLst/>
          </a:prstGeom>
          <a:noFill/>
          <a:ln/>
        </p:spPr>
        <p:txBody>
          <a:bodyPr wrap="square" lIns="0" tIns="0" rIns="0" bIns="0" rtlCol="0" anchor="ctr"/>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案内開始時の地図の表示位置</a:t>
            </a:r>
            <a:endParaRPr lang="en-US" sz="1200" dirty="0"/>
          </a:p>
        </p:txBody>
      </p:sp>
      <p:sp>
        <p:nvSpPr>
          <p:cNvPr id="51" name="Shape 48"/>
          <p:cNvSpPr/>
          <p:nvPr/>
        </p:nvSpPr>
        <p:spPr>
          <a:xfrm>
            <a:off x="8183880" y="3968496"/>
            <a:ext cx="3291840" cy="502920"/>
          </a:xfrm>
          <a:prstGeom prst="roundRect">
            <a:avLst>
              <a:gd name="adj" fmla="val 14545"/>
            </a:avLst>
          </a:prstGeom>
          <a:solidFill>
            <a:srgbClr val="FFFFFF"/>
          </a:solidFill>
          <a:ln w="15875">
            <a:solidFill>
              <a:srgbClr val="DCC48A"/>
            </a:solidFill>
            <a:prstDash val="solid"/>
          </a:ln>
        </p:spPr>
      </p:sp>
      <p:sp>
        <p:nvSpPr>
          <p:cNvPr id="52" name="Shape 49"/>
          <p:cNvSpPr/>
          <p:nvPr/>
        </p:nvSpPr>
        <p:spPr>
          <a:xfrm>
            <a:off x="8257032" y="4059936"/>
            <a:ext cx="548640" cy="320040"/>
          </a:xfrm>
          <a:prstGeom prst="roundRect">
            <a:avLst>
              <a:gd name="adj" fmla="val 17143"/>
            </a:avLst>
          </a:prstGeom>
          <a:solidFill>
            <a:srgbClr val="B8862B"/>
          </a:solidFill>
          <a:ln/>
        </p:spPr>
      </p:sp>
      <p:sp>
        <p:nvSpPr>
          <p:cNvPr id="53" name="Text 50"/>
          <p:cNvSpPr/>
          <p:nvPr/>
        </p:nvSpPr>
        <p:spPr>
          <a:xfrm>
            <a:off x="8257032" y="4059936"/>
            <a:ext cx="5486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調整</a:t>
            </a:r>
            <a:endParaRPr lang="en-US" sz="950" dirty="0"/>
          </a:p>
        </p:txBody>
      </p:sp>
      <p:sp>
        <p:nvSpPr>
          <p:cNvPr id="54" name="Text 51"/>
          <p:cNvSpPr/>
          <p:nvPr/>
        </p:nvSpPr>
        <p:spPr>
          <a:xfrm>
            <a:off x="8897112" y="3968496"/>
            <a:ext cx="2560320" cy="502920"/>
          </a:xfrm>
          <a:prstGeom prst="rect">
            <a:avLst/>
          </a:prstGeom>
          <a:noFill/>
          <a:ln/>
        </p:spPr>
        <p:txBody>
          <a:bodyPr wrap="square" lIns="0" tIns="0" rIns="0" bIns="0" rtlCol="0" anchor="ctr"/>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投稿中・記録中の表示</a:t>
            </a:r>
            <a:endParaRPr lang="en-US" sz="1200" dirty="0"/>
          </a:p>
        </p:txBody>
      </p:sp>
      <p:sp>
        <p:nvSpPr>
          <p:cNvPr id="55" name="Shape 52"/>
          <p:cNvSpPr/>
          <p:nvPr/>
        </p:nvSpPr>
        <p:spPr>
          <a:xfrm>
            <a:off x="4709160" y="4581144"/>
            <a:ext cx="3291840" cy="502920"/>
          </a:xfrm>
          <a:prstGeom prst="roundRect">
            <a:avLst>
              <a:gd name="adj" fmla="val 14545"/>
            </a:avLst>
          </a:prstGeom>
          <a:solidFill>
            <a:srgbClr val="FFFFFF"/>
          </a:solidFill>
          <a:ln w="15875">
            <a:solidFill>
              <a:srgbClr val="DCC48A"/>
            </a:solidFill>
            <a:prstDash val="solid"/>
          </a:ln>
        </p:spPr>
      </p:sp>
      <p:sp>
        <p:nvSpPr>
          <p:cNvPr id="56" name="Shape 53"/>
          <p:cNvSpPr/>
          <p:nvPr/>
        </p:nvSpPr>
        <p:spPr>
          <a:xfrm>
            <a:off x="4782312" y="4672584"/>
            <a:ext cx="548640" cy="320040"/>
          </a:xfrm>
          <a:prstGeom prst="roundRect">
            <a:avLst>
              <a:gd name="adj" fmla="val 17143"/>
            </a:avLst>
          </a:prstGeom>
          <a:solidFill>
            <a:srgbClr val="B8862B"/>
          </a:solidFill>
          <a:ln/>
        </p:spPr>
      </p:sp>
      <p:sp>
        <p:nvSpPr>
          <p:cNvPr id="57" name="Text 54"/>
          <p:cNvSpPr/>
          <p:nvPr/>
        </p:nvSpPr>
        <p:spPr>
          <a:xfrm>
            <a:off x="4782312" y="4672584"/>
            <a:ext cx="5486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調整</a:t>
            </a:r>
            <a:endParaRPr lang="en-US" sz="950" dirty="0"/>
          </a:p>
        </p:txBody>
      </p:sp>
      <p:sp>
        <p:nvSpPr>
          <p:cNvPr id="58" name="Text 55"/>
          <p:cNvSpPr/>
          <p:nvPr/>
        </p:nvSpPr>
        <p:spPr>
          <a:xfrm>
            <a:off x="5422392" y="4581144"/>
            <a:ext cx="2560320" cy="502920"/>
          </a:xfrm>
          <a:prstGeom prst="rect">
            <a:avLst/>
          </a:prstGeom>
          <a:noFill/>
          <a:ln/>
        </p:spPr>
        <p:txBody>
          <a:bodyPr wrap="square" lIns="0" tIns="0" rIns="0" bIns="0" rtlCol="0" anchor="ctr"/>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ダブルタップでの拡大を防止</a:t>
            </a:r>
            <a:endParaRPr lang="en-US" sz="1200" dirty="0"/>
          </a:p>
        </p:txBody>
      </p:sp>
      <p:sp>
        <p:nvSpPr>
          <p:cNvPr id="59" name="Shape 56"/>
          <p:cNvSpPr/>
          <p:nvPr/>
        </p:nvSpPr>
        <p:spPr>
          <a:xfrm>
            <a:off x="8183880" y="4581144"/>
            <a:ext cx="3291840" cy="502920"/>
          </a:xfrm>
          <a:prstGeom prst="roundRect">
            <a:avLst>
              <a:gd name="adj" fmla="val 14545"/>
            </a:avLst>
          </a:prstGeom>
          <a:solidFill>
            <a:srgbClr val="FFFFFF"/>
          </a:solidFill>
          <a:ln w="15875">
            <a:solidFill>
              <a:srgbClr val="DCC48A"/>
            </a:solidFill>
            <a:prstDash val="solid"/>
          </a:ln>
        </p:spPr>
      </p:sp>
      <p:sp>
        <p:nvSpPr>
          <p:cNvPr id="60" name="Shape 57"/>
          <p:cNvSpPr/>
          <p:nvPr/>
        </p:nvSpPr>
        <p:spPr>
          <a:xfrm>
            <a:off x="8257032" y="4672584"/>
            <a:ext cx="548640" cy="320040"/>
          </a:xfrm>
          <a:prstGeom prst="roundRect">
            <a:avLst>
              <a:gd name="adj" fmla="val 17143"/>
            </a:avLst>
          </a:prstGeom>
          <a:solidFill>
            <a:srgbClr val="B8862B"/>
          </a:solidFill>
          <a:ln/>
        </p:spPr>
      </p:sp>
      <p:sp>
        <p:nvSpPr>
          <p:cNvPr id="61" name="Text 58"/>
          <p:cNvSpPr/>
          <p:nvPr/>
        </p:nvSpPr>
        <p:spPr>
          <a:xfrm>
            <a:off x="8257032" y="4672584"/>
            <a:ext cx="5486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BIZ UDPゴシック" pitchFamily="34" charset="0"/>
                <a:ea typeface="BIZ UDPゴシック" pitchFamily="34" charset="-122"/>
                <a:cs typeface="BIZ UDPゴシック" pitchFamily="34" charset="-120"/>
              </a:rPr>
              <a:t>調整</a:t>
            </a:r>
            <a:endParaRPr lang="en-US" sz="950" dirty="0"/>
          </a:p>
        </p:txBody>
      </p:sp>
      <p:sp>
        <p:nvSpPr>
          <p:cNvPr id="62" name="Text 59"/>
          <p:cNvSpPr/>
          <p:nvPr/>
        </p:nvSpPr>
        <p:spPr>
          <a:xfrm>
            <a:off x="8897112" y="4581144"/>
            <a:ext cx="2560320" cy="502920"/>
          </a:xfrm>
          <a:prstGeom prst="rect">
            <a:avLst/>
          </a:prstGeom>
          <a:noFill/>
          <a:ln/>
        </p:spPr>
        <p:txBody>
          <a:bodyPr wrap="square" lIns="0" tIns="0" rIns="0" bIns="0" rtlCol="0" anchor="ctr"/>
          <a:lstStyle/>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チュートリアルの吹き出し位置</a:t>
            </a:r>
            <a:endParaRPr lang="en-US" sz="1200" dirty="0"/>
          </a:p>
        </p:txBody>
      </p:sp>
      <p:pic>
        <p:nvPicPr>
          <p:cNvPr id="63" name="Image 0" descr="C:\Users\ltosuser\AppData\Local\Temp\michishiru-ppt\img\lv08.png">    </p:cNvPr>
          <p:cNvPicPr>
            <a:picLocks noChangeAspect="1"/>
          </p:cNvPicPr>
          <p:nvPr/>
        </p:nvPicPr>
        <p:blipFill>
          <a:blip r:embed="rId1"/>
          <a:stretch>
            <a:fillRect/>
          </a:stretch>
        </p:blipFill>
        <p:spPr>
          <a:xfrm>
            <a:off x="594360" y="5349240"/>
            <a:ext cx="960120" cy="960120"/>
          </a:xfrm>
          <a:prstGeom prst="rect">
            <a:avLst/>
          </a:prstGeom>
        </p:spPr>
      </p:pic>
      <p:sp>
        <p:nvSpPr>
          <p:cNvPr id="64" name="Shape 60"/>
          <p:cNvSpPr/>
          <p:nvPr/>
        </p:nvSpPr>
        <p:spPr>
          <a:xfrm>
            <a:off x="1783080" y="5486400"/>
            <a:ext cx="9857232" cy="713232"/>
          </a:xfrm>
          <a:prstGeom prst="roundRect">
            <a:avLst>
              <a:gd name="adj" fmla="val 15385"/>
            </a:avLst>
          </a:prstGeom>
          <a:solidFill>
            <a:srgbClr val="FFFFFF"/>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65" name="Shape 61"/>
          <p:cNvSpPr/>
          <p:nvPr/>
        </p:nvSpPr>
        <p:spPr>
          <a:xfrm rot="16200000">
            <a:off x="1627632" y="5751576"/>
            <a:ext cx="182880" cy="182880"/>
          </a:xfrm>
          <a:prstGeom prst="triangle">
            <a:avLst/>
          </a:prstGeom>
          <a:solidFill>
            <a:srgbClr val="FFFFFF"/>
          </a:solidFill>
          <a:ln w="15875">
            <a:solidFill>
              <a:srgbClr val="5C4430"/>
            </a:solidFill>
            <a:prstDash val="solid"/>
          </a:ln>
        </p:spPr>
      </p:sp>
      <p:sp>
        <p:nvSpPr>
          <p:cNvPr id="66" name="Shape 62"/>
          <p:cNvSpPr/>
          <p:nvPr/>
        </p:nvSpPr>
        <p:spPr>
          <a:xfrm>
            <a:off x="1773936" y="5765292"/>
            <a:ext cx="36576" cy="155448"/>
          </a:xfrm>
          <a:prstGeom prst="rect">
            <a:avLst/>
          </a:prstGeom>
          <a:solidFill>
            <a:srgbClr val="FFFFFF"/>
          </a:solidFill>
          <a:ln/>
        </p:spPr>
      </p:sp>
      <p:sp>
        <p:nvSpPr>
          <p:cNvPr id="67" name="Text 63"/>
          <p:cNvSpPr/>
          <p:nvPr/>
        </p:nvSpPr>
        <p:spPr>
          <a:xfrm>
            <a:off x="1920240" y="5486400"/>
            <a:ext cx="9582912" cy="713232"/>
          </a:xfrm>
          <a:prstGeom prst="rect">
            <a:avLst/>
          </a:prstGeom>
          <a:noFill/>
          <a:ln/>
        </p:spPr>
        <p:txBody>
          <a:bodyPr wrap="square" lIns="0" tIns="0" rIns="0" bIns="0" rtlCol="0" anchor="ctr"/>
          <a:lstStyle/>
          <a:p>
            <a:pPr indent="0" marL="0">
              <a:buNone/>
            </a:pPr>
            <a:r>
              <a:rPr lang="en-US" sz="1350" b="1" dirty="0">
                <a:solidFill>
                  <a:srgbClr val="3A2E20"/>
                </a:solidFill>
                <a:latin typeface="BIZ UDPゴシック" pitchFamily="34" charset="0"/>
                <a:ea typeface="BIZ UDPゴシック" pitchFamily="34" charset="-122"/>
                <a:cs typeface="BIZ UDPゴシック" pitchFamily="34" charset="-120"/>
              </a:rPr>
              <a:t>実際に歩いて試し、「歩きながらでも迷わず使える」アプリへ磨き込んだ</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45356B"/>
        </a:solidFill>
      </p:bgPr>
    </p:bg>
    <p:spTree>
      <p:nvGrpSpPr>
        <p:cNvPr id="1" name=""/>
        <p:cNvGrpSpPr/>
        <p:nvPr/>
      </p:nvGrpSpPr>
      <p:grpSpPr>
        <a:xfrm>
          <a:off x="0" y="0"/>
          <a:ext cx="0" cy="0"/>
          <a:chOff x="0" y="0"/>
          <a:chExt cx="0" cy="0"/>
        </a:xfrm>
      </p:grpSpPr>
      <p:pic>
        <p:nvPicPr>
          <p:cNvPr id="2" name="Image 0" descr="C:\Users\ltosuser\AppData\Local\Temp\michishiru-ppt\img\map.jpg">    </p:cNvPr>
          <p:cNvPicPr>
            <a:picLocks noChangeAspect="1"/>
          </p:cNvPicPr>
          <p:nvPr/>
        </p:nvPicPr>
        <p:blipFill>
          <a:blip r:embed="rId1"/>
          <a:srcRect l="0" r="0" t="13716" b="13716"/>
          <a:stretch/>
        </p:blipFill>
        <p:spPr>
          <a:xfrm>
            <a:off x="5852160" y="0"/>
            <a:ext cx="6339535" cy="6858000"/>
          </a:xfrm>
          <a:prstGeom prst="rect">
            <a:avLst/>
          </a:prstGeom>
        </p:spPr>
      </p:pic>
      <p:sp>
        <p:nvSpPr>
          <p:cNvPr id="3" name="Shape 0"/>
          <p:cNvSpPr/>
          <p:nvPr/>
        </p:nvSpPr>
        <p:spPr>
          <a:xfrm>
            <a:off x="5852160" y="0"/>
            <a:ext cx="6339535" cy="6858000"/>
          </a:xfrm>
          <a:prstGeom prst="rect">
            <a:avLst/>
          </a:prstGeom>
          <a:solidFill>
            <a:srgbClr val="45356B">
              <a:alpha val="65000"/>
            </a:srgbClr>
          </a:solidFill>
          <a:ln/>
        </p:spPr>
      </p:sp>
      <p:sp>
        <p:nvSpPr>
          <p:cNvPr id="4" name="Shape 1"/>
          <p:cNvSpPr/>
          <p:nvPr/>
        </p:nvSpPr>
        <p:spPr>
          <a:xfrm>
            <a:off x="5852160" y="0"/>
            <a:ext cx="73152" cy="6858000"/>
          </a:xfrm>
          <a:prstGeom prst="rect">
            <a:avLst/>
          </a:prstGeom>
          <a:solidFill>
            <a:srgbClr val="B8862B"/>
          </a:solidFill>
          <a:ln/>
        </p:spPr>
      </p:sp>
      <p:sp>
        <p:nvSpPr>
          <p:cNvPr id="5" name="Text 2"/>
          <p:cNvSpPr/>
          <p:nvPr/>
        </p:nvSpPr>
        <p:spPr>
          <a:xfrm>
            <a:off x="822960" y="1097280"/>
            <a:ext cx="3657600" cy="1280160"/>
          </a:xfrm>
          <a:prstGeom prst="rect">
            <a:avLst/>
          </a:prstGeom>
          <a:noFill/>
          <a:ln/>
        </p:spPr>
        <p:txBody>
          <a:bodyPr wrap="square" lIns="0" tIns="0" rIns="0" bIns="0" rtlCol="0" anchor="t"/>
          <a:lstStyle/>
          <a:p>
            <a:pPr indent="0" marL="0">
              <a:buNone/>
            </a:pPr>
            <a:r>
              <a:rPr lang="en-US" sz="9600" b="1" dirty="0">
                <a:solidFill>
                  <a:srgbClr val="B8862B"/>
                </a:solidFill>
                <a:latin typeface="Georgia" pitchFamily="34" charset="0"/>
                <a:ea typeface="Georgia" pitchFamily="34" charset="-122"/>
                <a:cs typeface="Georgia" pitchFamily="34" charset="-120"/>
              </a:rPr>
              <a:t>03</a:t>
            </a:r>
            <a:endParaRPr lang="en-US" sz="9600" dirty="0"/>
          </a:p>
        </p:txBody>
      </p:sp>
      <p:sp>
        <p:nvSpPr>
          <p:cNvPr id="6" name="Shape 3"/>
          <p:cNvSpPr/>
          <p:nvPr/>
        </p:nvSpPr>
        <p:spPr>
          <a:xfrm>
            <a:off x="868680" y="2606040"/>
            <a:ext cx="1097280" cy="64008"/>
          </a:xfrm>
          <a:prstGeom prst="rect">
            <a:avLst/>
          </a:prstGeom>
          <a:solidFill>
            <a:srgbClr val="B8862B"/>
          </a:solidFill>
          <a:ln/>
        </p:spPr>
      </p:sp>
      <p:sp>
        <p:nvSpPr>
          <p:cNvPr id="7" name="Text 4"/>
          <p:cNvSpPr/>
          <p:nvPr/>
        </p:nvSpPr>
        <p:spPr>
          <a:xfrm>
            <a:off x="822960" y="2788920"/>
            <a:ext cx="4937760" cy="1234440"/>
          </a:xfrm>
          <a:prstGeom prst="rect">
            <a:avLst/>
          </a:prstGeom>
          <a:noFill/>
          <a:ln/>
        </p:spPr>
        <p:txBody>
          <a:bodyPr wrap="square" lIns="0" tIns="0" rIns="0" bIns="0" rtlCol="0" anchor="ctr"/>
          <a:lstStyle/>
          <a:p>
            <a:pPr indent="0" marL="0">
              <a:buNone/>
            </a:pPr>
            <a:r>
              <a:rPr lang="en-US" sz="3600" b="1" dirty="0">
                <a:solidFill>
                  <a:srgbClr val="FFFFFF"/>
                </a:solidFill>
                <a:latin typeface="BIZ UDPゴシック" pitchFamily="34" charset="0"/>
                <a:ea typeface="BIZ UDPゴシック" pitchFamily="34" charset="-122"/>
                <a:cs typeface="BIZ UDPゴシック" pitchFamily="34" charset="-120"/>
              </a:rPr>
              <a:t>学びと展開</a:t>
            </a:r>
            <a:endParaRPr lang="en-US" sz="3600" dirty="0"/>
          </a:p>
        </p:txBody>
      </p:sp>
      <p:sp>
        <p:nvSpPr>
          <p:cNvPr id="8" name="Text 5"/>
          <p:cNvSpPr/>
          <p:nvPr/>
        </p:nvSpPr>
        <p:spPr>
          <a:xfrm>
            <a:off x="822960" y="4114800"/>
            <a:ext cx="4937760" cy="914400"/>
          </a:xfrm>
          <a:prstGeom prst="rect">
            <a:avLst/>
          </a:prstGeom>
          <a:noFill/>
          <a:ln/>
        </p:spPr>
        <p:txBody>
          <a:bodyPr wrap="square" lIns="0" tIns="0" rIns="0" bIns="0" rtlCol="0" anchor="t"/>
          <a:lstStyle/>
          <a:p>
            <a:pPr indent="0" marL="0">
              <a:lnSpc>
                <a:spcPct val="130000"/>
              </a:lnSpc>
              <a:buNone/>
            </a:pPr>
            <a:r>
              <a:rPr lang="en-US" sz="1400" dirty="0">
                <a:solidFill>
                  <a:srgbClr val="E8E1F5"/>
                </a:solidFill>
                <a:latin typeface="BIZ UDPゴシック" pitchFamily="34" charset="0"/>
                <a:ea typeface="BIZ UDPゴシック" pitchFamily="34" charset="-122"/>
                <a:cs typeface="BIZ UDPゴシック" pitchFamily="34" charset="-120"/>
              </a:rPr>
              <a:t>研修を通じた学び</a:t>
            </a:r>
            <a:endParaRPr lang="en-US" sz="1400" dirty="0"/>
          </a:p>
          <a:p>
            <a:pPr indent="0" marL="0">
              <a:lnSpc>
                <a:spcPct val="130000"/>
              </a:lnSpc>
              <a:buNone/>
            </a:pPr>
            <a:r>
              <a:rPr lang="en-US" sz="1400" dirty="0">
                <a:solidFill>
                  <a:srgbClr val="E8E1F5"/>
                </a:solidFill>
                <a:latin typeface="BIZ UDPゴシック" pitchFamily="34" charset="0"/>
                <a:ea typeface="BIZ UDPゴシック" pitchFamily="34" charset="-122"/>
                <a:cs typeface="BIZ UDPゴシック" pitchFamily="34" charset="-120"/>
              </a:rPr>
              <a:t>今後の業務に生かしたいこと</a:t>
            </a:r>
            <a:endParaRPr lang="en-US" sz="1400" dirty="0"/>
          </a:p>
        </p:txBody>
      </p:sp>
      <p:sp>
        <p:nvSpPr>
          <p:cNvPr id="9" name="Shape 6"/>
          <p:cNvSpPr/>
          <p:nvPr/>
        </p:nvSpPr>
        <p:spPr>
          <a:xfrm>
            <a:off x="822960" y="5120640"/>
            <a:ext cx="1737360" cy="502920"/>
          </a:xfrm>
          <a:prstGeom prst="roundRect">
            <a:avLst>
              <a:gd name="adj" fmla="val 49091"/>
            </a:avLst>
          </a:prstGeom>
          <a:solidFill>
            <a:srgbClr val="B8862B"/>
          </a:solidFill>
          <a:ln/>
        </p:spPr>
      </p:sp>
      <p:sp>
        <p:nvSpPr>
          <p:cNvPr id="10" name="Text 7"/>
          <p:cNvSpPr/>
          <p:nvPr/>
        </p:nvSpPr>
        <p:spPr>
          <a:xfrm>
            <a:off x="822960" y="5120640"/>
            <a:ext cx="17373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発表 5分</a:t>
            </a:r>
            <a:endParaRPr lang="en-US" sz="1500" dirty="0"/>
          </a:p>
        </p:txBody>
      </p:sp>
      <p:sp>
        <p:nvSpPr>
          <p:cNvPr id="11" name="Shape 8"/>
          <p:cNvSpPr/>
          <p:nvPr/>
        </p:nvSpPr>
        <p:spPr>
          <a:xfrm>
            <a:off x="7452360" y="1417320"/>
            <a:ext cx="3291840" cy="3291840"/>
          </a:xfrm>
          <a:prstGeom prst="ellipse">
            <a:avLst/>
          </a:prstGeom>
          <a:solidFill>
            <a:srgbClr val="FBF4E4">
              <a:alpha val="90000"/>
            </a:srgbClr>
          </a:solidFill>
          <a:ln w="38100">
            <a:solidFill>
              <a:srgbClr val="B8862B"/>
            </a:solidFill>
            <a:prstDash val="solid"/>
          </a:ln>
        </p:spPr>
      </p:sp>
      <p:pic>
        <p:nvPicPr>
          <p:cNvPr id="12" name="Image 1" descr="C:\Users\ltosuser\AppData\Local\Temp\michishiru-ppt\img\lv10.png">    </p:cNvPr>
          <p:cNvPicPr>
            <a:picLocks noChangeAspect="1"/>
          </p:cNvPicPr>
          <p:nvPr/>
        </p:nvPicPr>
        <p:blipFill>
          <a:blip r:embed="rId2"/>
          <a:stretch>
            <a:fillRect/>
          </a:stretch>
        </p:blipFill>
        <p:spPr>
          <a:xfrm>
            <a:off x="7635240" y="1554480"/>
            <a:ext cx="2926080" cy="2926080"/>
          </a:xfrm>
          <a:prstGeom prst="rect">
            <a:avLst/>
          </a:prstGeom>
        </p:spPr>
      </p:pic>
      <p:sp>
        <p:nvSpPr>
          <p:cNvPr id="13" name="Text 9"/>
          <p:cNvSpPr/>
          <p:nvPr/>
        </p:nvSpPr>
        <p:spPr>
          <a:xfrm>
            <a:off x="7452360" y="4892040"/>
            <a:ext cx="3291840" cy="457200"/>
          </a:xfrm>
          <a:prstGeom prst="rect">
            <a:avLst/>
          </a:prstGeom>
          <a:noFill/>
          <a:ln/>
        </p:spPr>
        <p:txBody>
          <a:bodyPr wrap="square" lIns="0" tIns="0" rIns="0" bIns="0" rtlCol="0" anchor="t"/>
          <a:lstStyle/>
          <a:p>
            <a:pPr algn="ctr" indent="0" marL="0">
              <a:buNone/>
            </a:pPr>
            <a:r>
              <a:rPr lang="en-US" sz="2000" b="1" dirty="0">
                <a:solidFill>
                  <a:srgbClr val="FFFFFF"/>
                </a:solidFill>
                <a:latin typeface="Georgia" pitchFamily="34" charset="0"/>
                <a:ea typeface="Georgia" pitchFamily="34" charset="-122"/>
                <a:cs typeface="Georgia" pitchFamily="34" charset="-120"/>
              </a:rPr>
              <a:t>Lv.10</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03 LEARNING</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研修を通じた学び</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03 学びと展開</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23</a:t>
            </a:r>
            <a:endParaRPr lang="en-US" sz="900" dirty="0"/>
          </a:p>
        </p:txBody>
      </p:sp>
      <p:sp>
        <p:nvSpPr>
          <p:cNvPr id="11" name="Shape 8"/>
          <p:cNvSpPr/>
          <p:nvPr/>
        </p:nvSpPr>
        <p:spPr>
          <a:xfrm>
            <a:off x="548640" y="1463040"/>
            <a:ext cx="5440680" cy="4709160"/>
          </a:xfrm>
          <a:prstGeom prst="roundRect">
            <a:avLst>
              <a:gd name="adj" fmla="val 155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2" name="Shape 9"/>
          <p:cNvSpPr/>
          <p:nvPr/>
        </p:nvSpPr>
        <p:spPr>
          <a:xfrm>
            <a:off x="548640" y="1463040"/>
            <a:ext cx="5440680" cy="640080"/>
          </a:xfrm>
          <a:prstGeom prst="rect">
            <a:avLst/>
          </a:prstGeom>
          <a:solidFill>
            <a:srgbClr val="45356B"/>
          </a:solidFill>
          <a:ln/>
        </p:spPr>
      </p:sp>
      <p:sp>
        <p:nvSpPr>
          <p:cNvPr id="13" name="Text 10"/>
          <p:cNvSpPr/>
          <p:nvPr/>
        </p:nvSpPr>
        <p:spPr>
          <a:xfrm>
            <a:off x="548640" y="1463040"/>
            <a:ext cx="54406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BIZ UDPゴシック" pitchFamily="34" charset="0"/>
                <a:ea typeface="BIZ UDPゴシック" pitchFamily="34" charset="-122"/>
                <a:cs typeface="BIZ UDPゴシック" pitchFamily="34" charset="-120"/>
              </a:rPr>
              <a:t>一気通貫の開発経験</a:t>
            </a:r>
            <a:endParaRPr lang="en-US" sz="1900" dirty="0"/>
          </a:p>
        </p:txBody>
      </p:sp>
      <p:sp>
        <p:nvSpPr>
          <p:cNvPr id="14" name="Shape 11"/>
          <p:cNvSpPr/>
          <p:nvPr/>
        </p:nvSpPr>
        <p:spPr>
          <a:xfrm>
            <a:off x="731520" y="2286000"/>
            <a:ext cx="1060704" cy="457200"/>
          </a:xfrm>
          <a:prstGeom prst="homePlate">
            <a:avLst/>
          </a:prstGeom>
          <a:solidFill>
            <a:srgbClr val="FFFFFF"/>
          </a:solidFill>
          <a:ln w="12700">
            <a:solidFill>
              <a:srgbClr val="45356B"/>
            </a:solidFill>
            <a:prstDash val="solid"/>
          </a:ln>
        </p:spPr>
      </p:sp>
      <p:sp>
        <p:nvSpPr>
          <p:cNvPr id="15" name="Text 12"/>
          <p:cNvSpPr/>
          <p:nvPr/>
        </p:nvSpPr>
        <p:spPr>
          <a:xfrm>
            <a:off x="749808" y="2286000"/>
            <a:ext cx="832104" cy="457200"/>
          </a:xfrm>
          <a:prstGeom prst="rect">
            <a:avLst/>
          </a:prstGeom>
          <a:noFill/>
          <a:ln/>
        </p:spPr>
        <p:txBody>
          <a:bodyPr wrap="square" lIns="0" tIns="0" rIns="0" bIns="0" rtlCol="0" anchor="ctr"/>
          <a:lstStyle/>
          <a:p>
            <a:pPr algn="ctr" indent="0" marL="0">
              <a:buNone/>
            </a:pPr>
            <a:r>
              <a:rPr lang="en-US" sz="1050" b="1" dirty="0">
                <a:solidFill>
                  <a:srgbClr val="45356B"/>
                </a:solidFill>
                <a:latin typeface="BIZ UDPゴシック" pitchFamily="34" charset="0"/>
                <a:ea typeface="BIZ UDPゴシック" pitchFamily="34" charset="-122"/>
                <a:cs typeface="BIZ UDPゴシック" pitchFamily="34" charset="-120"/>
              </a:rPr>
              <a:t>要件</a:t>
            </a:r>
            <a:endParaRPr lang="en-US" sz="1050" dirty="0"/>
          </a:p>
        </p:txBody>
      </p:sp>
      <p:sp>
        <p:nvSpPr>
          <p:cNvPr id="16" name="Shape 13"/>
          <p:cNvSpPr/>
          <p:nvPr/>
        </p:nvSpPr>
        <p:spPr>
          <a:xfrm>
            <a:off x="1746504" y="2286000"/>
            <a:ext cx="1060704" cy="457200"/>
          </a:xfrm>
          <a:prstGeom prst="chevron">
            <a:avLst/>
          </a:prstGeom>
          <a:solidFill>
            <a:srgbClr val="ECE7F5"/>
          </a:solidFill>
          <a:ln w="12700">
            <a:solidFill>
              <a:srgbClr val="45356B"/>
            </a:solidFill>
            <a:prstDash val="solid"/>
          </a:ln>
        </p:spPr>
      </p:sp>
      <p:sp>
        <p:nvSpPr>
          <p:cNvPr id="17" name="Text 14"/>
          <p:cNvSpPr/>
          <p:nvPr/>
        </p:nvSpPr>
        <p:spPr>
          <a:xfrm>
            <a:off x="1883664" y="2286000"/>
            <a:ext cx="832104" cy="457200"/>
          </a:xfrm>
          <a:prstGeom prst="rect">
            <a:avLst/>
          </a:prstGeom>
          <a:noFill/>
          <a:ln/>
        </p:spPr>
        <p:txBody>
          <a:bodyPr wrap="square" lIns="0" tIns="0" rIns="0" bIns="0" rtlCol="0" anchor="ctr"/>
          <a:lstStyle/>
          <a:p>
            <a:pPr algn="ctr" indent="0" marL="0">
              <a:buNone/>
            </a:pPr>
            <a:r>
              <a:rPr lang="en-US" sz="1050" b="1" dirty="0">
                <a:solidFill>
                  <a:srgbClr val="45356B"/>
                </a:solidFill>
                <a:latin typeface="BIZ UDPゴシック" pitchFamily="34" charset="0"/>
                <a:ea typeface="BIZ UDPゴシック" pitchFamily="34" charset="-122"/>
                <a:cs typeface="BIZ UDPゴシック" pitchFamily="34" charset="-120"/>
              </a:rPr>
              <a:t>設計</a:t>
            </a:r>
            <a:endParaRPr lang="en-US" sz="1050" dirty="0"/>
          </a:p>
        </p:txBody>
      </p:sp>
      <p:sp>
        <p:nvSpPr>
          <p:cNvPr id="18" name="Shape 15"/>
          <p:cNvSpPr/>
          <p:nvPr/>
        </p:nvSpPr>
        <p:spPr>
          <a:xfrm>
            <a:off x="2761488" y="2286000"/>
            <a:ext cx="1060704" cy="457200"/>
          </a:xfrm>
          <a:prstGeom prst="chevron">
            <a:avLst/>
          </a:prstGeom>
          <a:solidFill>
            <a:srgbClr val="FFFFFF"/>
          </a:solidFill>
          <a:ln w="12700">
            <a:solidFill>
              <a:srgbClr val="45356B"/>
            </a:solidFill>
            <a:prstDash val="solid"/>
          </a:ln>
        </p:spPr>
      </p:sp>
      <p:sp>
        <p:nvSpPr>
          <p:cNvPr id="19" name="Text 16"/>
          <p:cNvSpPr/>
          <p:nvPr/>
        </p:nvSpPr>
        <p:spPr>
          <a:xfrm>
            <a:off x="2898648" y="2286000"/>
            <a:ext cx="832104" cy="457200"/>
          </a:xfrm>
          <a:prstGeom prst="rect">
            <a:avLst/>
          </a:prstGeom>
          <a:noFill/>
          <a:ln/>
        </p:spPr>
        <p:txBody>
          <a:bodyPr wrap="square" lIns="0" tIns="0" rIns="0" bIns="0" rtlCol="0" anchor="ctr"/>
          <a:lstStyle/>
          <a:p>
            <a:pPr algn="ctr" indent="0" marL="0">
              <a:buNone/>
            </a:pPr>
            <a:r>
              <a:rPr lang="en-US" sz="1050" b="1" dirty="0">
                <a:solidFill>
                  <a:srgbClr val="45356B"/>
                </a:solidFill>
                <a:latin typeface="BIZ UDPゴシック" pitchFamily="34" charset="0"/>
                <a:ea typeface="BIZ UDPゴシック" pitchFamily="34" charset="-122"/>
                <a:cs typeface="BIZ UDPゴシック" pitchFamily="34" charset="-120"/>
              </a:rPr>
              <a:t>実装</a:t>
            </a:r>
            <a:endParaRPr lang="en-US" sz="1050" dirty="0"/>
          </a:p>
        </p:txBody>
      </p:sp>
      <p:sp>
        <p:nvSpPr>
          <p:cNvPr id="20" name="Shape 17"/>
          <p:cNvSpPr/>
          <p:nvPr/>
        </p:nvSpPr>
        <p:spPr>
          <a:xfrm>
            <a:off x="3776472" y="2286000"/>
            <a:ext cx="1060704" cy="457200"/>
          </a:xfrm>
          <a:prstGeom prst="chevron">
            <a:avLst/>
          </a:prstGeom>
          <a:solidFill>
            <a:srgbClr val="ECE7F5"/>
          </a:solidFill>
          <a:ln w="12700">
            <a:solidFill>
              <a:srgbClr val="45356B"/>
            </a:solidFill>
            <a:prstDash val="solid"/>
          </a:ln>
        </p:spPr>
      </p:sp>
      <p:sp>
        <p:nvSpPr>
          <p:cNvPr id="21" name="Text 18"/>
          <p:cNvSpPr/>
          <p:nvPr/>
        </p:nvSpPr>
        <p:spPr>
          <a:xfrm>
            <a:off x="3913632" y="2286000"/>
            <a:ext cx="832104" cy="457200"/>
          </a:xfrm>
          <a:prstGeom prst="rect">
            <a:avLst/>
          </a:prstGeom>
          <a:noFill/>
          <a:ln/>
        </p:spPr>
        <p:txBody>
          <a:bodyPr wrap="square" lIns="0" tIns="0" rIns="0" bIns="0" rtlCol="0" anchor="ctr"/>
          <a:lstStyle/>
          <a:p>
            <a:pPr algn="ctr" indent="0" marL="0">
              <a:buNone/>
            </a:pPr>
            <a:r>
              <a:rPr lang="en-US" sz="1050" b="1" dirty="0">
                <a:solidFill>
                  <a:srgbClr val="45356B"/>
                </a:solidFill>
                <a:latin typeface="BIZ UDPゴシック" pitchFamily="34" charset="0"/>
                <a:ea typeface="BIZ UDPゴシック" pitchFamily="34" charset="-122"/>
                <a:cs typeface="BIZ UDPゴシック" pitchFamily="34" charset="-120"/>
              </a:rPr>
              <a:t>テスト</a:t>
            </a:r>
            <a:endParaRPr lang="en-US" sz="1050" dirty="0"/>
          </a:p>
        </p:txBody>
      </p:sp>
      <p:sp>
        <p:nvSpPr>
          <p:cNvPr id="22" name="Shape 19"/>
          <p:cNvSpPr/>
          <p:nvPr/>
        </p:nvSpPr>
        <p:spPr>
          <a:xfrm>
            <a:off x="4791456" y="2286000"/>
            <a:ext cx="1060704" cy="457200"/>
          </a:xfrm>
          <a:prstGeom prst="chevron">
            <a:avLst/>
          </a:prstGeom>
          <a:solidFill>
            <a:srgbClr val="FFFFFF"/>
          </a:solidFill>
          <a:ln w="12700">
            <a:solidFill>
              <a:srgbClr val="45356B"/>
            </a:solidFill>
            <a:prstDash val="solid"/>
          </a:ln>
        </p:spPr>
      </p:sp>
      <p:sp>
        <p:nvSpPr>
          <p:cNvPr id="23" name="Text 20"/>
          <p:cNvSpPr/>
          <p:nvPr/>
        </p:nvSpPr>
        <p:spPr>
          <a:xfrm>
            <a:off x="4928616" y="2286000"/>
            <a:ext cx="832104" cy="457200"/>
          </a:xfrm>
          <a:prstGeom prst="rect">
            <a:avLst/>
          </a:prstGeom>
          <a:noFill/>
          <a:ln/>
        </p:spPr>
        <p:txBody>
          <a:bodyPr wrap="square" lIns="0" tIns="0" rIns="0" bIns="0" rtlCol="0" anchor="ctr"/>
          <a:lstStyle/>
          <a:p>
            <a:pPr algn="ctr" indent="0" marL="0">
              <a:buNone/>
            </a:pPr>
            <a:r>
              <a:rPr lang="en-US" sz="1050" b="1" dirty="0">
                <a:solidFill>
                  <a:srgbClr val="45356B"/>
                </a:solidFill>
                <a:latin typeface="BIZ UDPゴシック" pitchFamily="34" charset="0"/>
                <a:ea typeface="BIZ UDPゴシック" pitchFamily="34" charset="-122"/>
                <a:cs typeface="BIZ UDPゴシック" pitchFamily="34" charset="-120"/>
              </a:rPr>
              <a:t>デプロイ</a:t>
            </a:r>
            <a:endParaRPr lang="en-US" sz="1050" dirty="0"/>
          </a:p>
        </p:txBody>
      </p:sp>
      <p:sp>
        <p:nvSpPr>
          <p:cNvPr id="24" name="Shape 21"/>
          <p:cNvSpPr/>
          <p:nvPr/>
        </p:nvSpPr>
        <p:spPr>
          <a:xfrm>
            <a:off x="731520" y="2971800"/>
            <a:ext cx="5074920" cy="1371600"/>
          </a:xfrm>
          <a:prstGeom prst="roundRect">
            <a:avLst>
              <a:gd name="adj" fmla="val 5333"/>
            </a:avLst>
          </a:prstGeom>
          <a:solidFill>
            <a:srgbClr val="ECE7F5"/>
          </a:solidFill>
          <a:ln/>
        </p:spPr>
      </p:sp>
      <p:sp>
        <p:nvSpPr>
          <p:cNvPr id="25" name="Shape 22"/>
          <p:cNvSpPr/>
          <p:nvPr/>
        </p:nvSpPr>
        <p:spPr>
          <a:xfrm>
            <a:off x="896112" y="3154680"/>
            <a:ext cx="457200" cy="457200"/>
          </a:xfrm>
          <a:prstGeom prst="ellipse">
            <a:avLst/>
          </a:prstGeom>
          <a:solidFill>
            <a:srgbClr val="45356B"/>
          </a:solidFill>
          <a:ln/>
        </p:spPr>
      </p:sp>
      <p:sp>
        <p:nvSpPr>
          <p:cNvPr id="26" name="Text 23"/>
          <p:cNvSpPr/>
          <p:nvPr/>
        </p:nvSpPr>
        <p:spPr>
          <a:xfrm>
            <a:off x="896112" y="3154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1</a:t>
            </a:r>
            <a:endParaRPr lang="en-US" sz="1500" dirty="0"/>
          </a:p>
        </p:txBody>
      </p:sp>
      <p:sp>
        <p:nvSpPr>
          <p:cNvPr id="27" name="Text 24"/>
          <p:cNvSpPr/>
          <p:nvPr/>
        </p:nvSpPr>
        <p:spPr>
          <a:xfrm>
            <a:off x="1508760" y="3127248"/>
            <a:ext cx="4160520" cy="502920"/>
          </a:xfrm>
          <a:prstGeom prst="rect">
            <a:avLst/>
          </a:prstGeom>
          <a:noFill/>
          <a:ln/>
        </p:spPr>
        <p:txBody>
          <a:bodyPr wrap="square" lIns="0" tIns="0" rIns="0" bIns="0" rtlCol="0" anchor="ctr"/>
          <a:lstStyle/>
          <a:p>
            <a:pPr indent="0" marL="0">
              <a:buNone/>
            </a:pPr>
            <a:r>
              <a:rPr lang="en-US" sz="1700" b="1" dirty="0">
                <a:solidFill>
                  <a:srgbClr val="45356B"/>
                </a:solidFill>
                <a:latin typeface="BIZ UDPゴシック" pitchFamily="34" charset="0"/>
                <a:ea typeface="BIZ UDPゴシック" pitchFamily="34" charset="-122"/>
                <a:cs typeface="BIZ UDPゴシック" pitchFamily="34" charset="-120"/>
              </a:rPr>
              <a:t>AWS での環境構築</a:t>
            </a:r>
            <a:endParaRPr lang="en-US" sz="1700" dirty="0"/>
          </a:p>
        </p:txBody>
      </p:sp>
      <p:sp>
        <p:nvSpPr>
          <p:cNvPr id="28" name="Text 25"/>
          <p:cNvSpPr/>
          <p:nvPr/>
        </p:nvSpPr>
        <p:spPr>
          <a:xfrm>
            <a:off x="1508760" y="3657600"/>
            <a:ext cx="4160520" cy="640080"/>
          </a:xfrm>
          <a:prstGeom prst="rect">
            <a:avLst/>
          </a:prstGeom>
          <a:noFill/>
          <a:ln/>
        </p:spPr>
        <p:txBody>
          <a:bodyPr wrap="square" lIns="0" tIns="0" rIns="0" bIns="0" rtlCol="0" anchor="t"/>
          <a:lstStyle/>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CDK でインフラをコードにし、開発環境と本番環境を自分たちで作って動かした</a:t>
            </a:r>
            <a:endParaRPr lang="en-US" sz="1250" dirty="0"/>
          </a:p>
        </p:txBody>
      </p:sp>
      <p:sp>
        <p:nvSpPr>
          <p:cNvPr id="29" name="Shape 26"/>
          <p:cNvSpPr/>
          <p:nvPr/>
        </p:nvSpPr>
        <p:spPr>
          <a:xfrm>
            <a:off x="731520" y="4526280"/>
            <a:ext cx="5074920" cy="1371600"/>
          </a:xfrm>
          <a:prstGeom prst="roundRect">
            <a:avLst>
              <a:gd name="adj" fmla="val 5333"/>
            </a:avLst>
          </a:prstGeom>
          <a:solidFill>
            <a:srgbClr val="ECE7F5"/>
          </a:solidFill>
          <a:ln/>
        </p:spPr>
      </p:sp>
      <p:sp>
        <p:nvSpPr>
          <p:cNvPr id="30" name="Shape 27"/>
          <p:cNvSpPr/>
          <p:nvPr/>
        </p:nvSpPr>
        <p:spPr>
          <a:xfrm>
            <a:off x="896112" y="4709160"/>
            <a:ext cx="457200" cy="457200"/>
          </a:xfrm>
          <a:prstGeom prst="ellipse">
            <a:avLst/>
          </a:prstGeom>
          <a:solidFill>
            <a:srgbClr val="45356B"/>
          </a:solidFill>
          <a:ln/>
        </p:spPr>
      </p:sp>
      <p:sp>
        <p:nvSpPr>
          <p:cNvPr id="31" name="Text 28"/>
          <p:cNvSpPr/>
          <p:nvPr/>
        </p:nvSpPr>
        <p:spPr>
          <a:xfrm>
            <a:off x="896112" y="4709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2</a:t>
            </a:r>
            <a:endParaRPr lang="en-US" sz="1500" dirty="0"/>
          </a:p>
        </p:txBody>
      </p:sp>
      <p:sp>
        <p:nvSpPr>
          <p:cNvPr id="32" name="Text 29"/>
          <p:cNvSpPr/>
          <p:nvPr/>
        </p:nvSpPr>
        <p:spPr>
          <a:xfrm>
            <a:off x="1508760" y="4681728"/>
            <a:ext cx="4160520" cy="502920"/>
          </a:xfrm>
          <a:prstGeom prst="rect">
            <a:avLst/>
          </a:prstGeom>
          <a:noFill/>
          <a:ln/>
        </p:spPr>
        <p:txBody>
          <a:bodyPr wrap="square" lIns="0" tIns="0" rIns="0" bIns="0" rtlCol="0" anchor="ctr"/>
          <a:lstStyle/>
          <a:p>
            <a:pPr indent="0" marL="0">
              <a:buNone/>
            </a:pPr>
            <a:r>
              <a:rPr lang="en-US" sz="1700" b="1" dirty="0">
                <a:solidFill>
                  <a:srgbClr val="45356B"/>
                </a:solidFill>
                <a:latin typeface="BIZ UDPゴシック" pitchFamily="34" charset="0"/>
                <a:ea typeface="BIZ UDPゴシック" pitchFamily="34" charset="-122"/>
                <a:cs typeface="BIZ UDPゴシック" pitchFamily="34" charset="-120"/>
              </a:rPr>
              <a:t>GitHub を使用した PG 管理</a:t>
            </a:r>
            <a:endParaRPr lang="en-US" sz="1700" dirty="0"/>
          </a:p>
        </p:txBody>
      </p:sp>
      <p:sp>
        <p:nvSpPr>
          <p:cNvPr id="33" name="Text 30"/>
          <p:cNvSpPr/>
          <p:nvPr/>
        </p:nvSpPr>
        <p:spPr>
          <a:xfrm>
            <a:off x="1508760" y="5212080"/>
            <a:ext cx="4160520" cy="640080"/>
          </a:xfrm>
          <a:prstGeom prst="rect">
            <a:avLst/>
          </a:prstGeom>
          <a:noFill/>
          <a:ln/>
        </p:spPr>
        <p:txBody>
          <a:bodyPr wrap="square" lIns="0" tIns="0" rIns="0" bIns="0" rtlCol="0" anchor="t"/>
          <a:lstStyle/>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ブランチ・PRレビュー・自動デプロイで、6人の変更を安全に1つにまとめた</a:t>
            </a:r>
            <a:endParaRPr lang="en-US" sz="1250" dirty="0"/>
          </a:p>
        </p:txBody>
      </p:sp>
      <p:sp>
        <p:nvSpPr>
          <p:cNvPr id="34" name="Shape 31"/>
          <p:cNvSpPr/>
          <p:nvPr/>
        </p:nvSpPr>
        <p:spPr>
          <a:xfrm>
            <a:off x="6199632" y="1463040"/>
            <a:ext cx="5440680" cy="4709160"/>
          </a:xfrm>
          <a:prstGeom prst="roundRect">
            <a:avLst>
              <a:gd name="adj" fmla="val 1553"/>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35" name="Shape 32"/>
          <p:cNvSpPr/>
          <p:nvPr/>
        </p:nvSpPr>
        <p:spPr>
          <a:xfrm>
            <a:off x="6199632" y="1463040"/>
            <a:ext cx="5440680" cy="640080"/>
          </a:xfrm>
          <a:prstGeom prst="rect">
            <a:avLst/>
          </a:prstGeom>
          <a:solidFill>
            <a:srgbClr val="3F7A5C"/>
          </a:solidFill>
          <a:ln/>
        </p:spPr>
      </p:sp>
      <p:sp>
        <p:nvSpPr>
          <p:cNvPr id="36" name="Text 33"/>
          <p:cNvSpPr/>
          <p:nvPr/>
        </p:nvSpPr>
        <p:spPr>
          <a:xfrm>
            <a:off x="6199632" y="1463040"/>
            <a:ext cx="54406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BIZ UDPゴシック" pitchFamily="34" charset="0"/>
                <a:ea typeface="BIZ UDPゴシック" pitchFamily="34" charset="-122"/>
                <a:cs typeface="BIZ UDPゴシック" pitchFamily="34" charset="-120"/>
              </a:rPr>
              <a:t>アジャイル開発でのチーム運営</a:t>
            </a:r>
            <a:endParaRPr lang="en-US" sz="1900" dirty="0"/>
          </a:p>
        </p:txBody>
      </p:sp>
      <p:sp>
        <p:nvSpPr>
          <p:cNvPr id="37" name="Shape 34"/>
          <p:cNvSpPr/>
          <p:nvPr/>
        </p:nvSpPr>
        <p:spPr>
          <a:xfrm>
            <a:off x="6382512" y="2286000"/>
            <a:ext cx="1314450" cy="457200"/>
          </a:xfrm>
          <a:prstGeom prst="homePlate">
            <a:avLst/>
          </a:prstGeom>
          <a:solidFill>
            <a:srgbClr val="FFFFFF"/>
          </a:solidFill>
          <a:ln w="12700">
            <a:solidFill>
              <a:srgbClr val="3F7A5C"/>
            </a:solidFill>
            <a:prstDash val="solid"/>
          </a:ln>
        </p:spPr>
      </p:sp>
      <p:sp>
        <p:nvSpPr>
          <p:cNvPr id="38" name="Text 35"/>
          <p:cNvSpPr/>
          <p:nvPr/>
        </p:nvSpPr>
        <p:spPr>
          <a:xfrm>
            <a:off x="6400800" y="2286000"/>
            <a:ext cx="1085850" cy="457200"/>
          </a:xfrm>
          <a:prstGeom prst="rect">
            <a:avLst/>
          </a:prstGeom>
          <a:noFill/>
          <a:ln/>
        </p:spPr>
        <p:txBody>
          <a:bodyPr wrap="square" lIns="0" tIns="0" rIns="0" bIns="0" rtlCol="0" anchor="ctr"/>
          <a:lstStyle/>
          <a:p>
            <a:pPr algn="ctr" indent="0" marL="0">
              <a:buNone/>
            </a:pPr>
            <a:r>
              <a:rPr lang="en-US" sz="1050" b="1" dirty="0">
                <a:solidFill>
                  <a:srgbClr val="3F7A5C"/>
                </a:solidFill>
                <a:latin typeface="BIZ UDPゴシック" pitchFamily="34" charset="0"/>
                <a:ea typeface="BIZ UDPゴシック" pitchFamily="34" charset="-122"/>
                <a:cs typeface="BIZ UDPゴシック" pitchFamily="34" charset="-120"/>
              </a:rPr>
              <a:t>計画</a:t>
            </a:r>
            <a:endParaRPr lang="en-US" sz="1050" dirty="0"/>
          </a:p>
        </p:txBody>
      </p:sp>
      <p:sp>
        <p:nvSpPr>
          <p:cNvPr id="39" name="Shape 36"/>
          <p:cNvSpPr/>
          <p:nvPr/>
        </p:nvSpPr>
        <p:spPr>
          <a:xfrm>
            <a:off x="7651242" y="2286000"/>
            <a:ext cx="1314450" cy="457200"/>
          </a:xfrm>
          <a:prstGeom prst="chevron">
            <a:avLst/>
          </a:prstGeom>
          <a:solidFill>
            <a:srgbClr val="E4EFE8"/>
          </a:solidFill>
          <a:ln w="12700">
            <a:solidFill>
              <a:srgbClr val="3F7A5C"/>
            </a:solidFill>
            <a:prstDash val="solid"/>
          </a:ln>
        </p:spPr>
      </p:sp>
      <p:sp>
        <p:nvSpPr>
          <p:cNvPr id="40" name="Text 37"/>
          <p:cNvSpPr/>
          <p:nvPr/>
        </p:nvSpPr>
        <p:spPr>
          <a:xfrm>
            <a:off x="7788402" y="2286000"/>
            <a:ext cx="1085850" cy="457200"/>
          </a:xfrm>
          <a:prstGeom prst="rect">
            <a:avLst/>
          </a:prstGeom>
          <a:noFill/>
          <a:ln/>
        </p:spPr>
        <p:txBody>
          <a:bodyPr wrap="square" lIns="0" tIns="0" rIns="0" bIns="0" rtlCol="0" anchor="ctr"/>
          <a:lstStyle/>
          <a:p>
            <a:pPr algn="ctr" indent="0" marL="0">
              <a:buNone/>
            </a:pPr>
            <a:r>
              <a:rPr lang="en-US" sz="1050" b="1" dirty="0">
                <a:solidFill>
                  <a:srgbClr val="3F7A5C"/>
                </a:solidFill>
                <a:latin typeface="BIZ UDPゴシック" pitchFamily="34" charset="0"/>
                <a:ea typeface="BIZ UDPゴシック" pitchFamily="34" charset="-122"/>
                <a:cs typeface="BIZ UDPゴシック" pitchFamily="34" charset="-120"/>
              </a:rPr>
              <a:t>開発</a:t>
            </a:r>
            <a:endParaRPr lang="en-US" sz="1050" dirty="0"/>
          </a:p>
        </p:txBody>
      </p:sp>
      <p:sp>
        <p:nvSpPr>
          <p:cNvPr id="41" name="Shape 38"/>
          <p:cNvSpPr/>
          <p:nvPr/>
        </p:nvSpPr>
        <p:spPr>
          <a:xfrm>
            <a:off x="8919972" y="2286000"/>
            <a:ext cx="1314450" cy="457200"/>
          </a:xfrm>
          <a:prstGeom prst="chevron">
            <a:avLst/>
          </a:prstGeom>
          <a:solidFill>
            <a:srgbClr val="FFFFFF"/>
          </a:solidFill>
          <a:ln w="12700">
            <a:solidFill>
              <a:srgbClr val="3F7A5C"/>
            </a:solidFill>
            <a:prstDash val="solid"/>
          </a:ln>
        </p:spPr>
      </p:sp>
      <p:sp>
        <p:nvSpPr>
          <p:cNvPr id="42" name="Text 39"/>
          <p:cNvSpPr/>
          <p:nvPr/>
        </p:nvSpPr>
        <p:spPr>
          <a:xfrm>
            <a:off x="9057132" y="2286000"/>
            <a:ext cx="1085850" cy="457200"/>
          </a:xfrm>
          <a:prstGeom prst="rect">
            <a:avLst/>
          </a:prstGeom>
          <a:noFill/>
          <a:ln/>
        </p:spPr>
        <p:txBody>
          <a:bodyPr wrap="square" lIns="0" tIns="0" rIns="0" bIns="0" rtlCol="0" anchor="ctr"/>
          <a:lstStyle/>
          <a:p>
            <a:pPr algn="ctr" indent="0" marL="0">
              <a:buNone/>
            </a:pPr>
            <a:r>
              <a:rPr lang="en-US" sz="1050" b="1" dirty="0">
                <a:solidFill>
                  <a:srgbClr val="3F7A5C"/>
                </a:solidFill>
                <a:latin typeface="BIZ UDPゴシック" pitchFamily="34" charset="0"/>
                <a:ea typeface="BIZ UDPゴシック" pitchFamily="34" charset="-122"/>
                <a:cs typeface="BIZ UDPゴシック" pitchFamily="34" charset="-120"/>
              </a:rPr>
              <a:t>レビュー</a:t>
            </a:r>
            <a:endParaRPr lang="en-US" sz="1050" dirty="0"/>
          </a:p>
        </p:txBody>
      </p:sp>
      <p:sp>
        <p:nvSpPr>
          <p:cNvPr id="43" name="Shape 40"/>
          <p:cNvSpPr/>
          <p:nvPr/>
        </p:nvSpPr>
        <p:spPr>
          <a:xfrm>
            <a:off x="10188702" y="2286000"/>
            <a:ext cx="1314450" cy="457200"/>
          </a:xfrm>
          <a:prstGeom prst="chevron">
            <a:avLst/>
          </a:prstGeom>
          <a:solidFill>
            <a:srgbClr val="E4EFE8"/>
          </a:solidFill>
          <a:ln w="12700">
            <a:solidFill>
              <a:srgbClr val="3F7A5C"/>
            </a:solidFill>
            <a:prstDash val="solid"/>
          </a:ln>
        </p:spPr>
      </p:sp>
      <p:sp>
        <p:nvSpPr>
          <p:cNvPr id="44" name="Text 41"/>
          <p:cNvSpPr/>
          <p:nvPr/>
        </p:nvSpPr>
        <p:spPr>
          <a:xfrm>
            <a:off x="10325862" y="2286000"/>
            <a:ext cx="1085850" cy="457200"/>
          </a:xfrm>
          <a:prstGeom prst="rect">
            <a:avLst/>
          </a:prstGeom>
          <a:noFill/>
          <a:ln/>
        </p:spPr>
        <p:txBody>
          <a:bodyPr wrap="square" lIns="0" tIns="0" rIns="0" bIns="0" rtlCol="0" anchor="ctr"/>
          <a:lstStyle/>
          <a:p>
            <a:pPr algn="ctr" indent="0" marL="0">
              <a:buNone/>
            </a:pPr>
            <a:r>
              <a:rPr lang="en-US" sz="1050" b="1" dirty="0">
                <a:solidFill>
                  <a:srgbClr val="3F7A5C"/>
                </a:solidFill>
                <a:latin typeface="BIZ UDPゴシック" pitchFamily="34" charset="0"/>
                <a:ea typeface="BIZ UDPゴシック" pitchFamily="34" charset="-122"/>
                <a:cs typeface="BIZ UDPゴシック" pitchFamily="34" charset="-120"/>
              </a:rPr>
              <a:t>ふりかえり</a:t>
            </a:r>
            <a:endParaRPr lang="en-US" sz="1050" dirty="0"/>
          </a:p>
        </p:txBody>
      </p:sp>
      <p:sp>
        <p:nvSpPr>
          <p:cNvPr id="45" name="Shape 42"/>
          <p:cNvSpPr/>
          <p:nvPr/>
        </p:nvSpPr>
        <p:spPr>
          <a:xfrm>
            <a:off x="6382512" y="2971800"/>
            <a:ext cx="5074920" cy="1371600"/>
          </a:xfrm>
          <a:prstGeom prst="roundRect">
            <a:avLst>
              <a:gd name="adj" fmla="val 5333"/>
            </a:avLst>
          </a:prstGeom>
          <a:solidFill>
            <a:srgbClr val="E4EFE8"/>
          </a:solidFill>
          <a:ln/>
        </p:spPr>
      </p:sp>
      <p:sp>
        <p:nvSpPr>
          <p:cNvPr id="46" name="Shape 43"/>
          <p:cNvSpPr/>
          <p:nvPr/>
        </p:nvSpPr>
        <p:spPr>
          <a:xfrm>
            <a:off x="6547104" y="3154680"/>
            <a:ext cx="457200" cy="457200"/>
          </a:xfrm>
          <a:prstGeom prst="ellipse">
            <a:avLst/>
          </a:prstGeom>
          <a:solidFill>
            <a:srgbClr val="3F7A5C"/>
          </a:solidFill>
          <a:ln/>
        </p:spPr>
      </p:sp>
      <p:sp>
        <p:nvSpPr>
          <p:cNvPr id="47" name="Text 44"/>
          <p:cNvSpPr/>
          <p:nvPr/>
        </p:nvSpPr>
        <p:spPr>
          <a:xfrm>
            <a:off x="6547104" y="3154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1</a:t>
            </a:r>
            <a:endParaRPr lang="en-US" sz="1500" dirty="0"/>
          </a:p>
        </p:txBody>
      </p:sp>
      <p:sp>
        <p:nvSpPr>
          <p:cNvPr id="48" name="Text 45"/>
          <p:cNvSpPr/>
          <p:nvPr/>
        </p:nvSpPr>
        <p:spPr>
          <a:xfrm>
            <a:off x="7159752" y="3127248"/>
            <a:ext cx="4160520" cy="502920"/>
          </a:xfrm>
          <a:prstGeom prst="rect">
            <a:avLst/>
          </a:prstGeom>
          <a:noFill/>
          <a:ln/>
        </p:spPr>
        <p:txBody>
          <a:bodyPr wrap="square" lIns="0" tIns="0" rIns="0" bIns="0" rtlCol="0" anchor="ctr"/>
          <a:lstStyle/>
          <a:p>
            <a:pPr indent="0" marL="0">
              <a:buNone/>
            </a:pPr>
            <a:r>
              <a:rPr lang="en-US" sz="1700" b="1" dirty="0">
                <a:solidFill>
                  <a:srgbClr val="3F7A5C"/>
                </a:solidFill>
                <a:latin typeface="BIZ UDPゴシック" pitchFamily="34" charset="0"/>
                <a:ea typeface="BIZ UDPゴシック" pitchFamily="34" charset="-122"/>
                <a:cs typeface="BIZ UDPゴシック" pitchFamily="34" charset="-120"/>
              </a:rPr>
              <a:t>チームとしての認識合わせ</a:t>
            </a:r>
            <a:endParaRPr lang="en-US" sz="1700" dirty="0"/>
          </a:p>
        </p:txBody>
      </p:sp>
      <p:sp>
        <p:nvSpPr>
          <p:cNvPr id="49" name="Text 46"/>
          <p:cNvSpPr/>
          <p:nvPr/>
        </p:nvSpPr>
        <p:spPr>
          <a:xfrm>
            <a:off x="7159752" y="3657600"/>
            <a:ext cx="4160520" cy="640080"/>
          </a:xfrm>
          <a:prstGeom prst="rect">
            <a:avLst/>
          </a:prstGeom>
          <a:noFill/>
          <a:ln/>
        </p:spPr>
        <p:txBody>
          <a:bodyPr wrap="square" lIns="0" tIns="0" rIns="0" bIns="0" rtlCol="0" anchor="t"/>
          <a:lstStyle/>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前提条件や用語をそろえると、会話もAIへの指示もぶれなくなる</a:t>
            </a:r>
            <a:endParaRPr lang="en-US" sz="1250" dirty="0"/>
          </a:p>
        </p:txBody>
      </p:sp>
      <p:sp>
        <p:nvSpPr>
          <p:cNvPr id="50" name="Shape 47"/>
          <p:cNvSpPr/>
          <p:nvPr/>
        </p:nvSpPr>
        <p:spPr>
          <a:xfrm>
            <a:off x="6382512" y="4526280"/>
            <a:ext cx="5074920" cy="1371600"/>
          </a:xfrm>
          <a:prstGeom prst="roundRect">
            <a:avLst>
              <a:gd name="adj" fmla="val 5333"/>
            </a:avLst>
          </a:prstGeom>
          <a:solidFill>
            <a:srgbClr val="E4EFE8"/>
          </a:solidFill>
          <a:ln/>
        </p:spPr>
      </p:sp>
      <p:sp>
        <p:nvSpPr>
          <p:cNvPr id="51" name="Shape 48"/>
          <p:cNvSpPr/>
          <p:nvPr/>
        </p:nvSpPr>
        <p:spPr>
          <a:xfrm>
            <a:off x="6547104" y="4709160"/>
            <a:ext cx="457200" cy="457200"/>
          </a:xfrm>
          <a:prstGeom prst="ellipse">
            <a:avLst/>
          </a:prstGeom>
          <a:solidFill>
            <a:srgbClr val="3F7A5C"/>
          </a:solidFill>
          <a:ln/>
        </p:spPr>
      </p:sp>
      <p:sp>
        <p:nvSpPr>
          <p:cNvPr id="52" name="Text 49"/>
          <p:cNvSpPr/>
          <p:nvPr/>
        </p:nvSpPr>
        <p:spPr>
          <a:xfrm>
            <a:off x="6547104" y="4709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2</a:t>
            </a:r>
            <a:endParaRPr lang="en-US" sz="1500" dirty="0"/>
          </a:p>
        </p:txBody>
      </p:sp>
      <p:sp>
        <p:nvSpPr>
          <p:cNvPr id="53" name="Text 50"/>
          <p:cNvSpPr/>
          <p:nvPr/>
        </p:nvSpPr>
        <p:spPr>
          <a:xfrm>
            <a:off x="7159752" y="4681728"/>
            <a:ext cx="4160520" cy="502920"/>
          </a:xfrm>
          <a:prstGeom prst="rect">
            <a:avLst/>
          </a:prstGeom>
          <a:noFill/>
          <a:ln/>
        </p:spPr>
        <p:txBody>
          <a:bodyPr wrap="square" lIns="0" tIns="0" rIns="0" bIns="0" rtlCol="0" anchor="ctr"/>
          <a:lstStyle/>
          <a:p>
            <a:pPr indent="0" marL="0">
              <a:buNone/>
            </a:pPr>
            <a:r>
              <a:rPr lang="en-US" sz="1700" b="1" dirty="0">
                <a:solidFill>
                  <a:srgbClr val="3F7A5C"/>
                </a:solidFill>
                <a:latin typeface="BIZ UDPゴシック" pitchFamily="34" charset="0"/>
                <a:ea typeface="BIZ UDPゴシック" pitchFamily="34" charset="-122"/>
                <a:cs typeface="BIZ UDPゴシック" pitchFamily="34" charset="-120"/>
              </a:rPr>
              <a:t>ゴールの重要性</a:t>
            </a:r>
            <a:endParaRPr lang="en-US" sz="1700" dirty="0"/>
          </a:p>
        </p:txBody>
      </p:sp>
      <p:sp>
        <p:nvSpPr>
          <p:cNvPr id="54" name="Text 51"/>
          <p:cNvSpPr/>
          <p:nvPr/>
        </p:nvSpPr>
        <p:spPr>
          <a:xfrm>
            <a:off x="7159752" y="5212080"/>
            <a:ext cx="4160520" cy="640080"/>
          </a:xfrm>
          <a:prstGeom prst="rect">
            <a:avLst/>
          </a:prstGeom>
          <a:noFill/>
          <a:ln/>
        </p:spPr>
        <p:txBody>
          <a:bodyPr wrap="square" lIns="0" tIns="0" rIns="0" bIns="0" rtlCol="0" anchor="t"/>
          <a:lstStyle/>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ゴールがはっきりしていると、何を優先し何を後回しにするか決められる</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4E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5356B"/>
          </a:solidFill>
          <a:ln/>
        </p:spPr>
      </p:sp>
      <p:sp>
        <p:nvSpPr>
          <p:cNvPr id="3" name="Shape 1"/>
          <p:cNvSpPr/>
          <p:nvPr/>
        </p:nvSpPr>
        <p:spPr>
          <a:xfrm>
            <a:off x="0" y="73152"/>
            <a:ext cx="12191695" cy="27432"/>
          </a:xfrm>
          <a:prstGeom prst="rect">
            <a:avLst/>
          </a:prstGeom>
          <a:solidFill>
            <a:srgbClr val="B8862B"/>
          </a:solidFill>
          <a:ln/>
        </p:spPr>
      </p:sp>
      <p:sp>
        <p:nvSpPr>
          <p:cNvPr id="4" name="Text 2"/>
          <p:cNvSpPr/>
          <p:nvPr/>
        </p:nvSpPr>
        <p:spPr>
          <a:xfrm>
            <a:off x="548640" y="274320"/>
            <a:ext cx="8229600" cy="256032"/>
          </a:xfrm>
          <a:prstGeom prst="rect">
            <a:avLst/>
          </a:prstGeom>
          <a:noFill/>
          <a:ln/>
        </p:spPr>
        <p:txBody>
          <a:bodyPr wrap="square" lIns="0" tIns="0" rIns="0" bIns="0" rtlCol="0" anchor="t"/>
          <a:lstStyle/>
          <a:p>
            <a:pPr indent="0" marL="0">
              <a:buNone/>
            </a:pPr>
            <a:r>
              <a:rPr lang="en-US" sz="1100" b="1" spc="100" kern="0" dirty="0">
                <a:solidFill>
                  <a:srgbClr val="B8862B"/>
                </a:solidFill>
                <a:latin typeface="BIZ UDPゴシック" pitchFamily="34" charset="0"/>
                <a:ea typeface="BIZ UDPゴシック" pitchFamily="34" charset="-122"/>
                <a:cs typeface="BIZ UDPゴシック" pitchFamily="34" charset="-120"/>
              </a:rPr>
              <a:t>03 NEXT</a:t>
            </a:r>
            <a:endParaRPr lang="en-US" sz="1100" dirty="0"/>
          </a:p>
        </p:txBody>
      </p:sp>
      <p:sp>
        <p:nvSpPr>
          <p:cNvPr id="5" name="Text 3"/>
          <p:cNvSpPr/>
          <p:nvPr/>
        </p:nvSpPr>
        <p:spPr>
          <a:xfrm>
            <a:off x="548640" y="512064"/>
            <a:ext cx="11064240" cy="603504"/>
          </a:xfrm>
          <a:prstGeom prst="rect">
            <a:avLst/>
          </a:prstGeom>
          <a:noFill/>
          <a:ln/>
        </p:spPr>
        <p:txBody>
          <a:bodyPr wrap="square" lIns="0" tIns="0" rIns="0" bIns="0" rtlCol="0" anchor="ctr"/>
          <a:lstStyle/>
          <a:p>
            <a:pPr indent="0" marL="0">
              <a:buNone/>
            </a:pPr>
            <a:r>
              <a:rPr lang="en-US" sz="2600" b="1" dirty="0">
                <a:solidFill>
                  <a:srgbClr val="45356B"/>
                </a:solidFill>
                <a:latin typeface="BIZ UDPゴシック" pitchFamily="34" charset="0"/>
                <a:ea typeface="BIZ UDPゴシック" pitchFamily="34" charset="-122"/>
                <a:cs typeface="BIZ UDPゴシック" pitchFamily="34" charset="-120"/>
              </a:rPr>
              <a:t>今後の業務に生かしたいこと</a:t>
            </a:r>
            <a:endParaRPr lang="en-US" sz="2600" dirty="0"/>
          </a:p>
        </p:txBody>
      </p:sp>
      <p:sp>
        <p:nvSpPr>
          <p:cNvPr id="6" name="Shape 4"/>
          <p:cNvSpPr/>
          <p:nvPr/>
        </p:nvSpPr>
        <p:spPr>
          <a:xfrm>
            <a:off x="548640" y="1133856"/>
            <a:ext cx="822960" cy="54864"/>
          </a:xfrm>
          <a:prstGeom prst="rect">
            <a:avLst/>
          </a:prstGeom>
          <a:solidFill>
            <a:srgbClr val="B8862B"/>
          </a:solidFill>
          <a:ln/>
        </p:spPr>
      </p:sp>
      <p:sp>
        <p:nvSpPr>
          <p:cNvPr id="7" name="Shape 5"/>
          <p:cNvSpPr/>
          <p:nvPr/>
        </p:nvSpPr>
        <p:spPr>
          <a:xfrm>
            <a:off x="548640" y="6400800"/>
            <a:ext cx="11091672" cy="0"/>
          </a:xfrm>
          <a:prstGeom prst="line">
            <a:avLst/>
          </a:prstGeom>
          <a:noFill/>
          <a:ln w="12700">
            <a:solidFill>
              <a:srgbClr val="DCC48A"/>
            </a:solidFill>
            <a:prstDash val="solid"/>
          </a:ln>
        </p:spPr>
      </p:sp>
      <p:sp>
        <p:nvSpPr>
          <p:cNvPr id="8" name="Text 6"/>
          <p:cNvSpPr/>
          <p:nvPr/>
        </p:nvSpPr>
        <p:spPr>
          <a:xfrm>
            <a:off x="548640" y="6464808"/>
            <a:ext cx="7315200" cy="256032"/>
          </a:xfrm>
          <a:prstGeom prst="rect">
            <a:avLst/>
          </a:prstGeom>
          <a:noFill/>
          <a:ln/>
        </p:spPr>
        <p:txBody>
          <a:bodyPr wrap="square" lIns="0" tIns="0" rIns="0" bIns="0" rtlCol="0" anchor="t"/>
          <a:lstStyle/>
          <a:p>
            <a:pPr indent="0" marL="0">
              <a:buNone/>
            </a:pPr>
            <a:r>
              <a:rPr lang="en-US" sz="900" dirty="0">
                <a:solidFill>
                  <a:srgbClr val="6B5B46"/>
                </a:solidFill>
                <a:latin typeface="BIZ UDPゴシック" pitchFamily="34" charset="0"/>
                <a:ea typeface="BIZ UDPゴシック" pitchFamily="34" charset="-122"/>
                <a:cs typeface="BIZ UDPゴシック" pitchFamily="34" charset="-120"/>
              </a:rPr>
              <a:t>ミチシル ｜ 03 学びと展開</a:t>
            </a:r>
            <a:endParaRPr lang="en-US" sz="900" dirty="0"/>
          </a:p>
        </p:txBody>
      </p:sp>
      <p:sp>
        <p:nvSpPr>
          <p:cNvPr id="9" name="Text 7"/>
          <p:cNvSpPr/>
          <p:nvPr/>
        </p:nvSpPr>
        <p:spPr>
          <a:xfrm>
            <a:off x="11091672" y="6464808"/>
            <a:ext cx="548640" cy="256032"/>
          </a:xfrm>
          <a:prstGeom prst="rect">
            <a:avLst/>
          </a:prstGeom>
          <a:noFill/>
          <a:ln/>
        </p:spPr>
        <p:txBody>
          <a:bodyPr wrap="square" lIns="0" tIns="0" rIns="0" bIns="0" rtlCol="0" anchor="t"/>
          <a:lstStyle/>
          <a:p>
            <a:pPr algn="r" indent="0" marL="0">
              <a:buNone/>
            </a:pPr>
            <a:r>
              <a:rPr lang="en-US" sz="900" dirty="0">
                <a:solidFill>
                  <a:srgbClr val="6B5B46"/>
                </a:solidFill>
                <a:latin typeface="BIZ UDPゴシック" pitchFamily="34" charset="0"/>
                <a:ea typeface="BIZ UDPゴシック" pitchFamily="34" charset="-122"/>
                <a:cs typeface="BIZ UDPゴシック" pitchFamily="34" charset="-120"/>
              </a:rPr>
              <a:t>24</a:t>
            </a:r>
            <a:endParaRPr lang="en-US" sz="900" dirty="0"/>
          </a:p>
        </p:txBody>
      </p:sp>
      <p:sp>
        <p:nvSpPr>
          <p:cNvPr id="11" name="Shape 8"/>
          <p:cNvSpPr/>
          <p:nvPr/>
        </p:nvSpPr>
        <p:spPr>
          <a:xfrm>
            <a:off x="548640" y="1463040"/>
            <a:ext cx="3566160" cy="4709160"/>
          </a:xfrm>
          <a:prstGeom prst="roundRect">
            <a:avLst>
              <a:gd name="adj" fmla="val 205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2" name="Shape 9"/>
          <p:cNvSpPr/>
          <p:nvPr/>
        </p:nvSpPr>
        <p:spPr>
          <a:xfrm>
            <a:off x="548640" y="1463040"/>
            <a:ext cx="3566160" cy="109728"/>
          </a:xfrm>
          <a:prstGeom prst="rect">
            <a:avLst/>
          </a:prstGeom>
          <a:solidFill>
            <a:srgbClr val="45356B"/>
          </a:solidFill>
          <a:ln/>
        </p:spPr>
      </p:sp>
      <p:sp>
        <p:nvSpPr>
          <p:cNvPr id="13" name="Text 10"/>
          <p:cNvSpPr/>
          <p:nvPr/>
        </p:nvSpPr>
        <p:spPr>
          <a:xfrm>
            <a:off x="777240" y="1664208"/>
            <a:ext cx="1097280" cy="548640"/>
          </a:xfrm>
          <a:prstGeom prst="rect">
            <a:avLst/>
          </a:prstGeom>
          <a:noFill/>
          <a:ln/>
        </p:spPr>
        <p:txBody>
          <a:bodyPr wrap="square" lIns="0" tIns="0" rIns="0" bIns="0" rtlCol="0" anchor="t"/>
          <a:lstStyle/>
          <a:p>
            <a:pPr indent="0" marL="0">
              <a:buNone/>
            </a:pPr>
            <a:r>
              <a:rPr lang="en-US" sz="3000" b="1" dirty="0">
                <a:solidFill>
                  <a:srgbClr val="45356B"/>
                </a:solidFill>
                <a:latin typeface="Georgia" pitchFamily="34" charset="0"/>
                <a:ea typeface="Georgia" pitchFamily="34" charset="-122"/>
                <a:cs typeface="Georgia" pitchFamily="34" charset="-120"/>
              </a:rPr>
              <a:t>01</a:t>
            </a:r>
            <a:endParaRPr lang="en-US" sz="3000" dirty="0"/>
          </a:p>
        </p:txBody>
      </p:sp>
      <p:sp>
        <p:nvSpPr>
          <p:cNvPr id="14" name="Text 11"/>
          <p:cNvSpPr/>
          <p:nvPr/>
        </p:nvSpPr>
        <p:spPr>
          <a:xfrm>
            <a:off x="1645920" y="1691640"/>
            <a:ext cx="2377440" cy="502920"/>
          </a:xfrm>
          <a:prstGeom prst="rect">
            <a:avLst/>
          </a:prstGeom>
          <a:noFill/>
          <a:ln/>
        </p:spPr>
        <p:txBody>
          <a:bodyPr wrap="square" lIns="0" tIns="0" rIns="0" bIns="0" rtlCol="0" anchor="ctr"/>
          <a:lstStyle/>
          <a:p>
            <a:pPr indent="0" marL="0">
              <a:buNone/>
            </a:pPr>
            <a:r>
              <a:rPr lang="en-US" sz="1800" b="1" dirty="0">
                <a:solidFill>
                  <a:srgbClr val="3A2E20"/>
                </a:solidFill>
                <a:latin typeface="BIZ UDPゴシック" pitchFamily="34" charset="0"/>
                <a:ea typeface="BIZ UDPゴシック" pitchFamily="34" charset="-122"/>
                <a:cs typeface="BIZ UDPゴシック" pitchFamily="34" charset="-120"/>
              </a:rPr>
              <a:t>ユーザー目線での開発</a:t>
            </a:r>
            <a:endParaRPr lang="en-US" sz="1800" dirty="0"/>
          </a:p>
        </p:txBody>
      </p:sp>
      <p:sp>
        <p:nvSpPr>
          <p:cNvPr id="15" name="Text 12"/>
          <p:cNvSpPr/>
          <p:nvPr/>
        </p:nvSpPr>
        <p:spPr>
          <a:xfrm>
            <a:off x="777240" y="2286000"/>
            <a:ext cx="3108960" cy="640080"/>
          </a:xfrm>
          <a:prstGeom prst="rect">
            <a:avLst/>
          </a:prstGeom>
          <a:noFill/>
          <a:ln/>
        </p:spPr>
        <p:txBody>
          <a:bodyPr wrap="square" lIns="0" tIns="0" rIns="0" bIns="0" rtlCol="0" anchor="t"/>
          <a:lstStyle/>
          <a:p>
            <a:pPr indent="0" marL="0">
              <a:buNone/>
            </a:pPr>
            <a:r>
              <a:rPr lang="en-US" sz="1300" b="1" dirty="0">
                <a:solidFill>
                  <a:srgbClr val="45356B"/>
                </a:solidFill>
                <a:latin typeface="BIZ UDPゴシック" pitchFamily="34" charset="0"/>
                <a:ea typeface="BIZ UDPゴシック" pitchFamily="34" charset="-122"/>
                <a:cs typeface="BIZ UDPゴシック" pitchFamily="34" charset="-120"/>
              </a:rPr>
              <a:t>「作れるか」より</a:t>
            </a:r>
            <a:endParaRPr lang="en-US" sz="1300" dirty="0"/>
          </a:p>
          <a:p>
            <a:pPr indent="0" marL="0">
              <a:buNone/>
            </a:pPr>
            <a:r>
              <a:rPr lang="en-US" sz="1300" b="1" dirty="0">
                <a:solidFill>
                  <a:srgbClr val="45356B"/>
                </a:solidFill>
                <a:latin typeface="BIZ UDPゴシック" pitchFamily="34" charset="0"/>
                <a:ea typeface="BIZ UDPゴシック" pitchFamily="34" charset="-122"/>
                <a:cs typeface="BIZ UDPゴシック" pitchFamily="34" charset="-120"/>
              </a:rPr>
              <a:t>「使う人がうれしいか」で判断する</a:t>
            </a:r>
            <a:endParaRPr lang="en-US" sz="1300" dirty="0"/>
          </a:p>
        </p:txBody>
      </p:sp>
      <p:sp>
        <p:nvSpPr>
          <p:cNvPr id="16" name="Shape 13"/>
          <p:cNvSpPr/>
          <p:nvPr/>
        </p:nvSpPr>
        <p:spPr>
          <a:xfrm>
            <a:off x="777240" y="3017520"/>
            <a:ext cx="3108960" cy="0"/>
          </a:xfrm>
          <a:prstGeom prst="line">
            <a:avLst/>
          </a:prstGeom>
          <a:noFill/>
          <a:ln w="12700">
            <a:solidFill>
              <a:srgbClr val="DCC48A"/>
            </a:solidFill>
            <a:prstDash val="solid"/>
          </a:ln>
        </p:spPr>
      </p:sp>
      <p:sp>
        <p:nvSpPr>
          <p:cNvPr id="17" name="Shape 14"/>
          <p:cNvSpPr/>
          <p:nvPr/>
        </p:nvSpPr>
        <p:spPr>
          <a:xfrm>
            <a:off x="4297680" y="1463040"/>
            <a:ext cx="3566160" cy="4709160"/>
          </a:xfrm>
          <a:prstGeom prst="roundRect">
            <a:avLst>
              <a:gd name="adj" fmla="val 205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18" name="Shape 15"/>
          <p:cNvSpPr/>
          <p:nvPr/>
        </p:nvSpPr>
        <p:spPr>
          <a:xfrm>
            <a:off x="4297680" y="1463040"/>
            <a:ext cx="3566160" cy="109728"/>
          </a:xfrm>
          <a:prstGeom prst="rect">
            <a:avLst/>
          </a:prstGeom>
          <a:solidFill>
            <a:srgbClr val="3F7A5C"/>
          </a:solidFill>
          <a:ln/>
        </p:spPr>
      </p:sp>
      <p:sp>
        <p:nvSpPr>
          <p:cNvPr id="19" name="Text 16"/>
          <p:cNvSpPr/>
          <p:nvPr/>
        </p:nvSpPr>
        <p:spPr>
          <a:xfrm>
            <a:off x="4526280" y="1664208"/>
            <a:ext cx="1097280" cy="548640"/>
          </a:xfrm>
          <a:prstGeom prst="rect">
            <a:avLst/>
          </a:prstGeom>
          <a:noFill/>
          <a:ln/>
        </p:spPr>
        <p:txBody>
          <a:bodyPr wrap="square" lIns="0" tIns="0" rIns="0" bIns="0" rtlCol="0" anchor="t"/>
          <a:lstStyle/>
          <a:p>
            <a:pPr indent="0" marL="0">
              <a:buNone/>
            </a:pPr>
            <a:r>
              <a:rPr lang="en-US" sz="3000" b="1" dirty="0">
                <a:solidFill>
                  <a:srgbClr val="3F7A5C"/>
                </a:solidFill>
                <a:latin typeface="Georgia" pitchFamily="34" charset="0"/>
                <a:ea typeface="Georgia" pitchFamily="34" charset="-122"/>
                <a:cs typeface="Georgia" pitchFamily="34" charset="-120"/>
              </a:rPr>
              <a:t>02</a:t>
            </a:r>
            <a:endParaRPr lang="en-US" sz="3000" dirty="0"/>
          </a:p>
        </p:txBody>
      </p:sp>
      <p:sp>
        <p:nvSpPr>
          <p:cNvPr id="20" name="Text 17"/>
          <p:cNvSpPr/>
          <p:nvPr/>
        </p:nvSpPr>
        <p:spPr>
          <a:xfrm>
            <a:off x="5394960" y="1691640"/>
            <a:ext cx="2377440" cy="502920"/>
          </a:xfrm>
          <a:prstGeom prst="rect">
            <a:avLst/>
          </a:prstGeom>
          <a:noFill/>
          <a:ln/>
        </p:spPr>
        <p:txBody>
          <a:bodyPr wrap="square" lIns="0" tIns="0" rIns="0" bIns="0" rtlCol="0" anchor="ctr"/>
          <a:lstStyle/>
          <a:p>
            <a:pPr indent="0" marL="0">
              <a:buNone/>
            </a:pPr>
            <a:r>
              <a:rPr lang="en-US" sz="1800" b="1" dirty="0">
                <a:solidFill>
                  <a:srgbClr val="3A2E20"/>
                </a:solidFill>
                <a:latin typeface="BIZ UDPゴシック" pitchFamily="34" charset="0"/>
                <a:ea typeface="BIZ UDPゴシック" pitchFamily="34" charset="-122"/>
                <a:cs typeface="BIZ UDPゴシック" pitchFamily="34" charset="-120"/>
              </a:rPr>
              <a:t>AI の使い方</a:t>
            </a:r>
            <a:endParaRPr lang="en-US" sz="1800" dirty="0"/>
          </a:p>
        </p:txBody>
      </p:sp>
      <p:sp>
        <p:nvSpPr>
          <p:cNvPr id="21" name="Text 18"/>
          <p:cNvSpPr/>
          <p:nvPr/>
        </p:nvSpPr>
        <p:spPr>
          <a:xfrm>
            <a:off x="4526280" y="2286000"/>
            <a:ext cx="3108960" cy="640080"/>
          </a:xfrm>
          <a:prstGeom prst="rect">
            <a:avLst/>
          </a:prstGeom>
          <a:noFill/>
          <a:ln/>
        </p:spPr>
        <p:txBody>
          <a:bodyPr wrap="square" lIns="0" tIns="0" rIns="0" bIns="0" rtlCol="0" anchor="t"/>
          <a:lstStyle/>
          <a:p>
            <a:pPr indent="0" marL="0">
              <a:buNone/>
            </a:pPr>
            <a:r>
              <a:rPr lang="en-US" sz="1300" b="1" dirty="0">
                <a:solidFill>
                  <a:srgbClr val="3F7A5C"/>
                </a:solidFill>
                <a:latin typeface="BIZ UDPゴシック" pitchFamily="34" charset="0"/>
                <a:ea typeface="BIZ UDPゴシック" pitchFamily="34" charset="-122"/>
                <a:cs typeface="BIZ UDPゴシック" pitchFamily="34" charset="-120"/>
              </a:rPr>
              <a:t>抽象的ではなく</a:t>
            </a:r>
            <a:endParaRPr lang="en-US" sz="1300" dirty="0"/>
          </a:p>
          <a:p>
            <a:pPr indent="0" marL="0">
              <a:buNone/>
            </a:pPr>
            <a:r>
              <a:rPr lang="en-US" sz="1300" b="1" dirty="0">
                <a:solidFill>
                  <a:srgbClr val="3F7A5C"/>
                </a:solidFill>
                <a:latin typeface="BIZ UDPゴシック" pitchFamily="34" charset="0"/>
                <a:ea typeface="BIZ UDPゴシック" pitchFamily="34" charset="-122"/>
                <a:cs typeface="BIZ UDPゴシック" pitchFamily="34" charset="-120"/>
              </a:rPr>
              <a:t>具体的な指示文を投げる</a:t>
            </a:r>
            <a:endParaRPr lang="en-US" sz="1300" dirty="0"/>
          </a:p>
        </p:txBody>
      </p:sp>
      <p:sp>
        <p:nvSpPr>
          <p:cNvPr id="22" name="Shape 19"/>
          <p:cNvSpPr/>
          <p:nvPr/>
        </p:nvSpPr>
        <p:spPr>
          <a:xfrm>
            <a:off x="4526280" y="3017520"/>
            <a:ext cx="3108960" cy="0"/>
          </a:xfrm>
          <a:prstGeom prst="line">
            <a:avLst/>
          </a:prstGeom>
          <a:noFill/>
          <a:ln w="12700">
            <a:solidFill>
              <a:srgbClr val="DCC48A"/>
            </a:solidFill>
            <a:prstDash val="solid"/>
          </a:ln>
        </p:spPr>
      </p:sp>
      <p:sp>
        <p:nvSpPr>
          <p:cNvPr id="23" name="Shape 20"/>
          <p:cNvSpPr/>
          <p:nvPr/>
        </p:nvSpPr>
        <p:spPr>
          <a:xfrm>
            <a:off x="8046720" y="1463040"/>
            <a:ext cx="3566160" cy="4709160"/>
          </a:xfrm>
          <a:prstGeom prst="roundRect">
            <a:avLst>
              <a:gd name="adj" fmla="val 2051"/>
            </a:avLst>
          </a:prstGeom>
          <a:solidFill>
            <a:srgbClr val="FFFCF4"/>
          </a:solidFill>
          <a:ln w="15875">
            <a:solidFill>
              <a:srgbClr val="5C4430"/>
            </a:solidFill>
            <a:prstDash val="solid"/>
          </a:ln>
          <a:effectLst>
            <a:outerShdw sx="100000" sy="100000" kx="0" ky="0" algn="bl" rotWithShape="0" blurRad="101600" dist="38100" dir="2700000">
              <a:srgbClr val="5C4430">
                <a:alpha val="30000"/>
              </a:srgbClr>
            </a:outerShdw>
          </a:effectLst>
        </p:spPr>
      </p:sp>
      <p:sp>
        <p:nvSpPr>
          <p:cNvPr id="24" name="Shape 21"/>
          <p:cNvSpPr/>
          <p:nvPr/>
        </p:nvSpPr>
        <p:spPr>
          <a:xfrm>
            <a:off x="8046720" y="1463040"/>
            <a:ext cx="3566160" cy="109728"/>
          </a:xfrm>
          <a:prstGeom prst="rect">
            <a:avLst/>
          </a:prstGeom>
          <a:solidFill>
            <a:srgbClr val="B8862B"/>
          </a:solidFill>
          <a:ln/>
        </p:spPr>
      </p:sp>
      <p:sp>
        <p:nvSpPr>
          <p:cNvPr id="25" name="Text 22"/>
          <p:cNvSpPr/>
          <p:nvPr/>
        </p:nvSpPr>
        <p:spPr>
          <a:xfrm>
            <a:off x="8275320" y="1664208"/>
            <a:ext cx="1097280" cy="548640"/>
          </a:xfrm>
          <a:prstGeom prst="rect">
            <a:avLst/>
          </a:prstGeom>
          <a:noFill/>
          <a:ln/>
        </p:spPr>
        <p:txBody>
          <a:bodyPr wrap="square" lIns="0" tIns="0" rIns="0" bIns="0" rtlCol="0" anchor="t"/>
          <a:lstStyle/>
          <a:p>
            <a:pPr indent="0" marL="0">
              <a:buNone/>
            </a:pPr>
            <a:r>
              <a:rPr lang="en-US" sz="3000" b="1" dirty="0">
                <a:solidFill>
                  <a:srgbClr val="B8862B"/>
                </a:solidFill>
                <a:latin typeface="Georgia" pitchFamily="34" charset="0"/>
                <a:ea typeface="Georgia" pitchFamily="34" charset="-122"/>
                <a:cs typeface="Georgia" pitchFamily="34" charset="-120"/>
              </a:rPr>
              <a:t>03</a:t>
            </a:r>
            <a:endParaRPr lang="en-US" sz="3000" dirty="0"/>
          </a:p>
        </p:txBody>
      </p:sp>
      <p:sp>
        <p:nvSpPr>
          <p:cNvPr id="26" name="Text 23"/>
          <p:cNvSpPr/>
          <p:nvPr/>
        </p:nvSpPr>
        <p:spPr>
          <a:xfrm>
            <a:off x="9144000" y="1691640"/>
            <a:ext cx="2377440" cy="502920"/>
          </a:xfrm>
          <a:prstGeom prst="rect">
            <a:avLst/>
          </a:prstGeom>
          <a:noFill/>
          <a:ln/>
        </p:spPr>
        <p:txBody>
          <a:bodyPr wrap="square" lIns="0" tIns="0" rIns="0" bIns="0" rtlCol="0" anchor="ctr"/>
          <a:lstStyle/>
          <a:p>
            <a:pPr indent="0" marL="0">
              <a:buNone/>
            </a:pPr>
            <a:r>
              <a:rPr lang="en-US" sz="1800" b="1" dirty="0">
                <a:solidFill>
                  <a:srgbClr val="3A2E20"/>
                </a:solidFill>
                <a:latin typeface="BIZ UDPゴシック" pitchFamily="34" charset="0"/>
                <a:ea typeface="BIZ UDPゴシック" pitchFamily="34" charset="-122"/>
                <a:cs typeface="BIZ UDPゴシック" pitchFamily="34" charset="-120"/>
              </a:rPr>
              <a:t>なぜなぜ分析</a:t>
            </a:r>
            <a:endParaRPr lang="en-US" sz="1800" dirty="0"/>
          </a:p>
        </p:txBody>
      </p:sp>
      <p:sp>
        <p:nvSpPr>
          <p:cNvPr id="27" name="Text 24"/>
          <p:cNvSpPr/>
          <p:nvPr/>
        </p:nvSpPr>
        <p:spPr>
          <a:xfrm>
            <a:off x="8275320" y="2286000"/>
            <a:ext cx="3108960" cy="640080"/>
          </a:xfrm>
          <a:prstGeom prst="rect">
            <a:avLst/>
          </a:prstGeom>
          <a:noFill/>
          <a:ln/>
        </p:spPr>
        <p:txBody>
          <a:bodyPr wrap="square" lIns="0" tIns="0" rIns="0" bIns="0" rtlCol="0" anchor="t"/>
          <a:lstStyle/>
          <a:p>
            <a:pPr indent="0" marL="0">
              <a:buNone/>
            </a:pPr>
            <a:r>
              <a:rPr lang="en-US" sz="1300" b="1" dirty="0">
                <a:solidFill>
                  <a:srgbClr val="B8862B"/>
                </a:solidFill>
                <a:latin typeface="BIZ UDPゴシック" pitchFamily="34" charset="0"/>
                <a:ea typeface="BIZ UDPゴシック" pitchFamily="34" charset="-122"/>
                <a:cs typeface="BIZ UDPゴシック" pitchFamily="34" charset="-120"/>
              </a:rPr>
              <a:t>目的をあやふやにしたまま</a:t>
            </a:r>
            <a:endParaRPr lang="en-US" sz="1300" dirty="0"/>
          </a:p>
          <a:p>
            <a:pPr indent="0" marL="0">
              <a:buNone/>
            </a:pPr>
            <a:r>
              <a:rPr lang="en-US" sz="1300" b="1" dirty="0">
                <a:solidFill>
                  <a:srgbClr val="B8862B"/>
                </a:solidFill>
                <a:latin typeface="BIZ UDPゴシック" pitchFamily="34" charset="0"/>
                <a:ea typeface="BIZ UDPゴシック" pitchFamily="34" charset="-122"/>
                <a:cs typeface="BIZ UDPゴシック" pitchFamily="34" charset="-120"/>
              </a:rPr>
              <a:t>作業をしない</a:t>
            </a:r>
            <a:endParaRPr lang="en-US" sz="1300" dirty="0"/>
          </a:p>
        </p:txBody>
      </p:sp>
      <p:sp>
        <p:nvSpPr>
          <p:cNvPr id="28" name="Shape 25"/>
          <p:cNvSpPr/>
          <p:nvPr/>
        </p:nvSpPr>
        <p:spPr>
          <a:xfrm>
            <a:off x="8275320" y="3017520"/>
            <a:ext cx="3108960" cy="0"/>
          </a:xfrm>
          <a:prstGeom prst="line">
            <a:avLst/>
          </a:prstGeom>
          <a:noFill/>
          <a:ln w="12700">
            <a:solidFill>
              <a:srgbClr val="DCC48A"/>
            </a:solidFill>
            <a:prstDash val="solid"/>
          </a:ln>
        </p:spPr>
      </p:sp>
      <p:sp>
        <p:nvSpPr>
          <p:cNvPr id="29" name="Shape 26"/>
          <p:cNvSpPr/>
          <p:nvPr/>
        </p:nvSpPr>
        <p:spPr>
          <a:xfrm>
            <a:off x="777240" y="3200400"/>
            <a:ext cx="3108960" cy="1005840"/>
          </a:xfrm>
          <a:prstGeom prst="roundRect">
            <a:avLst>
              <a:gd name="adj" fmla="val 7273"/>
            </a:avLst>
          </a:prstGeom>
          <a:solidFill>
            <a:srgbClr val="FFFFFF"/>
          </a:solidFill>
          <a:ln w="15875">
            <a:solidFill>
              <a:srgbClr val="B9AE9C"/>
            </a:solidFill>
            <a:prstDash val="solid"/>
          </a:ln>
        </p:spPr>
      </p:sp>
      <p:sp>
        <p:nvSpPr>
          <p:cNvPr id="30" name="Text 27"/>
          <p:cNvSpPr/>
          <p:nvPr/>
        </p:nvSpPr>
        <p:spPr>
          <a:xfrm>
            <a:off x="914400" y="3246120"/>
            <a:ext cx="2880360" cy="914400"/>
          </a:xfrm>
          <a:prstGeom prst="rect">
            <a:avLst/>
          </a:prstGeom>
          <a:noFill/>
          <a:ln/>
        </p:spPr>
        <p:txBody>
          <a:bodyPr wrap="square" lIns="0" tIns="0" rIns="0" bIns="0" rtlCol="0" anchor="ctr"/>
          <a:lstStyle/>
          <a:p>
            <a:pPr indent="0" marL="0">
              <a:buNone/>
            </a:pPr>
            <a:r>
              <a:rPr lang="en-US" sz="1050" b="1" dirty="0">
                <a:solidFill>
                  <a:srgbClr val="6B5B46"/>
                </a:solidFill>
                <a:latin typeface="BIZ UDPゴシック" pitchFamily="34" charset="0"/>
                <a:ea typeface="BIZ UDPゴシック" pitchFamily="34" charset="-122"/>
                <a:cs typeface="BIZ UDPゴシック" pitchFamily="34" charset="-120"/>
              </a:rPr>
              <a:t>作り手の目線</a:t>
            </a:r>
            <a:endParaRPr lang="en-US" sz="1200" dirty="0"/>
          </a:p>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到着を現在地で自動判定する</a:t>
            </a:r>
            <a:endParaRPr lang="en-US" sz="1200" dirty="0"/>
          </a:p>
        </p:txBody>
      </p:sp>
      <p:sp>
        <p:nvSpPr>
          <p:cNvPr id="31" name="Shape 28"/>
          <p:cNvSpPr/>
          <p:nvPr/>
        </p:nvSpPr>
        <p:spPr>
          <a:xfrm rot="10800000">
            <a:off x="2194560" y="4279392"/>
            <a:ext cx="274320" cy="182880"/>
          </a:xfrm>
          <a:prstGeom prst="triangle">
            <a:avLst/>
          </a:prstGeom>
          <a:solidFill>
            <a:srgbClr val="45356B"/>
          </a:solidFill>
          <a:ln/>
        </p:spPr>
      </p:sp>
      <p:sp>
        <p:nvSpPr>
          <p:cNvPr id="32" name="Shape 29"/>
          <p:cNvSpPr/>
          <p:nvPr/>
        </p:nvSpPr>
        <p:spPr>
          <a:xfrm>
            <a:off x="777240" y="4526280"/>
            <a:ext cx="3108960" cy="1097280"/>
          </a:xfrm>
          <a:prstGeom prst="roundRect">
            <a:avLst>
              <a:gd name="adj" fmla="val 6667"/>
            </a:avLst>
          </a:prstGeom>
          <a:solidFill>
            <a:srgbClr val="ECE7F5"/>
          </a:solidFill>
          <a:ln w="15875">
            <a:solidFill>
              <a:srgbClr val="45356B"/>
            </a:solidFill>
            <a:prstDash val="solid"/>
          </a:ln>
        </p:spPr>
      </p:sp>
      <p:sp>
        <p:nvSpPr>
          <p:cNvPr id="33" name="Text 30"/>
          <p:cNvSpPr/>
          <p:nvPr/>
        </p:nvSpPr>
        <p:spPr>
          <a:xfrm>
            <a:off x="914400" y="4572000"/>
            <a:ext cx="2880360" cy="1005840"/>
          </a:xfrm>
          <a:prstGeom prst="rect">
            <a:avLst/>
          </a:prstGeom>
          <a:noFill/>
          <a:ln/>
        </p:spPr>
        <p:txBody>
          <a:bodyPr wrap="square" lIns="0" tIns="0" rIns="0" bIns="0" rtlCol="0" anchor="ctr"/>
          <a:lstStyle/>
          <a:p>
            <a:pPr indent="0" marL="0">
              <a:buNone/>
            </a:pPr>
            <a:r>
              <a:rPr lang="en-US" sz="1050" b="1" dirty="0">
                <a:solidFill>
                  <a:srgbClr val="45356B"/>
                </a:solidFill>
                <a:latin typeface="BIZ UDPゴシック" pitchFamily="34" charset="0"/>
                <a:ea typeface="BIZ UDPゴシック" pitchFamily="34" charset="-122"/>
                <a:cs typeface="BIZ UDPゴシック" pitchFamily="34" charset="-120"/>
              </a:rPr>
              <a:t>使う人の目線</a:t>
            </a:r>
            <a:endParaRPr lang="en-US" sz="1200" dirty="0"/>
          </a:p>
          <a:p>
            <a:pPr indent="0" marL="0">
              <a:buNone/>
            </a:pPr>
            <a:r>
              <a:rPr lang="en-US" sz="1200" dirty="0">
                <a:solidFill>
                  <a:srgbClr val="3A2E20"/>
                </a:solidFill>
                <a:latin typeface="BIZ UDPゴシック" pitchFamily="34" charset="0"/>
                <a:ea typeface="BIZ UDPゴシック" pitchFamily="34" charset="-122"/>
                <a:cs typeface="BIZ UDPゴシック" pitchFamily="34" charset="-120"/>
              </a:rPr>
              <a:t>GPSがずれても困らないよう、ボタンで進める・戻せる</a:t>
            </a:r>
            <a:endParaRPr lang="en-US" sz="1200" dirty="0"/>
          </a:p>
        </p:txBody>
      </p:sp>
      <p:sp>
        <p:nvSpPr>
          <p:cNvPr id="34" name="Text 31"/>
          <p:cNvSpPr/>
          <p:nvPr/>
        </p:nvSpPr>
        <p:spPr>
          <a:xfrm>
            <a:off x="777240" y="5760720"/>
            <a:ext cx="3108960" cy="274320"/>
          </a:xfrm>
          <a:prstGeom prst="rect">
            <a:avLst/>
          </a:prstGeom>
          <a:noFill/>
          <a:ln/>
        </p:spPr>
        <p:txBody>
          <a:bodyPr wrap="square" lIns="0" tIns="0" rIns="0" bIns="0" rtlCol="0" anchor="t"/>
          <a:lstStyle/>
          <a:p>
            <a:pPr indent="0" marL="0">
              <a:buNone/>
            </a:pPr>
            <a:r>
              <a:rPr lang="en-US" sz="950" dirty="0">
                <a:solidFill>
                  <a:srgbClr val="6B5B46"/>
                </a:solidFill>
                <a:latin typeface="BIZ UDPゴシック" pitchFamily="34" charset="0"/>
                <a:ea typeface="BIZ UDPゴシック" pitchFamily="34" charset="-122"/>
                <a:cs typeface="BIZ UDPゴシック" pitchFamily="34" charset="-120"/>
              </a:rPr>
              <a:t>※ 案内画面で実際に採用した設計</a:t>
            </a:r>
            <a:endParaRPr lang="en-US" sz="950" dirty="0"/>
          </a:p>
        </p:txBody>
      </p:sp>
      <p:sp>
        <p:nvSpPr>
          <p:cNvPr id="35" name="Shape 32"/>
          <p:cNvSpPr/>
          <p:nvPr/>
        </p:nvSpPr>
        <p:spPr>
          <a:xfrm>
            <a:off x="4526280" y="3200400"/>
            <a:ext cx="3108960" cy="914400"/>
          </a:xfrm>
          <a:prstGeom prst="roundRect">
            <a:avLst>
              <a:gd name="adj" fmla="val 8000"/>
            </a:avLst>
          </a:prstGeom>
          <a:solidFill>
            <a:srgbClr val="F8E3E0"/>
          </a:solidFill>
          <a:ln w="15875">
            <a:solidFill>
              <a:srgbClr val="B3372B"/>
            </a:solidFill>
            <a:prstDash val="solid"/>
          </a:ln>
        </p:spPr>
      </p:sp>
      <p:sp>
        <p:nvSpPr>
          <p:cNvPr id="36" name="Text 33"/>
          <p:cNvSpPr/>
          <p:nvPr/>
        </p:nvSpPr>
        <p:spPr>
          <a:xfrm>
            <a:off x="4663440" y="3246120"/>
            <a:ext cx="2880360" cy="822960"/>
          </a:xfrm>
          <a:prstGeom prst="rect">
            <a:avLst/>
          </a:prstGeom>
          <a:noFill/>
          <a:ln/>
        </p:spPr>
        <p:txBody>
          <a:bodyPr wrap="square" lIns="0" tIns="0" rIns="0" bIns="0" rtlCol="0" anchor="ctr"/>
          <a:lstStyle/>
          <a:p>
            <a:pPr indent="0" marL="0">
              <a:buNone/>
            </a:pPr>
            <a:r>
              <a:rPr lang="en-US" sz="1050" b="1" dirty="0">
                <a:solidFill>
                  <a:srgbClr val="B3372B"/>
                </a:solidFill>
                <a:latin typeface="BIZ UDPゴシック" pitchFamily="34" charset="0"/>
                <a:ea typeface="BIZ UDPゴシック" pitchFamily="34" charset="-122"/>
                <a:cs typeface="BIZ UDPゴシック" pitchFamily="34" charset="-120"/>
              </a:rPr>
              <a:t>✕ 抽象的</a:t>
            </a:r>
            <a:endParaRPr lang="en-US" sz="1250" dirty="0"/>
          </a:p>
          <a:p>
            <a:pPr indent="0" marL="0">
              <a:buNone/>
            </a:pPr>
            <a:r>
              <a:rPr lang="en-US" sz="1250" dirty="0">
                <a:solidFill>
                  <a:srgbClr val="3A2E20"/>
                </a:solidFill>
                <a:latin typeface="BIZ UDPゴシック" pitchFamily="34" charset="0"/>
                <a:ea typeface="BIZ UDPゴシック" pitchFamily="34" charset="-122"/>
                <a:cs typeface="BIZ UDPゴシック" pitchFamily="34" charset="-120"/>
              </a:rPr>
              <a:t>「地図の画面を直して」</a:t>
            </a:r>
            <a:endParaRPr lang="en-US" sz="1250" dirty="0"/>
          </a:p>
        </p:txBody>
      </p:sp>
      <p:sp>
        <p:nvSpPr>
          <p:cNvPr id="37" name="Shape 34"/>
          <p:cNvSpPr/>
          <p:nvPr/>
        </p:nvSpPr>
        <p:spPr>
          <a:xfrm rot="10800000">
            <a:off x="5943600" y="4187952"/>
            <a:ext cx="274320" cy="182880"/>
          </a:xfrm>
          <a:prstGeom prst="triangle">
            <a:avLst/>
          </a:prstGeom>
          <a:solidFill>
            <a:srgbClr val="3F7A5C"/>
          </a:solidFill>
          <a:ln/>
        </p:spPr>
      </p:sp>
      <p:sp>
        <p:nvSpPr>
          <p:cNvPr id="38" name="Shape 35"/>
          <p:cNvSpPr/>
          <p:nvPr/>
        </p:nvSpPr>
        <p:spPr>
          <a:xfrm>
            <a:off x="4526280" y="4434840"/>
            <a:ext cx="3108960" cy="1645920"/>
          </a:xfrm>
          <a:prstGeom prst="roundRect">
            <a:avLst>
              <a:gd name="adj" fmla="val 4444"/>
            </a:avLst>
          </a:prstGeom>
          <a:solidFill>
            <a:srgbClr val="E4EFE8"/>
          </a:solidFill>
          <a:ln w="15875">
            <a:solidFill>
              <a:srgbClr val="3F7A5C"/>
            </a:solidFill>
            <a:prstDash val="solid"/>
          </a:ln>
        </p:spPr>
      </p:sp>
      <p:sp>
        <p:nvSpPr>
          <p:cNvPr id="39" name="Text 36"/>
          <p:cNvSpPr/>
          <p:nvPr/>
        </p:nvSpPr>
        <p:spPr>
          <a:xfrm>
            <a:off x="4663440" y="4480560"/>
            <a:ext cx="2880360" cy="1554480"/>
          </a:xfrm>
          <a:prstGeom prst="rect">
            <a:avLst/>
          </a:prstGeom>
          <a:noFill/>
          <a:ln/>
        </p:spPr>
        <p:txBody>
          <a:bodyPr wrap="square" lIns="0" tIns="0" rIns="0" bIns="0" rtlCol="0" anchor="ctr"/>
          <a:lstStyle/>
          <a:p>
            <a:pPr indent="0" marL="0">
              <a:buNone/>
            </a:pPr>
            <a:r>
              <a:rPr lang="en-US" sz="1050" b="1" dirty="0">
                <a:solidFill>
                  <a:srgbClr val="3F7A5C"/>
                </a:solidFill>
                <a:latin typeface="BIZ UDPゴシック" pitchFamily="34" charset="0"/>
                <a:ea typeface="BIZ UDPゴシック" pitchFamily="34" charset="-122"/>
                <a:cs typeface="BIZ UDPゴシック" pitchFamily="34" charset="-120"/>
              </a:rPr>
              <a:t>○ 具体的</a:t>
            </a:r>
            <a:endParaRPr lang="en-US" sz="1150" dirty="0"/>
          </a:p>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「案内画面の現在地へ戻るボタンを押したら、今の倍率のまま現在地を見えている範囲の中央へ寄せて。対象は RouteNavigationMap.vue」</a:t>
            </a:r>
            <a:endParaRPr lang="en-US" sz="1150" dirty="0"/>
          </a:p>
        </p:txBody>
      </p:sp>
      <p:sp>
        <p:nvSpPr>
          <p:cNvPr id="40" name="Shape 37"/>
          <p:cNvSpPr/>
          <p:nvPr/>
        </p:nvSpPr>
        <p:spPr>
          <a:xfrm>
            <a:off x="8275320" y="3200400"/>
            <a:ext cx="3108960" cy="603504"/>
          </a:xfrm>
          <a:prstGeom prst="roundRect">
            <a:avLst>
              <a:gd name="adj" fmla="val 12121"/>
            </a:avLst>
          </a:prstGeom>
          <a:solidFill>
            <a:srgbClr val="FFFFFF"/>
          </a:solidFill>
          <a:ln w="19050">
            <a:solidFill>
              <a:srgbClr val="B9AE9C"/>
            </a:solidFill>
            <a:prstDash val="solid"/>
          </a:ln>
        </p:spPr>
      </p:sp>
      <p:sp>
        <p:nvSpPr>
          <p:cNvPr id="41" name="Shape 38"/>
          <p:cNvSpPr/>
          <p:nvPr/>
        </p:nvSpPr>
        <p:spPr>
          <a:xfrm>
            <a:off x="8348472" y="3319272"/>
            <a:ext cx="685800" cy="365760"/>
          </a:xfrm>
          <a:prstGeom prst="roundRect">
            <a:avLst>
              <a:gd name="adj" fmla="val 15000"/>
            </a:avLst>
          </a:prstGeom>
          <a:solidFill>
            <a:srgbClr val="B9AE9C"/>
          </a:solidFill>
          <a:ln/>
        </p:spPr>
      </p:sp>
      <p:sp>
        <p:nvSpPr>
          <p:cNvPr id="42" name="Text 39"/>
          <p:cNvSpPr/>
          <p:nvPr/>
        </p:nvSpPr>
        <p:spPr>
          <a:xfrm>
            <a:off x="8348472" y="3319272"/>
            <a:ext cx="685800" cy="365760"/>
          </a:xfrm>
          <a:prstGeom prst="rect">
            <a:avLst/>
          </a:prstGeom>
          <a:noFill/>
          <a:ln/>
        </p:spPr>
        <p:txBody>
          <a:bodyPr wrap="square" lIns="0" tIns="0" rIns="0" bIns="0" rtlCol="0" anchor="ctr"/>
          <a:lstStyle/>
          <a:p>
            <a:pPr algn="ctr" indent="0" marL="0">
              <a:buNone/>
            </a:pPr>
            <a:r>
              <a:rPr lang="en-US" sz="1000" b="1" dirty="0">
                <a:solidFill>
                  <a:srgbClr val="3A2E20"/>
                </a:solidFill>
                <a:latin typeface="BIZ UDPゴシック" pitchFamily="34" charset="0"/>
                <a:ea typeface="BIZ UDPゴシック" pitchFamily="34" charset="-122"/>
                <a:cs typeface="BIZ UDPゴシック" pitchFamily="34" charset="-120"/>
              </a:rPr>
              <a:t>作業</a:t>
            </a:r>
            <a:endParaRPr lang="en-US" sz="1000" dirty="0"/>
          </a:p>
        </p:txBody>
      </p:sp>
      <p:sp>
        <p:nvSpPr>
          <p:cNvPr id="43" name="Text 40"/>
          <p:cNvSpPr/>
          <p:nvPr/>
        </p:nvSpPr>
        <p:spPr>
          <a:xfrm>
            <a:off x="9125712" y="3200400"/>
            <a:ext cx="2212848" cy="603504"/>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現在地へ戻るボタンを付ける</a:t>
            </a:r>
            <a:endParaRPr lang="en-US" sz="1150" dirty="0"/>
          </a:p>
        </p:txBody>
      </p:sp>
      <p:sp>
        <p:nvSpPr>
          <p:cNvPr id="44" name="Shape 41"/>
          <p:cNvSpPr/>
          <p:nvPr/>
        </p:nvSpPr>
        <p:spPr>
          <a:xfrm>
            <a:off x="8385048" y="3931920"/>
            <a:ext cx="2999232" cy="603504"/>
          </a:xfrm>
          <a:prstGeom prst="roundRect">
            <a:avLst>
              <a:gd name="adj" fmla="val 12121"/>
            </a:avLst>
          </a:prstGeom>
          <a:solidFill>
            <a:srgbClr val="FFFFFF"/>
          </a:solidFill>
          <a:ln w="19050">
            <a:solidFill>
              <a:srgbClr val="DCC48A"/>
            </a:solidFill>
            <a:prstDash val="solid"/>
          </a:ln>
        </p:spPr>
      </p:sp>
      <p:sp>
        <p:nvSpPr>
          <p:cNvPr id="45" name="Shape 42"/>
          <p:cNvSpPr/>
          <p:nvPr/>
        </p:nvSpPr>
        <p:spPr>
          <a:xfrm>
            <a:off x="8458200" y="4050792"/>
            <a:ext cx="685800" cy="365760"/>
          </a:xfrm>
          <a:prstGeom prst="roundRect">
            <a:avLst>
              <a:gd name="adj" fmla="val 15000"/>
            </a:avLst>
          </a:prstGeom>
          <a:solidFill>
            <a:srgbClr val="DCC48A"/>
          </a:solidFill>
          <a:ln/>
        </p:spPr>
      </p:sp>
      <p:sp>
        <p:nvSpPr>
          <p:cNvPr id="46" name="Text 43"/>
          <p:cNvSpPr/>
          <p:nvPr/>
        </p:nvSpPr>
        <p:spPr>
          <a:xfrm>
            <a:off x="8458200" y="4050792"/>
            <a:ext cx="6858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ゴシック" pitchFamily="34" charset="0"/>
                <a:ea typeface="BIZ UDPゴシック" pitchFamily="34" charset="-122"/>
                <a:cs typeface="BIZ UDPゴシック" pitchFamily="34" charset="-120"/>
              </a:rPr>
              <a:t>なぜ？</a:t>
            </a:r>
            <a:endParaRPr lang="en-US" sz="1000" dirty="0"/>
          </a:p>
        </p:txBody>
      </p:sp>
      <p:sp>
        <p:nvSpPr>
          <p:cNvPr id="47" name="Text 44"/>
          <p:cNvSpPr/>
          <p:nvPr/>
        </p:nvSpPr>
        <p:spPr>
          <a:xfrm>
            <a:off x="9235440" y="3931920"/>
            <a:ext cx="2103120" cy="603504"/>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地図を動かすと現在地を見失う</a:t>
            </a:r>
            <a:endParaRPr lang="en-US" sz="1150" dirty="0"/>
          </a:p>
        </p:txBody>
      </p:sp>
      <p:sp>
        <p:nvSpPr>
          <p:cNvPr id="48" name="Shape 45"/>
          <p:cNvSpPr/>
          <p:nvPr/>
        </p:nvSpPr>
        <p:spPr>
          <a:xfrm>
            <a:off x="8494776" y="4663440"/>
            <a:ext cx="2889504" cy="603504"/>
          </a:xfrm>
          <a:prstGeom prst="roundRect">
            <a:avLst>
              <a:gd name="adj" fmla="val 12121"/>
            </a:avLst>
          </a:prstGeom>
          <a:solidFill>
            <a:srgbClr val="FFFFFF"/>
          </a:solidFill>
          <a:ln w="19050">
            <a:solidFill>
              <a:srgbClr val="B8862B"/>
            </a:solidFill>
            <a:prstDash val="solid"/>
          </a:ln>
        </p:spPr>
      </p:sp>
      <p:sp>
        <p:nvSpPr>
          <p:cNvPr id="49" name="Shape 46"/>
          <p:cNvSpPr/>
          <p:nvPr/>
        </p:nvSpPr>
        <p:spPr>
          <a:xfrm>
            <a:off x="8567928" y="4782312"/>
            <a:ext cx="685800" cy="365760"/>
          </a:xfrm>
          <a:prstGeom prst="roundRect">
            <a:avLst>
              <a:gd name="adj" fmla="val 15000"/>
            </a:avLst>
          </a:prstGeom>
          <a:solidFill>
            <a:srgbClr val="B8862B"/>
          </a:solidFill>
          <a:ln/>
        </p:spPr>
      </p:sp>
      <p:sp>
        <p:nvSpPr>
          <p:cNvPr id="50" name="Text 47"/>
          <p:cNvSpPr/>
          <p:nvPr/>
        </p:nvSpPr>
        <p:spPr>
          <a:xfrm>
            <a:off x="8567928" y="4782312"/>
            <a:ext cx="6858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ゴシック" pitchFamily="34" charset="0"/>
                <a:ea typeface="BIZ UDPゴシック" pitchFamily="34" charset="-122"/>
                <a:cs typeface="BIZ UDPゴシック" pitchFamily="34" charset="-120"/>
              </a:rPr>
              <a:t>なぜ？</a:t>
            </a:r>
            <a:endParaRPr lang="en-US" sz="1000" dirty="0"/>
          </a:p>
        </p:txBody>
      </p:sp>
      <p:sp>
        <p:nvSpPr>
          <p:cNvPr id="51" name="Text 48"/>
          <p:cNvSpPr/>
          <p:nvPr/>
        </p:nvSpPr>
        <p:spPr>
          <a:xfrm>
            <a:off x="9345168" y="4663440"/>
            <a:ext cx="1993392" cy="603504"/>
          </a:xfrm>
          <a:prstGeom prst="rect">
            <a:avLst/>
          </a:prstGeom>
          <a:noFill/>
          <a:ln/>
        </p:spPr>
        <p:txBody>
          <a:bodyPr wrap="square" lIns="0" tIns="0" rIns="0" bIns="0" rtlCol="0" anchor="ctr"/>
          <a:lstStyle/>
          <a:p>
            <a:pPr indent="0" marL="0">
              <a:buNone/>
            </a:pPr>
            <a:r>
              <a:rPr lang="en-US" sz="1150" dirty="0">
                <a:solidFill>
                  <a:srgbClr val="3A2E20"/>
                </a:solidFill>
                <a:latin typeface="BIZ UDPゴシック" pitchFamily="34" charset="0"/>
                <a:ea typeface="BIZ UDPゴシック" pitchFamily="34" charset="-122"/>
                <a:cs typeface="BIZ UDPゴシック" pitchFamily="34" charset="-120"/>
              </a:rPr>
              <a:t>歩きながら地図を確かめたい</a:t>
            </a:r>
            <a:endParaRPr lang="en-US" sz="1150" dirty="0"/>
          </a:p>
        </p:txBody>
      </p:sp>
      <p:sp>
        <p:nvSpPr>
          <p:cNvPr id="52" name="Shape 49"/>
          <p:cNvSpPr/>
          <p:nvPr/>
        </p:nvSpPr>
        <p:spPr>
          <a:xfrm>
            <a:off x="8604504" y="5394960"/>
            <a:ext cx="2779776" cy="603504"/>
          </a:xfrm>
          <a:prstGeom prst="roundRect">
            <a:avLst>
              <a:gd name="adj" fmla="val 12121"/>
            </a:avLst>
          </a:prstGeom>
          <a:solidFill>
            <a:srgbClr val="ECE7F5"/>
          </a:solidFill>
          <a:ln w="19050">
            <a:solidFill>
              <a:srgbClr val="45356B"/>
            </a:solidFill>
            <a:prstDash val="solid"/>
          </a:ln>
        </p:spPr>
      </p:sp>
      <p:sp>
        <p:nvSpPr>
          <p:cNvPr id="53" name="Shape 50"/>
          <p:cNvSpPr/>
          <p:nvPr/>
        </p:nvSpPr>
        <p:spPr>
          <a:xfrm>
            <a:off x="8677656" y="5513832"/>
            <a:ext cx="685800" cy="365760"/>
          </a:xfrm>
          <a:prstGeom prst="roundRect">
            <a:avLst>
              <a:gd name="adj" fmla="val 15000"/>
            </a:avLst>
          </a:prstGeom>
          <a:solidFill>
            <a:srgbClr val="45356B"/>
          </a:solidFill>
          <a:ln/>
        </p:spPr>
      </p:sp>
      <p:sp>
        <p:nvSpPr>
          <p:cNvPr id="54" name="Text 51"/>
          <p:cNvSpPr/>
          <p:nvPr/>
        </p:nvSpPr>
        <p:spPr>
          <a:xfrm>
            <a:off x="8677656" y="5513832"/>
            <a:ext cx="6858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ゴシック" pitchFamily="34" charset="0"/>
                <a:ea typeface="BIZ UDPゴシック" pitchFamily="34" charset="-122"/>
                <a:cs typeface="BIZ UDPゴシック" pitchFamily="34" charset="-120"/>
              </a:rPr>
              <a:t>目的</a:t>
            </a:r>
            <a:endParaRPr lang="en-US" sz="1000" dirty="0"/>
          </a:p>
        </p:txBody>
      </p:sp>
      <p:sp>
        <p:nvSpPr>
          <p:cNvPr id="55" name="Text 52"/>
          <p:cNvSpPr/>
          <p:nvPr/>
        </p:nvSpPr>
        <p:spPr>
          <a:xfrm>
            <a:off x="9454896" y="5394960"/>
            <a:ext cx="1883664" cy="603504"/>
          </a:xfrm>
          <a:prstGeom prst="rect">
            <a:avLst/>
          </a:prstGeom>
          <a:noFill/>
          <a:ln/>
        </p:spPr>
        <p:txBody>
          <a:bodyPr wrap="square" lIns="0" tIns="0" rIns="0" bIns="0" rtlCol="0" anchor="ctr"/>
          <a:lstStyle/>
          <a:p>
            <a:pPr indent="0" marL="0">
              <a:buNone/>
            </a:pPr>
            <a:r>
              <a:rPr lang="en-US" sz="1150" b="1" dirty="0">
                <a:solidFill>
                  <a:srgbClr val="3A2E20"/>
                </a:solidFill>
                <a:latin typeface="BIZ UDPゴシック" pitchFamily="34" charset="0"/>
                <a:ea typeface="BIZ UDPゴシック" pitchFamily="34" charset="-122"/>
                <a:cs typeface="BIZ UDPゴシック" pitchFamily="34" charset="-120"/>
              </a:rPr>
              <a:t>迷わずに散歩を続けられる</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C:\Users\ltosuser\AppData\Local\Temp\michishiru-ppt\img\map.jpg">    </p:cNvPr>
          <p:cNvPicPr>
            <a:picLocks noChangeAspect="1"/>
          </p:cNvPicPr>
          <p:nvPr/>
        </p:nvPicPr>
        <p:blipFill>
          <a:blip r:embed="rId1"/>
          <a:srcRect l="0" r="0" t="31133" b="31133"/>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BF4E4">
              <a:alpha val="75000"/>
            </a:srgbClr>
          </a:solidFill>
          <a:ln/>
        </p:spPr>
      </p:sp>
      <p:sp>
        <p:nvSpPr>
          <p:cNvPr id="4" name="Shape 1"/>
          <p:cNvSpPr/>
          <p:nvPr/>
        </p:nvSpPr>
        <p:spPr>
          <a:xfrm>
            <a:off x="2011680" y="1371600"/>
            <a:ext cx="8165592" cy="4114800"/>
          </a:xfrm>
          <a:prstGeom prst="roundRect">
            <a:avLst>
              <a:gd name="adj" fmla="val 3333"/>
            </a:avLst>
          </a:prstGeom>
          <a:solidFill>
            <a:srgbClr val="FFFCF4"/>
          </a:solidFill>
          <a:ln w="25400">
            <a:solidFill>
              <a:srgbClr val="5C4430"/>
            </a:solidFill>
            <a:prstDash val="solid"/>
          </a:ln>
          <a:effectLst>
            <a:outerShdw sx="100000" sy="100000" kx="0" ky="0" algn="bl" rotWithShape="0" blurRad="101600" dist="38100" dir="2700000">
              <a:srgbClr val="5C4430">
                <a:alpha val="30000"/>
              </a:srgbClr>
            </a:outerShdw>
          </a:effectLst>
        </p:spPr>
      </p:sp>
      <p:sp>
        <p:nvSpPr>
          <p:cNvPr id="5" name="Shape 2"/>
          <p:cNvSpPr/>
          <p:nvPr/>
        </p:nvSpPr>
        <p:spPr>
          <a:xfrm>
            <a:off x="2148840" y="1508760"/>
            <a:ext cx="7891272" cy="3840480"/>
          </a:xfrm>
          <a:prstGeom prst="roundRect">
            <a:avLst>
              <a:gd name="adj" fmla="val 2381"/>
            </a:avLst>
          </a:prstGeom>
          <a:ln w="15875">
            <a:solidFill>
              <a:srgbClr val="DCC48A"/>
            </a:solidFill>
            <a:prstDash val="solid"/>
          </a:ln>
        </p:spPr>
      </p:sp>
      <p:pic>
        <p:nvPicPr>
          <p:cNvPr id="6" name="Image 1" descr="C:\Users\ltosuser\AppData\Local\Temp\michishiru-ppt\img\lv10.png">    </p:cNvPr>
          <p:cNvPicPr>
            <a:picLocks noChangeAspect="1"/>
          </p:cNvPicPr>
          <p:nvPr/>
        </p:nvPicPr>
        <p:blipFill>
          <a:blip r:embed="rId2"/>
          <a:stretch>
            <a:fillRect/>
          </a:stretch>
        </p:blipFill>
        <p:spPr>
          <a:xfrm>
            <a:off x="2377440" y="1828800"/>
            <a:ext cx="3108960" cy="3108960"/>
          </a:xfrm>
          <a:prstGeom prst="rect">
            <a:avLst/>
          </a:prstGeom>
        </p:spPr>
      </p:pic>
      <p:sp>
        <p:nvSpPr>
          <p:cNvPr id="7" name="Text 3"/>
          <p:cNvSpPr/>
          <p:nvPr/>
        </p:nvSpPr>
        <p:spPr>
          <a:xfrm>
            <a:off x="5669280" y="2057400"/>
            <a:ext cx="4206240" cy="365760"/>
          </a:xfrm>
          <a:prstGeom prst="rect">
            <a:avLst/>
          </a:prstGeom>
          <a:noFill/>
          <a:ln/>
        </p:spPr>
        <p:txBody>
          <a:bodyPr wrap="square" lIns="0" tIns="0" rIns="0" bIns="0" rtlCol="0" anchor="t"/>
          <a:lstStyle/>
          <a:p>
            <a:pPr indent="0" marL="0">
              <a:buNone/>
            </a:pPr>
            <a:r>
              <a:rPr lang="en-US" sz="1400" b="1" spc="600" kern="0" dirty="0">
                <a:solidFill>
                  <a:srgbClr val="B8862B"/>
                </a:solidFill>
                <a:latin typeface="Georgia" pitchFamily="34" charset="0"/>
                <a:ea typeface="Georgia" pitchFamily="34" charset="-122"/>
                <a:cs typeface="Georgia" pitchFamily="34" charset="-120"/>
              </a:rPr>
              <a:t>THANK YOU</a:t>
            </a:r>
            <a:endParaRPr lang="en-US" sz="1400" dirty="0"/>
          </a:p>
        </p:txBody>
      </p:sp>
      <p:sp>
        <p:nvSpPr>
          <p:cNvPr id="8" name="Text 4"/>
          <p:cNvSpPr/>
          <p:nvPr/>
        </p:nvSpPr>
        <p:spPr>
          <a:xfrm>
            <a:off x="5669280" y="2468880"/>
            <a:ext cx="4389120" cy="1463040"/>
          </a:xfrm>
          <a:prstGeom prst="rect">
            <a:avLst/>
          </a:prstGeom>
          <a:noFill/>
          <a:ln/>
        </p:spPr>
        <p:txBody>
          <a:bodyPr wrap="square" lIns="0" tIns="0" rIns="0" bIns="0" rtlCol="0" anchor="ctr"/>
          <a:lstStyle/>
          <a:p>
            <a:pPr indent="0" marL="0">
              <a:buNone/>
            </a:pPr>
            <a:r>
              <a:rPr lang="en-US" sz="2800" b="1" dirty="0">
                <a:solidFill>
                  <a:srgbClr val="45356B"/>
                </a:solidFill>
                <a:latin typeface="BIZ UDPゴシック" pitchFamily="34" charset="0"/>
                <a:ea typeface="BIZ UDPゴシック" pitchFamily="34" charset="-122"/>
                <a:cs typeface="BIZ UDPゴシック" pitchFamily="34" charset="-120"/>
              </a:rPr>
              <a:t>ご清聴</a:t>
            </a:r>
            <a:endParaRPr lang="en-US" sz="2800" dirty="0"/>
          </a:p>
          <a:p>
            <a:pPr indent="0" marL="0">
              <a:buNone/>
            </a:pPr>
            <a:r>
              <a:rPr lang="en-US" sz="2800" b="1" dirty="0">
                <a:solidFill>
                  <a:srgbClr val="45356B"/>
                </a:solidFill>
                <a:latin typeface="BIZ UDPゴシック" pitchFamily="34" charset="0"/>
                <a:ea typeface="BIZ UDPゴシック" pitchFamily="34" charset="-122"/>
                <a:cs typeface="BIZ UDPゴシック" pitchFamily="34" charset="-120"/>
              </a:rPr>
              <a:t>ありがとうございました</a:t>
            </a:r>
            <a:endParaRPr lang="en-US" sz="2800" dirty="0"/>
          </a:p>
        </p:txBody>
      </p:sp>
      <p:sp>
        <p:nvSpPr>
          <p:cNvPr id="9" name="Shape 5"/>
          <p:cNvSpPr/>
          <p:nvPr/>
        </p:nvSpPr>
        <p:spPr>
          <a:xfrm>
            <a:off x="5669280" y="4114800"/>
            <a:ext cx="4023360" cy="36576"/>
          </a:xfrm>
          <a:prstGeom prst="rect">
            <a:avLst/>
          </a:prstGeom>
          <a:solidFill>
            <a:srgbClr val="DCC48A"/>
          </a:solidFill>
          <a:ln/>
        </p:spPr>
      </p:sp>
      <p:sp>
        <p:nvSpPr>
          <p:cNvPr id="10" name="Text 6"/>
          <p:cNvSpPr/>
          <p:nvPr/>
        </p:nvSpPr>
        <p:spPr>
          <a:xfrm>
            <a:off x="5669280" y="4251960"/>
            <a:ext cx="4297680" cy="731520"/>
          </a:xfrm>
          <a:prstGeom prst="rect">
            <a:avLst/>
          </a:prstGeom>
          <a:noFill/>
          <a:ln/>
        </p:spPr>
        <p:txBody>
          <a:bodyPr wrap="square" lIns="0" tIns="0" rIns="0" bIns="0" rtlCol="0" anchor="t"/>
          <a:lstStyle/>
          <a:p>
            <a:pPr indent="0" marL="0">
              <a:buNone/>
            </a:pPr>
            <a:r>
              <a:rPr lang="en-US" sz="1300" dirty="0">
                <a:solidFill>
                  <a:srgbClr val="6B5B46"/>
                </a:solidFill>
                <a:latin typeface="BIZ UDPゴシック" pitchFamily="34" charset="0"/>
                <a:ea typeface="BIZ UDPゴシック" pitchFamily="34" charset="-122"/>
                <a:cs typeface="BIZ UDPゴシック" pitchFamily="34" charset="-120"/>
              </a:rPr>
              <a:t>ミチシル ― AIが散歩ルートをつくる地図アプリ</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ミチシル 成果発表</dc:title>
  <dc:subject>PptxGenJS Presentation</dc:subject>
  <dc:creator>ミチシル開発チーム</dc:creator>
  <cp:lastModifiedBy>ミチシル開発チーム</cp:lastModifiedBy>
  <cp:revision>1</cp:revision>
  <dcterms:created xsi:type="dcterms:W3CDTF">2026-10-29T01:37:12Z</dcterms:created>
  <dcterms:modified xsi:type="dcterms:W3CDTF">2026-10-29T01:37:12Z</dcterms:modified>
</cp:coreProperties>
</file>